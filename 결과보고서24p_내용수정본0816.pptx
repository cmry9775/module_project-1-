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00hle6wm1STnrGYN7vsIJquMr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128FFA-904F-43EB-9803-3A43201E72DE}">
  <a:tblStyle styleId="{E8128FFA-904F-43EB-9803-3A43201E72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theme" Target="theme/theme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32A1BB32-946C-C5C2-C62D-33A080EF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:notes">
            <a:extLst>
              <a:ext uri="{FF2B5EF4-FFF2-40B4-BE49-F238E27FC236}">
                <a16:creationId xmlns:a16="http://schemas.microsoft.com/office/drawing/2014/main" id="{D09ECE49-77BC-2FED-3851-5F8E62DEB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p8:notes">
            <a:extLst>
              <a:ext uri="{FF2B5EF4-FFF2-40B4-BE49-F238E27FC236}">
                <a16:creationId xmlns:a16="http://schemas.microsoft.com/office/drawing/2014/main" id="{F8FB39B6-E44A-9171-C4FC-A84349EB6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02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7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7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ko-KR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CA8B801A-ECDC-5ABC-7FC2-4B74669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8">
            <a:extLst>
              <a:ext uri="{FF2B5EF4-FFF2-40B4-BE49-F238E27FC236}">
                <a16:creationId xmlns:a16="http://schemas.microsoft.com/office/drawing/2014/main" id="{8E0941F3-FA5B-4291-BA10-288C3AE495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">
            <a:extLst>
              <a:ext uri="{FF2B5EF4-FFF2-40B4-BE49-F238E27FC236}">
                <a16:creationId xmlns:a16="http://schemas.microsoft.com/office/drawing/2014/main" id="{9DCE0C6E-B271-EF63-DCE2-43D6BDB3BC60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77" name="Google Shape;677;p8">
            <a:extLst>
              <a:ext uri="{FF2B5EF4-FFF2-40B4-BE49-F238E27FC236}">
                <a16:creationId xmlns:a16="http://schemas.microsoft.com/office/drawing/2014/main" id="{2A00CBE4-3095-DD0C-A0F7-DC5D70A7611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78" name="Google Shape;678;p8">
              <a:extLst>
                <a:ext uri="{FF2B5EF4-FFF2-40B4-BE49-F238E27FC236}">
                  <a16:creationId xmlns:a16="http://schemas.microsoft.com/office/drawing/2014/main" id="{8663374D-2FBD-8619-3C92-99A70CAF5D9A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-KR" sz="1200" b="1" i="0" u="none" strike="noStrike" cap="non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 i="0" u="none" strike="noStrike" cap="non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8">
              <a:extLst>
                <a:ext uri="{FF2B5EF4-FFF2-40B4-BE49-F238E27FC236}">
                  <a16:creationId xmlns:a16="http://schemas.microsoft.com/office/drawing/2014/main" id="{E5644B60-7A18-9E40-3FD4-418C2617AA1A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3F3F3F"/>
                  </a:solidFill>
                  <a:latin typeface="Malgun Gothic"/>
                  <a:ea typeface="Malgun Gothic"/>
                  <a:cs typeface="Arial"/>
                  <a:sym typeface="Malgun Gothic"/>
                </a:rPr>
                <a:t>OpenAI API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>
              <a:extLst>
                <a:ext uri="{FF2B5EF4-FFF2-40B4-BE49-F238E27FC236}">
                  <a16:creationId xmlns:a16="http://schemas.microsoft.com/office/drawing/2014/main" id="{B6D2A51A-2D8B-36DB-BCBE-EA9E50735C7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lang="ko-KR" sz="5400" b="0" i="0" u="none" strike="noStrike" cap="non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 i="0" u="none" strike="noStrike" cap="non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8">
            <a:extLst>
              <a:ext uri="{FF2B5EF4-FFF2-40B4-BE49-F238E27FC236}">
                <a16:creationId xmlns:a16="http://schemas.microsoft.com/office/drawing/2014/main" id="{6107451D-3307-3023-A80A-C920CFF5AA36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8">
            <a:extLst>
              <a:ext uri="{FF2B5EF4-FFF2-40B4-BE49-F238E27FC236}">
                <a16:creationId xmlns:a16="http://schemas.microsoft.com/office/drawing/2014/main" id="{808915D3-42B2-BC3C-5E7C-0E88758F3D2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8">
            <a:extLst>
              <a:ext uri="{FF2B5EF4-FFF2-40B4-BE49-F238E27FC236}">
                <a16:creationId xmlns:a16="http://schemas.microsoft.com/office/drawing/2014/main" id="{FF76297B-FBBE-F7B5-0793-32E6443C2718}"/>
              </a:ext>
            </a:extLst>
          </p:cNvPr>
          <p:cNvGrpSpPr/>
          <p:nvPr/>
        </p:nvGrpSpPr>
        <p:grpSpPr>
          <a:xfrm>
            <a:off x="541891" y="1430219"/>
            <a:ext cx="10526159" cy="369291"/>
            <a:chOff x="541891" y="1430219"/>
            <a:chExt cx="10526159" cy="369291"/>
          </a:xfrm>
        </p:grpSpPr>
        <p:sp>
          <p:nvSpPr>
            <p:cNvPr id="684" name="Google Shape;684;p8">
              <a:extLst>
                <a:ext uri="{FF2B5EF4-FFF2-40B4-BE49-F238E27FC236}">
                  <a16:creationId xmlns:a16="http://schemas.microsoft.com/office/drawing/2014/main" id="{133F792F-A52C-A0A6-A619-A61A2ABA5626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ko-KR" altLang="en-US" sz="18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기능 통합</a:t>
              </a:r>
              <a:endParaRPr sz="1800" b="0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8">
              <a:extLst>
                <a:ext uri="{FF2B5EF4-FFF2-40B4-BE49-F238E27FC236}">
                  <a16:creationId xmlns:a16="http://schemas.microsoft.com/office/drawing/2014/main" id="{2C989BE6-07AF-6C65-7221-D66F6B425348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687" name="Google Shape;687;p8">
            <a:extLst>
              <a:ext uri="{FF2B5EF4-FFF2-40B4-BE49-F238E27FC236}">
                <a16:creationId xmlns:a16="http://schemas.microsoft.com/office/drawing/2014/main" id="{10A306F3-8A83-2788-1D82-E851C69EE576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8">
            <a:extLst>
              <a:ext uri="{FF2B5EF4-FFF2-40B4-BE49-F238E27FC236}">
                <a16:creationId xmlns:a16="http://schemas.microsoft.com/office/drawing/2014/main" id="{006DE6AE-069F-F6D5-7B35-C8064B56C9CD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89" name="Google Shape;689;p8" descr="EMB0000378c3f3d">
              <a:extLst>
                <a:ext uri="{FF2B5EF4-FFF2-40B4-BE49-F238E27FC236}">
                  <a16:creationId xmlns:a16="http://schemas.microsoft.com/office/drawing/2014/main" id="{EB05FA0A-DED9-0346-85CB-822F6A54836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8">
              <a:extLst>
                <a:ext uri="{FF2B5EF4-FFF2-40B4-BE49-F238E27FC236}">
                  <a16:creationId xmlns:a16="http://schemas.microsoft.com/office/drawing/2014/main" id="{FAB9E468-FB82-A734-560D-97DD312EFA9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1" name="Google Shape;691;p8">
            <a:extLst>
              <a:ext uri="{FF2B5EF4-FFF2-40B4-BE49-F238E27FC236}">
                <a16:creationId xmlns:a16="http://schemas.microsoft.com/office/drawing/2014/main" id="{891D69C0-3963-4168-6C1D-1B441807D988}"/>
              </a:ext>
            </a:extLst>
          </p:cNvPr>
          <p:cNvSpPr txBox="1"/>
          <p:nvPr/>
        </p:nvSpPr>
        <p:spPr>
          <a:xfrm>
            <a:off x="841771" y="2154432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en-US" altLang="ko-K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dirty="0"/>
              <a:t>프로젝트 기능 구성도</a:t>
            </a:r>
            <a:endParaRPr lang="ko-KR" alt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" name="Google Shape;445;p7">
            <a:extLst>
              <a:ext uri="{FF2B5EF4-FFF2-40B4-BE49-F238E27FC236}">
                <a16:creationId xmlns:a16="http://schemas.microsoft.com/office/drawing/2014/main" id="{A1833BFE-6DF7-CC51-E039-236837B7D32C}"/>
              </a:ext>
            </a:extLst>
          </p:cNvPr>
          <p:cNvGrpSpPr/>
          <p:nvPr/>
        </p:nvGrpSpPr>
        <p:grpSpPr>
          <a:xfrm>
            <a:off x="889811" y="5961422"/>
            <a:ext cx="9751481" cy="598712"/>
            <a:chOff x="2857501" y="5534844"/>
            <a:chExt cx="8902656" cy="673099"/>
          </a:xfrm>
        </p:grpSpPr>
        <p:sp>
          <p:nvSpPr>
            <p:cNvPr id="7" name="Google Shape;446;p7">
              <a:extLst>
                <a:ext uri="{FF2B5EF4-FFF2-40B4-BE49-F238E27FC236}">
                  <a16:creationId xmlns:a16="http://schemas.microsoft.com/office/drawing/2014/main" id="{1BB8C272-F2E2-0EC9-1700-C64DB46B98FE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451;p7">
              <a:extLst>
                <a:ext uri="{FF2B5EF4-FFF2-40B4-BE49-F238E27FC236}">
                  <a16:creationId xmlns:a16="http://schemas.microsoft.com/office/drawing/2014/main" id="{D9758975-5D85-2ACB-1FC9-4D686A1F2CF3}"/>
                </a:ext>
              </a:extLst>
            </p:cNvPr>
            <p:cNvSpPr txBox="1"/>
            <p:nvPr/>
          </p:nvSpPr>
          <p:spPr>
            <a:xfrm>
              <a:off x="3276220" y="5601324"/>
              <a:ext cx="6956033" cy="345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TextBox 645">
            <a:extLst>
              <a:ext uri="{FF2B5EF4-FFF2-40B4-BE49-F238E27FC236}">
                <a16:creationId xmlns:a16="http://schemas.microsoft.com/office/drawing/2014/main" id="{C2C6E1DE-AC79-C1D9-266C-874DC72E544F}"/>
              </a:ext>
            </a:extLst>
          </p:cNvPr>
          <p:cNvSpPr txBox="1"/>
          <p:nvPr/>
        </p:nvSpPr>
        <p:spPr>
          <a:xfrm>
            <a:off x="3717170" y="5978549"/>
            <a:ext cx="615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r>
              <a:rPr lang="ko-KR" altLang="en-US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altLang="ko-KR" sz="1400" b="1" i="0" u="none" strike="noStrike" cap="none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후 </a:t>
            </a:r>
            <a:r>
              <a:rPr lang="en-US" altLang="ko-KR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</a:t>
            </a:r>
            <a:r>
              <a:rPr lang="ko-KR" altLang="en-US" b="1" dirty="0">
                <a:solidFill>
                  <a:srgbClr val="8DA9D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과정에서 출력 이슈</a:t>
            </a:r>
            <a:endParaRPr lang="ko-KR" altLang="en-US" sz="1400" b="1" i="0" u="none" strike="noStrike" cap="none" dirty="0">
              <a:solidFill>
                <a:srgbClr val="8DA9D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4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 </a:t>
            </a:r>
            <a:r>
              <a:rPr lang="ko-KR" altLang="en-US" sz="1200" b="1" i="0" u="none" strike="noStrike" cap="none" dirty="0" err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출력값과</a:t>
            </a:r>
            <a:r>
              <a:rPr lang="ko-KR" altLang="en-US" sz="1200" b="1" i="0" u="none" strike="noStrike" cap="none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다른</a:t>
            </a:r>
            <a:r>
              <a:rPr lang="ko-KR" altLang="en-US" sz="1200" b="1" dirty="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값이 나와 출력형식 조정</a:t>
            </a:r>
            <a:endParaRPr lang="ko-KR" altLang="en-US" sz="1200" b="1" i="0" u="none" strike="noStrike" cap="none" dirty="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47" name="Google Shape;419;p12">
            <a:extLst>
              <a:ext uri="{FF2B5EF4-FFF2-40B4-BE49-F238E27FC236}">
                <a16:creationId xmlns:a16="http://schemas.microsoft.com/office/drawing/2014/main" id="{20EB986F-61F0-444F-AD08-E3EB3C685701}"/>
              </a:ext>
            </a:extLst>
          </p:cNvPr>
          <p:cNvCxnSpPr>
            <a:cxnSpLocks/>
          </p:cNvCxnSpPr>
          <p:nvPr/>
        </p:nvCxnSpPr>
        <p:spPr>
          <a:xfrm>
            <a:off x="3856424" y="6342967"/>
            <a:ext cx="507140" cy="0"/>
          </a:xfrm>
          <a:prstGeom prst="straightConnector1">
            <a:avLst/>
          </a:prstGeom>
          <a:noFill/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F91F841-8D02-C075-0BE2-F803347EA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71" y="2540143"/>
            <a:ext cx="3932692" cy="3026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C48CA1-BA0C-A5DB-1055-5F86AD543CFE}"/>
              </a:ext>
            </a:extLst>
          </p:cNvPr>
          <p:cNvSpPr txBox="1"/>
          <p:nvPr/>
        </p:nvSpPr>
        <p:spPr>
          <a:xfrm>
            <a:off x="5616234" y="2322256"/>
            <a:ext cx="47764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oworld_openai_pipeline.py</a:t>
            </a:r>
          </a:p>
          <a:p>
            <a:pPr>
              <a:buSzPts val="1400"/>
            </a:pPr>
            <a:r>
              <a:rPr lang="ko-KR" altLang="en-US" sz="1200" dirty="0"/>
              <a:t>실제 날씨</a:t>
            </a:r>
            <a:r>
              <a:rPr lang="en-US" altLang="ko-KR" sz="1200" dirty="0"/>
              <a:t>·</a:t>
            </a:r>
            <a:r>
              <a:rPr lang="ko-KR" altLang="en-US" sz="1200" dirty="0"/>
              <a:t>공지 데이터를 통합하고 날씨</a:t>
            </a:r>
            <a:r>
              <a:rPr lang="en-US" altLang="ko-KR" sz="1200" dirty="0"/>
              <a:t>·</a:t>
            </a:r>
            <a:r>
              <a:rPr lang="ko-KR" altLang="en-US" sz="1200" dirty="0"/>
              <a:t>날씨 정보를 </a:t>
            </a:r>
            <a:r>
              <a:rPr lang="en-US" altLang="ko-KR" sz="1200" dirty="0"/>
              <a:t>17</a:t>
            </a:r>
            <a:r>
              <a:rPr lang="ko-KR" altLang="en-US" sz="1200" dirty="0"/>
              <a:t>개 모델 </a:t>
            </a:r>
            <a:r>
              <a:rPr lang="en-US" altLang="ko-KR" sz="1200" dirty="0"/>
              <a:t>Feature</a:t>
            </a:r>
            <a:r>
              <a:rPr lang="ko-KR" altLang="en-US" sz="1200" dirty="0"/>
              <a:t>로 변환 </a:t>
            </a:r>
            <a:endParaRPr lang="en-US" altLang="ko-KR" sz="1200" dirty="0"/>
          </a:p>
          <a:p>
            <a:pPr>
              <a:buSzPts val="1400"/>
            </a:pPr>
            <a:r>
              <a:rPr lang="en-US" altLang="ko-KR" sz="1200" dirty="0"/>
              <a:t>ML </a:t>
            </a:r>
            <a:r>
              <a:rPr lang="en-US" altLang="ko-KR" sz="1200" dirty="0" err="1"/>
              <a:t>Costom</a:t>
            </a:r>
            <a:r>
              <a:rPr lang="en-US" altLang="ko-KR" sz="1200" dirty="0"/>
              <a:t> tool</a:t>
            </a:r>
            <a:r>
              <a:rPr lang="ko-KR" altLang="en-US" sz="1200" dirty="0"/>
              <a:t>을 호출해 결과를 검증하고 </a:t>
            </a:r>
            <a:r>
              <a:rPr lang="en-US" altLang="ko-KR" sz="1200" dirty="0"/>
              <a:t>10</a:t>
            </a:r>
            <a:r>
              <a:rPr lang="ko-KR" altLang="en-US" sz="1200" dirty="0"/>
              <a:t>일 예측 데이터를 생성</a:t>
            </a:r>
            <a:endParaRPr lang="en-US" altLang="ko-KR" sz="1200" dirty="0"/>
          </a:p>
          <a:p>
            <a:pPr>
              <a:buSzPts val="1400"/>
            </a:pPr>
            <a:endParaRPr lang="en-US" altLang="ko-KR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ml_service.py</a:t>
            </a:r>
          </a:p>
          <a:p>
            <a:pPr>
              <a:buSzPts val="1400"/>
            </a:pPr>
            <a:r>
              <a:rPr lang="ko-KR" alt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방문객 예측</a:t>
            </a:r>
            <a:r>
              <a:rPr lang="en-US" altLang="ko-KR" sz="1200" dirty="0"/>
              <a:t>·</a:t>
            </a:r>
            <a:r>
              <a:rPr lang="ko-KR" altLang="en-US" sz="1200" dirty="0"/>
              <a:t>혼잡도 분류 모델을 로드하고 검증</a:t>
            </a:r>
            <a:r>
              <a:rPr lang="en-US" altLang="ko-KR" sz="1200" dirty="0"/>
              <a:t>. </a:t>
            </a:r>
            <a:r>
              <a:rPr lang="ko-KR" altLang="en-US" sz="1200" dirty="0"/>
              <a:t>두 모델을 </a:t>
            </a:r>
            <a:r>
              <a:rPr lang="en-US" altLang="ko-KR" sz="1200" dirty="0"/>
              <a:t>OpenAI Function Calling </a:t>
            </a:r>
            <a:r>
              <a:rPr lang="ko-KR" altLang="en-US" sz="1200" dirty="0"/>
              <a:t>기반 결합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Costom</a:t>
            </a:r>
            <a:r>
              <a:rPr lang="en-US" altLang="ko-KR" sz="1200" dirty="0"/>
              <a:t> tool</a:t>
            </a:r>
            <a:r>
              <a:rPr lang="ko-KR" altLang="en-US" sz="1200" dirty="0"/>
              <a:t>로 등록하여 실행</a:t>
            </a:r>
            <a:endParaRPr lang="en-US" altLang="ko-KR" sz="1200" dirty="0"/>
          </a:p>
          <a:p>
            <a:pPr>
              <a:buSzPts val="1400"/>
            </a:pPr>
            <a:r>
              <a:rPr lang="ko-KR" altLang="en-US" sz="1200" dirty="0"/>
              <a:t>방문객 수</a:t>
            </a:r>
            <a:r>
              <a:rPr lang="en-US" altLang="ko-KR" sz="1200" dirty="0"/>
              <a:t>·</a:t>
            </a:r>
            <a:r>
              <a:rPr lang="ko-KR" altLang="en-US" sz="1200" dirty="0"/>
              <a:t>혼잡도</a:t>
            </a:r>
            <a:r>
              <a:rPr lang="en-US" altLang="ko-KR" sz="1200" dirty="0"/>
              <a:t>·</a:t>
            </a:r>
            <a:r>
              <a:rPr lang="ko-KR" altLang="en-US" sz="1200" dirty="0"/>
              <a:t>이용자 점수</a:t>
            </a:r>
            <a:r>
              <a:rPr lang="en-US" altLang="ko-KR" sz="1200" dirty="0"/>
              <a:t>·</a:t>
            </a:r>
            <a:r>
              <a:rPr lang="ko-KR" altLang="en-US" sz="1200" dirty="0"/>
              <a:t>날짜 점수를 반환</a:t>
            </a:r>
            <a:endParaRPr lang="en-US" altLang="ko-KR" sz="1200" dirty="0"/>
          </a:p>
          <a:p>
            <a:pPr>
              <a:buSzPts val="1400"/>
            </a:pPr>
            <a:endParaRPr lang="en-US" altLang="ko-KR" sz="1200" dirty="0"/>
          </a:p>
          <a:p>
            <a:pPr>
              <a:buSzPts val="1400"/>
            </a:pPr>
            <a:r>
              <a:rPr lang="en-US" altLang="ko-KR" sz="1200" b="1" dirty="0"/>
              <a:t>- weather.py, notice.py</a:t>
            </a:r>
          </a:p>
          <a:p>
            <a:pPr>
              <a:buSzPts val="1400"/>
            </a:pPr>
            <a:r>
              <a:rPr lang="ko-KR" altLang="en-US" sz="1200" dirty="0" err="1"/>
              <a:t>오월드</a:t>
            </a:r>
            <a:r>
              <a:rPr lang="ko-KR" altLang="en-US" sz="1200" dirty="0"/>
              <a:t> 위치의 실제 날씨와 공지를 수집하고 파이프라인에 전달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dirty="0"/>
              <a:t>- visitor_score.py, weather_score.py</a:t>
            </a:r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예상 방문객 수와 기온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강수확률</a:t>
            </a:r>
            <a:r>
              <a:rPr lang="en-US" altLang="ko-KR" sz="1200" dirty="0"/>
              <a:t>·</a:t>
            </a: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습도를 각각 추천 점수로 변환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altLang="ko-KR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visitor_estimation_model.cbm</a:t>
            </a:r>
            <a:r>
              <a:rPr lang="en-US" altLang="ko-KR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altLang="ko-KR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catboost_classifier.cbm</a:t>
            </a:r>
            <a:endParaRPr lang="en-US" altLang="ko-KR" sz="1200" b="1" dirty="0"/>
          </a:p>
          <a:p>
            <a:pPr>
              <a:buSzPts val="1400"/>
            </a:pPr>
            <a:r>
              <a:rPr lang="ko-KR" altLang="en-US" sz="12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예상 방문객 수를 출력하는 학습모델과</a:t>
            </a:r>
            <a:r>
              <a:rPr lang="en-US" altLang="ko-KR" sz="1200" dirty="0"/>
              <a:t> </a:t>
            </a:r>
            <a:r>
              <a:rPr lang="ko-KR" altLang="en-US" sz="1200" dirty="0"/>
              <a:t>그 혼잡도를 계산하는 모델</a:t>
            </a:r>
            <a:endParaRPr lang="en-US" altLang="ko-KR" sz="1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118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166</Words>
  <Application>Microsoft Office PowerPoint</Application>
  <PresentationFormat>와이드스크린</PresentationFormat>
  <Paragraphs>23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김준영</dc:creator>
  <cp:lastModifiedBy>EZ</cp:lastModifiedBy>
  <cp:revision>6</cp:revision>
  <dcterms:created xsi:type="dcterms:W3CDTF">2023-12-20T03:00:25Z</dcterms:created>
  <dcterms:modified xsi:type="dcterms:W3CDTF">2026-08-16T03:31:08Z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0x010100DAE3F4A420BE824F8EE9314A8C3F8B72</vt:lpwstr>
  </property>
</Properties>
</file>