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76" r:id="rId5"/>
    <p:sldId id="277" r:id="rId6"/>
    <p:sldId id="278" r:id="rId7"/>
    <p:sldId id="279" r:id="rId8"/>
    <p:sldId id="283" r:id="rId9"/>
    <p:sldId id="280" r:id="rId10"/>
    <p:sldId id="261" r:id="rId11"/>
    <p:sldId id="289" r:id="rId12"/>
    <p:sldId id="290" r:id="rId13"/>
    <p:sldId id="291" r:id="rId14"/>
    <p:sldId id="260" r:id="rId15"/>
    <p:sldId id="292" r:id="rId16"/>
    <p:sldId id="264" r:id="rId17"/>
    <p:sldId id="284" r:id="rId18"/>
    <p:sldId id="285" r:id="rId19"/>
    <p:sldId id="293" r:id="rId20"/>
    <p:sldId id="294" r:id="rId21"/>
    <p:sldId id="286" r:id="rId22"/>
    <p:sldId id="274" r:id="rId23"/>
    <p:sldId id="287" r:id="rId24"/>
    <p:sldId id="288" r:id="rId25"/>
    <p:sldId id="270" r:id="rId26"/>
    <p:sldId id="271" r:id="rId27"/>
    <p:sldId id="272" r:id="rId28"/>
    <p:sldId id="273" r:id="rId29"/>
    <p:sldId id="282" r:id="rId30"/>
    <p:sldId id="26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kXdNQZ9UHEFEAEnxsra8iL3N6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8C8"/>
    <a:srgbClr val="2B63A7"/>
    <a:srgbClr val="FFFFFF"/>
    <a:srgbClr val="C8C8C8"/>
    <a:srgbClr val="E1B075"/>
    <a:srgbClr val="FFC000"/>
    <a:srgbClr val="CE4C3A"/>
    <a:srgbClr val="8BBB96"/>
    <a:srgbClr val="CFE3D4"/>
    <a:srgbClr val="F2D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3C3858-85A5-4AEE-957B-1D41CFC5BF5B}">
  <a:tblStyle styleId="{683C3858-85A5-4AEE-957B-1D41CFC5BF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242" autoAdjust="0"/>
  </p:normalViewPr>
  <p:slideViewPr>
    <p:cSldViewPr snapToGrid="0">
      <p:cViewPr>
        <p:scale>
          <a:sx n="75" d="100"/>
          <a:sy n="75" d="100"/>
        </p:scale>
        <p:origin x="874" y="4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0B165AA3-268A-D2D2-82E0-2EAC4669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>
            <a:extLst>
              <a:ext uri="{FF2B5EF4-FFF2-40B4-BE49-F238E27FC236}">
                <a16:creationId xmlns:a16="http://schemas.microsoft.com/office/drawing/2014/main" id="{D0F254A2-3921-976E-4830-86AAD06DB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875C7D7A-B87F-16D8-03BF-9AD4A3925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6581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3EABB216-F3EA-B6AB-9BD6-78E4E6D2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>
            <a:extLst>
              <a:ext uri="{FF2B5EF4-FFF2-40B4-BE49-F238E27FC236}">
                <a16:creationId xmlns:a16="http://schemas.microsoft.com/office/drawing/2014/main" id="{1A6B265A-C78C-38D3-C051-E3FAC5BA7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5032C0B4-D659-0311-D551-EFB4662AE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144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1954B2A3-CD61-8348-A703-882A23B7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>
            <a:extLst>
              <a:ext uri="{FF2B5EF4-FFF2-40B4-BE49-F238E27FC236}">
                <a16:creationId xmlns:a16="http://schemas.microsoft.com/office/drawing/2014/main" id="{8EA8D4AB-F91C-45AB-CD66-920A55407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5FFFAB2C-A3F5-6DCC-546B-73D791DF3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62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C66CF12E-9ABA-BD57-6231-2A0AF41A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>
            <a:extLst>
              <a:ext uri="{FF2B5EF4-FFF2-40B4-BE49-F238E27FC236}">
                <a16:creationId xmlns:a16="http://schemas.microsoft.com/office/drawing/2014/main" id="{13D1F253-7C12-1E08-DE5F-43FCCDA2C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F3667DB1-A3AF-BCDE-32C5-8D8FB6305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0064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D0FAAF7C-9AD2-B0CB-AC37-E0079746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>
            <a:extLst>
              <a:ext uri="{FF2B5EF4-FFF2-40B4-BE49-F238E27FC236}">
                <a16:creationId xmlns:a16="http://schemas.microsoft.com/office/drawing/2014/main" id="{B148ACC9-FDA0-4C1C-B5A1-EE1DAD03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5:notes">
            <a:extLst>
              <a:ext uri="{FF2B5EF4-FFF2-40B4-BE49-F238E27FC236}">
                <a16:creationId xmlns:a16="http://schemas.microsoft.com/office/drawing/2014/main" id="{5D2EFA01-24BB-0F47-C3EA-CBFE134D8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1674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009A5BB1-FE92-3847-1245-D113C91A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>
            <a:extLst>
              <a:ext uri="{FF2B5EF4-FFF2-40B4-BE49-F238E27FC236}">
                <a16:creationId xmlns:a16="http://schemas.microsoft.com/office/drawing/2014/main" id="{73BDE368-4870-F6DB-C8D9-A4AAC0155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5:notes">
            <a:extLst>
              <a:ext uri="{FF2B5EF4-FFF2-40B4-BE49-F238E27FC236}">
                <a16:creationId xmlns:a16="http://schemas.microsoft.com/office/drawing/2014/main" id="{C96700E0-C62F-B8EC-119F-7106571E8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6539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0c2142d0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3f70c2142d0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0c2142d0_15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g3f70c2142d0_1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70c2142d0_4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g3f70c2142d0_4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>
          <a:extLst>
            <a:ext uri="{FF2B5EF4-FFF2-40B4-BE49-F238E27FC236}">
              <a16:creationId xmlns:a16="http://schemas.microsoft.com/office/drawing/2014/main" id="{C6DD5959-8262-AB64-C5C3-363451F9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>
            <a:extLst>
              <a:ext uri="{FF2B5EF4-FFF2-40B4-BE49-F238E27FC236}">
                <a16:creationId xmlns:a16="http://schemas.microsoft.com/office/drawing/2014/main" id="{A43F58AD-FDC0-3D75-8483-3CA096C93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8:notes">
            <a:extLst>
              <a:ext uri="{FF2B5EF4-FFF2-40B4-BE49-F238E27FC236}">
                <a16:creationId xmlns:a16="http://schemas.microsoft.com/office/drawing/2014/main" id="{5EF381E1-C023-1129-E1B0-48CB845B7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1938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>
          <a:extLst>
            <a:ext uri="{FF2B5EF4-FFF2-40B4-BE49-F238E27FC236}">
              <a16:creationId xmlns:a16="http://schemas.microsoft.com/office/drawing/2014/main" id="{A794390E-7190-2285-2F14-A41D5007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>
            <a:extLst>
              <a:ext uri="{FF2B5EF4-FFF2-40B4-BE49-F238E27FC236}">
                <a16:creationId xmlns:a16="http://schemas.microsoft.com/office/drawing/2014/main" id="{A1D3D637-49AF-9F8A-701A-593E34079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8:notes">
            <a:extLst>
              <a:ext uri="{FF2B5EF4-FFF2-40B4-BE49-F238E27FC236}">
                <a16:creationId xmlns:a16="http://schemas.microsoft.com/office/drawing/2014/main" id="{6A04E5D0-1171-7DF9-BA9B-705FA5C77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542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>
          <a:extLst>
            <a:ext uri="{FF2B5EF4-FFF2-40B4-BE49-F238E27FC236}">
              <a16:creationId xmlns:a16="http://schemas.microsoft.com/office/drawing/2014/main" id="{6AF4C4F4-25D1-9C1E-072A-9BE70956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>
            <a:extLst>
              <a:ext uri="{FF2B5EF4-FFF2-40B4-BE49-F238E27FC236}">
                <a16:creationId xmlns:a16="http://schemas.microsoft.com/office/drawing/2014/main" id="{6290210B-DB15-E8A7-645B-BBC5BFD0B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8:notes">
            <a:extLst>
              <a:ext uri="{FF2B5EF4-FFF2-40B4-BE49-F238E27FC236}">
                <a16:creationId xmlns:a16="http://schemas.microsoft.com/office/drawing/2014/main" id="{26198411-DAD1-29DC-F410-0EC3199CF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7290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>
          <a:extLst>
            <a:ext uri="{FF2B5EF4-FFF2-40B4-BE49-F238E27FC236}">
              <a16:creationId xmlns:a16="http://schemas.microsoft.com/office/drawing/2014/main" id="{C5C87DF1-B0E9-AFCE-DF9E-2A548703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>
            <a:extLst>
              <a:ext uri="{FF2B5EF4-FFF2-40B4-BE49-F238E27FC236}">
                <a16:creationId xmlns:a16="http://schemas.microsoft.com/office/drawing/2014/main" id="{8624B8EE-AB90-8653-FB86-367BD6D55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8:notes">
            <a:extLst>
              <a:ext uri="{FF2B5EF4-FFF2-40B4-BE49-F238E27FC236}">
                <a16:creationId xmlns:a16="http://schemas.microsoft.com/office/drawing/2014/main" id="{15A3BE25-2B54-7EAA-1F3C-20A0BD209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95750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FD3591A7-C296-DA17-CABF-23BBCD24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0:notes">
            <a:extLst>
              <a:ext uri="{FF2B5EF4-FFF2-40B4-BE49-F238E27FC236}">
                <a16:creationId xmlns:a16="http://schemas.microsoft.com/office/drawing/2014/main" id="{41C994DC-DB38-015C-CC50-7E2A569EE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 b="1" dirty="0"/>
              <a:t>Key Message:</a:t>
            </a:r>
            <a:r>
              <a:rPr lang="ko-KR" altLang="en-US" dirty="0"/>
              <a:t> 비용 효율화</a:t>
            </a:r>
            <a:r>
              <a:rPr lang="en-US" altLang="ko-KR" dirty="0"/>
              <a:t>(</a:t>
            </a:r>
            <a:r>
              <a:rPr lang="ko-KR" altLang="en-US" dirty="0"/>
              <a:t>토큰 </a:t>
            </a:r>
            <a:r>
              <a:rPr lang="en-US" altLang="ko-KR" dirty="0"/>
              <a:t>80% </a:t>
            </a:r>
            <a:r>
              <a:rPr lang="ko-KR" altLang="en-US" dirty="0"/>
              <a:t>절감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en-US" altLang="ko-KR" dirty="0"/>
              <a:t>AI </a:t>
            </a:r>
            <a:r>
              <a:rPr lang="ko-KR" altLang="en-US" dirty="0"/>
              <a:t>환각 방지 조치를 통해 서비스 안정성 확보</a:t>
            </a:r>
            <a:endParaRPr lang="en-US" altLang="ko-KR" dirty="0"/>
          </a:p>
        </p:txBody>
      </p:sp>
      <p:sp>
        <p:nvSpPr>
          <p:cNvPr id="554" name="Google Shape;554;p30:notes">
            <a:extLst>
              <a:ext uri="{FF2B5EF4-FFF2-40B4-BE49-F238E27FC236}">
                <a16:creationId xmlns:a16="http://schemas.microsoft.com/office/drawing/2014/main" id="{454630D5-2360-164D-5EC9-4D4EBCC86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4845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96D4F174-D402-8D03-BC2F-736040F3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0:notes">
            <a:extLst>
              <a:ext uri="{FF2B5EF4-FFF2-40B4-BE49-F238E27FC236}">
                <a16:creationId xmlns:a16="http://schemas.microsoft.com/office/drawing/2014/main" id="{024EB822-F0CF-FE0B-2C1B-8708EC71B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 b="1" dirty="0"/>
              <a:t>Key Message:</a:t>
            </a:r>
            <a:r>
              <a:rPr lang="ko-KR" altLang="en-US" dirty="0"/>
              <a:t> 비용 효율화</a:t>
            </a:r>
            <a:r>
              <a:rPr lang="en-US" altLang="ko-KR" dirty="0"/>
              <a:t>(</a:t>
            </a:r>
            <a:r>
              <a:rPr lang="ko-KR" altLang="en-US" dirty="0"/>
              <a:t>토큰 </a:t>
            </a:r>
            <a:r>
              <a:rPr lang="en-US" altLang="ko-KR" dirty="0"/>
              <a:t>80% </a:t>
            </a:r>
            <a:r>
              <a:rPr lang="ko-KR" altLang="en-US" dirty="0"/>
              <a:t>절감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en-US" altLang="ko-KR" dirty="0"/>
              <a:t>AI </a:t>
            </a:r>
            <a:r>
              <a:rPr lang="ko-KR" altLang="en-US" dirty="0"/>
              <a:t>환각 방지 조치를 통해 서비스 안정성 확보</a:t>
            </a:r>
            <a:endParaRPr lang="en-US" altLang="ko-KR" dirty="0"/>
          </a:p>
        </p:txBody>
      </p:sp>
      <p:sp>
        <p:nvSpPr>
          <p:cNvPr id="554" name="Google Shape;554;p30:notes">
            <a:extLst>
              <a:ext uri="{FF2B5EF4-FFF2-40B4-BE49-F238E27FC236}">
                <a16:creationId xmlns:a16="http://schemas.microsoft.com/office/drawing/2014/main" id="{B8B184C7-6DE0-F06B-5F3B-7A7760745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244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017EF036-9DE3-5632-0996-E83B8A81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:notes">
            <a:extLst>
              <a:ext uri="{FF2B5EF4-FFF2-40B4-BE49-F238E27FC236}">
                <a16:creationId xmlns:a16="http://schemas.microsoft.com/office/drawing/2014/main" id="{FD818BCC-B941-5250-813A-F7AF2F0AD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p8:notes">
            <a:extLst>
              <a:ext uri="{FF2B5EF4-FFF2-40B4-BE49-F238E27FC236}">
                <a16:creationId xmlns:a16="http://schemas.microsoft.com/office/drawing/2014/main" id="{C5CCC47E-0BBF-E169-3E07-A307B7EAC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4272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32A1BB32-946C-C5C2-C62D-33A080EF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:notes">
            <a:extLst>
              <a:ext uri="{FF2B5EF4-FFF2-40B4-BE49-F238E27FC236}">
                <a16:creationId xmlns:a16="http://schemas.microsoft.com/office/drawing/2014/main" id="{D09ECE49-77BC-2FED-3851-5F8E62DEB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p8:notes">
            <a:extLst>
              <a:ext uri="{FF2B5EF4-FFF2-40B4-BE49-F238E27FC236}">
                <a16:creationId xmlns:a16="http://schemas.microsoft.com/office/drawing/2014/main" id="{F8FB39B6-E44A-9171-C4FC-A84349EB6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022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6" name="Google Shape;5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7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.wdp"/><Relationship Id="rId18" Type="http://schemas.microsoft.com/office/2007/relationships/hdphoto" Target="../media/hdphoto2.wdp"/><Relationship Id="rId3" Type="http://schemas.openxmlformats.org/officeDocument/2006/relationships/image" Target="../media/image19.png"/><Relationship Id="rId21" Type="http://schemas.openxmlformats.org/officeDocument/2006/relationships/image" Target="../media/image33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.wdp"/><Relationship Id="rId18" Type="http://schemas.microsoft.com/office/2007/relationships/hdphoto" Target="../media/hdphoto2.wdp"/><Relationship Id="rId3" Type="http://schemas.openxmlformats.org/officeDocument/2006/relationships/image" Target="../media/image19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.wdp"/><Relationship Id="rId18" Type="http://schemas.microsoft.com/office/2007/relationships/hdphoto" Target="../media/hdphoto2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28.pn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.wdp"/><Relationship Id="rId18" Type="http://schemas.openxmlformats.org/officeDocument/2006/relationships/image" Target="../media/image30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microsoft.com/office/2007/relationships/hdphoto" Target="../media/hdphoto2.wdp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.wdp"/><Relationship Id="rId18" Type="http://schemas.microsoft.com/office/2007/relationships/hdphoto" Target="../media/hdphoto2.wdp"/><Relationship Id="rId3" Type="http://schemas.openxmlformats.org/officeDocument/2006/relationships/image" Target="../media/image19.png"/><Relationship Id="rId21" Type="http://schemas.openxmlformats.org/officeDocument/2006/relationships/image" Target="../media/image40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9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38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7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5" Type="http://schemas.openxmlformats.org/officeDocument/2006/relationships/image" Target="../media/image49.png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50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.png"/><Relationship Id="rId5" Type="http://schemas.openxmlformats.org/officeDocument/2006/relationships/image" Target="../media/image21.png"/><Relationship Id="rId10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.png"/><Relationship Id="rId5" Type="http://schemas.openxmlformats.org/officeDocument/2006/relationships/image" Target="../media/image21.png"/><Relationship Id="rId10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54.png"/><Relationship Id="rId4" Type="http://schemas.openxmlformats.org/officeDocument/2006/relationships/image" Target="../media/image20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9.png"/><Relationship Id="rId7" Type="http://schemas.openxmlformats.org/officeDocument/2006/relationships/image" Target="../media/image55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5.png"/><Relationship Id="rId5" Type="http://schemas.openxmlformats.org/officeDocument/2006/relationships/image" Target="../media/image3.png"/><Relationship Id="rId10" Type="http://schemas.openxmlformats.org/officeDocument/2006/relationships/image" Target="../media/image42.png"/><Relationship Id="rId4" Type="http://schemas.openxmlformats.org/officeDocument/2006/relationships/image" Target="../media/image20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9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61.png"/><Relationship Id="rId4" Type="http://schemas.openxmlformats.org/officeDocument/2006/relationships/image" Target="../media/image20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65.png"/><Relationship Id="rId5" Type="http://schemas.openxmlformats.org/officeDocument/2006/relationships/image" Target="../media/image3.png"/><Relationship Id="rId10" Type="http://schemas.openxmlformats.org/officeDocument/2006/relationships/image" Target="../media/image64.png"/><Relationship Id="rId4" Type="http://schemas.openxmlformats.org/officeDocument/2006/relationships/image" Target="../media/image20.png"/><Relationship Id="rId9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8.png"/><Relationship Id="rId4" Type="http://schemas.openxmlformats.org/officeDocument/2006/relationships/image" Target="../media/image20.png"/><Relationship Id="rId9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9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0.png"/><Relationship Id="rId7" Type="http://schemas.openxmlformats.org/officeDocument/2006/relationships/image" Target="../media/image7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9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4">
            <a:alphaModFix/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"/>
          <p:cNvGrpSpPr/>
          <p:nvPr/>
        </p:nvGrpSpPr>
        <p:grpSpPr>
          <a:xfrm>
            <a:off x="4367809" y="1370504"/>
            <a:ext cx="7115764" cy="1917034"/>
            <a:chOff x="6747213" y="1370504"/>
            <a:chExt cx="4736400" cy="1917034"/>
          </a:xfrm>
        </p:grpSpPr>
        <p:sp>
          <p:nvSpPr>
            <p:cNvPr id="154" name="Google Shape;154;p2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6747213" y="1809738"/>
              <a:ext cx="4736400" cy="14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ko-KR" sz="4800">
                  <a:solidFill>
                    <a:srgbClr val="27262E"/>
                  </a:solidFill>
                </a:rPr>
                <a:t>줄서기 싫어요</a:t>
              </a:r>
              <a:r>
                <a:rPr lang="ko-KR" sz="4800" b="0" i="0" u="none" strike="noStrike" cap="none">
                  <a:solidFill>
                    <a:srgbClr val="27262E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altLang="ko-KR" sz="4800" b="0" i="0" u="none" strike="noStrike" cap="none">
                <a:solidFill>
                  <a:srgbClr val="27262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ko-KR" sz="4800" b="0" i="0" u="none" strike="noStrike" cap="none">
                  <a:solidFill>
                    <a:srgbClr val="27262E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sz="4800">
                  <a:solidFill>
                    <a:srgbClr val="27262E"/>
                  </a:solidFill>
                </a:rPr>
                <a:t>Zer0-Waiting</a:t>
              </a:r>
              <a:r>
                <a:rPr lang="ko-KR" sz="4800" b="0" i="0" u="none" strike="noStrike" cap="none">
                  <a:solidFill>
                    <a:srgbClr val="27262E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48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6" name="Google Shape;156;p2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sz="1600" b="1" i="0" u="none" strike="noStrike" cap="none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158" name="Google Shape;158;p2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0" name="Google Shape;160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"/>
          <p:cNvPicPr preferRelativeResize="0"/>
          <p:nvPr/>
        </p:nvPicPr>
        <p:blipFill rotWithShape="1">
          <a:blip r:embed="rId8">
            <a:alphaModFix/>
          </a:blip>
          <a:srcRect l="21662" t="1" b="17378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2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63" name="Google Shape;163;p2"/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/>
              <a:ahLst/>
              <a:cxnLst/>
              <a:rect l="l" t="t" r="r" b="b"/>
              <a:pathLst>
                <a:path w="1047217" h="1047469" extrusionOk="0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/>
              <a:ahLst/>
              <a:cxnLst/>
              <a:rect l="l" t="t" r="r" b="b"/>
              <a:pathLst>
                <a:path w="397819" h="397819" extrusionOk="0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65" name="Google Shape;165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"/>
          <p:cNvGrpSpPr/>
          <p:nvPr/>
        </p:nvGrpSpPr>
        <p:grpSpPr>
          <a:xfrm>
            <a:off x="6747213" y="3882051"/>
            <a:ext cx="5222275" cy="1816174"/>
            <a:chOff x="6768048" y="3882051"/>
            <a:chExt cx="5222275" cy="1816174"/>
          </a:xfrm>
        </p:grpSpPr>
        <p:pic>
          <p:nvPicPr>
            <p:cNvPr id="168" name="Google Shape;168;p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 rot="10800000" flipH="1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"/>
            <p:cNvSpPr txBox="1"/>
            <p:nvPr/>
          </p:nvSpPr>
          <p:spPr>
            <a:xfrm>
              <a:off x="6831823" y="4028125"/>
              <a:ext cx="5158500" cy="167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</a:t>
              </a:r>
              <a:r>
                <a:rPr lang="ko-KR" sz="2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sz="24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팀</a:t>
              </a:r>
              <a:r>
                <a:rPr lang="ko-KR" sz="24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</a:t>
              </a:r>
              <a:r>
                <a:rPr lang="ko-KR" sz="24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티익스프레스</a:t>
              </a:r>
              <a:endParaRPr sz="24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15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민준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(팀장),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고을희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구경섭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김태욱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배소윤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서효빈</a:t>
              </a: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염원영, 조용찬</a:t>
              </a:r>
              <a:endParaRPr sz="20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38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4">
            <a:alphaModFix/>
          </a:blip>
          <a:srcRect r="27522" b="23907"/>
          <a:stretch/>
        </p:blipFill>
        <p:spPr>
          <a:xfrm rot="10800000" flipH="1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3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77" name="Google Shape;177;p3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ko-KR" sz="4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8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 b="0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3" name="Google Shape;183;p3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 b="0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86" name="Google Shape;186;p3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 b="0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189" name="Google Shape;189;p3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 b="0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192" name="Google Shape;192;p3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-KR" sz="20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ko-KR" sz="3200" b="1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 b="0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3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3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199" name="Google Shape;199;p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" y="-23531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61;p4">
            <a:extLst>
              <a:ext uri="{FF2B5EF4-FFF2-40B4-BE49-F238E27FC236}">
                <a16:creationId xmlns:a16="http://schemas.microsoft.com/office/drawing/2014/main" id="{7BE9EBB9-2F2A-4E8C-9979-F86DFC153A16}"/>
              </a:ext>
            </a:extLst>
          </p:cNvPr>
          <p:cNvSpPr/>
          <p:nvPr/>
        </p:nvSpPr>
        <p:spPr>
          <a:xfrm>
            <a:off x="9444453" y="2165485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62;p4">
            <a:extLst>
              <a:ext uri="{FF2B5EF4-FFF2-40B4-BE49-F238E27FC236}">
                <a16:creationId xmlns:a16="http://schemas.microsoft.com/office/drawing/2014/main" id="{1974525E-8A77-F7B6-4930-969D641B3404}"/>
              </a:ext>
            </a:extLst>
          </p:cNvPr>
          <p:cNvSpPr/>
          <p:nvPr/>
        </p:nvSpPr>
        <p:spPr>
          <a:xfrm>
            <a:off x="9444453" y="3348673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50;p4">
            <a:extLst>
              <a:ext uri="{FF2B5EF4-FFF2-40B4-BE49-F238E27FC236}">
                <a16:creationId xmlns:a16="http://schemas.microsoft.com/office/drawing/2014/main" id="{216008A8-ECC7-30B4-2BE8-4CF8D7940224}"/>
              </a:ext>
            </a:extLst>
          </p:cNvPr>
          <p:cNvSpPr/>
          <p:nvPr/>
        </p:nvSpPr>
        <p:spPr>
          <a:xfrm>
            <a:off x="7216453" y="2122231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1;p4">
            <a:extLst>
              <a:ext uri="{FF2B5EF4-FFF2-40B4-BE49-F238E27FC236}">
                <a16:creationId xmlns:a16="http://schemas.microsoft.com/office/drawing/2014/main" id="{725C1B6F-DC29-1437-223D-E5C96D7337F3}"/>
              </a:ext>
            </a:extLst>
          </p:cNvPr>
          <p:cNvSpPr/>
          <p:nvPr/>
        </p:nvSpPr>
        <p:spPr>
          <a:xfrm>
            <a:off x="7216454" y="3339730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61;p4">
            <a:extLst>
              <a:ext uri="{FF2B5EF4-FFF2-40B4-BE49-F238E27FC236}">
                <a16:creationId xmlns:a16="http://schemas.microsoft.com/office/drawing/2014/main" id="{65B2B006-1A70-03DF-3B27-2B0070DB5881}"/>
              </a:ext>
            </a:extLst>
          </p:cNvPr>
          <p:cNvSpPr/>
          <p:nvPr/>
        </p:nvSpPr>
        <p:spPr>
          <a:xfrm>
            <a:off x="4972531" y="2179420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62;p4">
            <a:extLst>
              <a:ext uri="{FF2B5EF4-FFF2-40B4-BE49-F238E27FC236}">
                <a16:creationId xmlns:a16="http://schemas.microsoft.com/office/drawing/2014/main" id="{28A2414C-F269-B5E4-9284-5586E8A5E0E2}"/>
              </a:ext>
            </a:extLst>
          </p:cNvPr>
          <p:cNvSpPr/>
          <p:nvPr/>
        </p:nvSpPr>
        <p:spPr>
          <a:xfrm>
            <a:off x="4972531" y="3362608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0;p4">
            <a:extLst>
              <a:ext uri="{FF2B5EF4-FFF2-40B4-BE49-F238E27FC236}">
                <a16:creationId xmlns:a16="http://schemas.microsoft.com/office/drawing/2014/main" id="{1DA2DF44-174D-7576-E0EC-ACB226E545E3}"/>
              </a:ext>
            </a:extLst>
          </p:cNvPr>
          <p:cNvSpPr/>
          <p:nvPr/>
        </p:nvSpPr>
        <p:spPr>
          <a:xfrm>
            <a:off x="2734699" y="2155830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1;p4">
            <a:extLst>
              <a:ext uri="{FF2B5EF4-FFF2-40B4-BE49-F238E27FC236}">
                <a16:creationId xmlns:a16="http://schemas.microsoft.com/office/drawing/2014/main" id="{EFA542D0-690B-9494-8CDE-B178CDF08D64}"/>
              </a:ext>
            </a:extLst>
          </p:cNvPr>
          <p:cNvSpPr/>
          <p:nvPr/>
        </p:nvSpPr>
        <p:spPr>
          <a:xfrm>
            <a:off x="2734700" y="3373329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61;p4">
            <a:extLst>
              <a:ext uri="{FF2B5EF4-FFF2-40B4-BE49-F238E27FC236}">
                <a16:creationId xmlns:a16="http://schemas.microsoft.com/office/drawing/2014/main" id="{83C67706-F32D-E50C-C8D9-DDFA23B2EE41}"/>
              </a:ext>
            </a:extLst>
          </p:cNvPr>
          <p:cNvSpPr/>
          <p:nvPr/>
        </p:nvSpPr>
        <p:spPr>
          <a:xfrm>
            <a:off x="425618" y="2175617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62;p4">
            <a:extLst>
              <a:ext uri="{FF2B5EF4-FFF2-40B4-BE49-F238E27FC236}">
                <a16:creationId xmlns:a16="http://schemas.microsoft.com/office/drawing/2014/main" id="{48683ADD-0862-D45C-452D-A4D010F59CE8}"/>
              </a:ext>
            </a:extLst>
          </p:cNvPr>
          <p:cNvSpPr/>
          <p:nvPr/>
        </p:nvSpPr>
        <p:spPr>
          <a:xfrm>
            <a:off x="425618" y="3358805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1" name="Google Shape;211;p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4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/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/>
          <p:cNvSpPr txBox="1"/>
          <p:nvPr/>
        </p:nvSpPr>
        <p:spPr>
          <a:xfrm>
            <a:off x="833181" y="1419846"/>
            <a:ext cx="428324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1" i="0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주제 및 선정 배경,</a:t>
            </a:r>
            <a:r>
              <a:rPr lang="en-US" altLang="ko-KR" sz="1800" b="1" i="0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i="0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기획의도</a:t>
            </a:r>
            <a:endParaRPr sz="1400" b="0" i="0" strike="noStrike" cap="none">
              <a:solidFill>
                <a:srgbClr val="000000"/>
              </a:solidFill>
              <a:ea typeface="HY헤드라인M" panose="02030600000101010101" pitchFamily="18" charset="-127"/>
              <a:sym typeface="Arial"/>
            </a:endParaRPr>
          </a:p>
        </p:txBody>
      </p:sp>
      <p:grpSp>
        <p:nvGrpSpPr>
          <p:cNvPr id="242" name="Google Shape;242;p4"/>
          <p:cNvGrpSpPr/>
          <p:nvPr/>
        </p:nvGrpSpPr>
        <p:grpSpPr>
          <a:xfrm>
            <a:off x="454960" y="1417388"/>
            <a:ext cx="408282" cy="351966"/>
            <a:chOff x="450324" y="2128945"/>
            <a:chExt cx="889526" cy="766832"/>
          </a:xfrm>
        </p:grpSpPr>
        <p:sp>
          <p:nvSpPr>
            <p:cNvPr id="243" name="Google Shape;243;p4"/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83" name="Google Shape;283;p4" descr="EMB0000378c3f3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oworld_reference.png">
            <a:extLst>
              <a:ext uri="{FF2B5EF4-FFF2-40B4-BE49-F238E27FC236}">
                <a16:creationId xmlns:a16="http://schemas.microsoft.com/office/drawing/2014/main" id="{D8FC0125-7D94-20CE-5303-0B1FE95194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179" b="58383" l="8581" r="17225">
                        <a14:foregroundMark x1="10938" y1="51391" x2="10938" y2="51391"/>
                        <a14:foregroundMark x1="10889" y1="50174" x2="10889" y2="50174"/>
                        <a14:foregroundMark x1="12939" y1="50609" x2="12939" y2="50609"/>
                        <a14:foregroundMark x1="13232" y1="51565" x2="13232" y2="51565"/>
                        <a14:foregroundMark x1="15088" y1="50870" x2="15088" y2="50870"/>
                        <a14:backgroundMark x1="11035" y1="51217" x2="11035" y2="51217"/>
                        <a14:backgroundMark x1="11035" y1="51304" x2="11035" y2="51304"/>
                        <a14:backgroundMark x1="10986" y1="50087" x2="10986" y2="50087"/>
                        <a14:backgroundMark x1="10986" y1="50348" x2="10986" y2="50348"/>
                        <a14:backgroundMark x1="12891" y1="50522" x2="12891" y2="50522"/>
                        <a14:backgroundMark x1="13135" y1="51739" x2="13135" y2="51739"/>
                        <a14:backgroundMark x1="15088" y1="51043" x2="15088" y2="51043"/>
                      </a14:backgroundRemoval>
                    </a14:imgEffect>
                  </a14:imgLayer>
                </a14:imgProps>
              </a:ext>
            </a:extLst>
          </a:blip>
          <a:srcRect l="7500" t="48029" r="81694" b="40466"/>
          <a:stretch/>
        </p:blipFill>
        <p:spPr>
          <a:xfrm>
            <a:off x="833181" y="2549818"/>
            <a:ext cx="1317523" cy="788990"/>
          </a:xfrm>
          <a:prstGeom prst="rect">
            <a:avLst/>
          </a:prstGeom>
        </p:spPr>
      </p:pic>
      <p:sp>
        <p:nvSpPr>
          <p:cNvPr id="8" name="Google Shape;240;p4">
            <a:extLst>
              <a:ext uri="{FF2B5EF4-FFF2-40B4-BE49-F238E27FC236}">
                <a16:creationId xmlns:a16="http://schemas.microsoft.com/office/drawing/2014/main" id="{6A543818-6EF5-561C-1920-FED3EFDCB75A}"/>
              </a:ext>
            </a:extLst>
          </p:cNvPr>
          <p:cNvSpPr/>
          <p:nvPr/>
        </p:nvSpPr>
        <p:spPr>
          <a:xfrm rot="5400000">
            <a:off x="-290568" y="1539662"/>
            <a:ext cx="743855" cy="157361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" name="Google Shape;242;p4">
            <a:extLst>
              <a:ext uri="{FF2B5EF4-FFF2-40B4-BE49-F238E27FC236}">
                <a16:creationId xmlns:a16="http://schemas.microsoft.com/office/drawing/2014/main" id="{7147DD09-7C06-5C2C-89BE-0CCB1CCC59ED}"/>
              </a:ext>
            </a:extLst>
          </p:cNvPr>
          <p:cNvGrpSpPr/>
          <p:nvPr/>
        </p:nvGrpSpPr>
        <p:grpSpPr>
          <a:xfrm>
            <a:off x="1260286" y="2035986"/>
            <a:ext cx="408282" cy="388046"/>
            <a:chOff x="450324" y="2128945"/>
            <a:chExt cx="889526" cy="845440"/>
          </a:xfrm>
        </p:grpSpPr>
        <p:sp>
          <p:nvSpPr>
            <p:cNvPr id="13" name="Google Shape;243;p4">
              <a:extLst>
                <a:ext uri="{FF2B5EF4-FFF2-40B4-BE49-F238E27FC236}">
                  <a16:creationId xmlns:a16="http://schemas.microsoft.com/office/drawing/2014/main" id="{C6597F2B-02FC-DA86-34BF-5FBB4ABC045C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4;p4">
              <a:extLst>
                <a:ext uri="{FF2B5EF4-FFF2-40B4-BE49-F238E27FC236}">
                  <a16:creationId xmlns:a16="http://schemas.microsoft.com/office/drawing/2014/main" id="{DD468949-67D4-E99F-E751-F83C500DC84E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245;p4">
              <a:extLst>
                <a:ext uri="{FF2B5EF4-FFF2-40B4-BE49-F238E27FC236}">
                  <a16:creationId xmlns:a16="http://schemas.microsoft.com/office/drawing/2014/main" id="{9AD1495E-FD73-C1C7-9AD9-DDABDF9D7BC5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Picture 1" descr="oworld_reference.png">
            <a:extLst>
              <a:ext uri="{FF2B5EF4-FFF2-40B4-BE49-F238E27FC236}">
                <a16:creationId xmlns:a16="http://schemas.microsoft.com/office/drawing/2014/main" id="{5B0BAF57-FBD3-611C-294D-DA77AB8F3B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7099" b="59159" l="46215" r="53535">
                        <a14:foregroundMark x1="49756" y1="52609" x2="49756" y2="52609"/>
                        <a14:foregroundMark x1="49756" y1="54870" x2="49756" y2="54870"/>
                        <a14:foregroundMark x1="49756" y1="57130" x2="49756" y2="57130"/>
                        <a14:foregroundMark x1="51709" y1="56870" x2="51709" y2="56870"/>
                        <a14:backgroundMark x1="48242" y1="52435" x2="48242" y2="52435"/>
                        <a14:backgroundMark x1="48828" y1="54783" x2="48828" y2="54783"/>
                        <a14:backgroundMark x1="48633" y1="56870" x2="48633" y2="56870"/>
                        <a14:backgroundMark x1="48926" y1="52261" x2="48926" y2="52261"/>
                        <a14:backgroundMark x1="51660" y1="55565" x2="51660" y2="55565"/>
                        <a14:backgroundMark x1="52637" y1="57739" x2="52637" y2="57739"/>
                        <a14:backgroundMark x1="49658" y1="52696" x2="49658" y2="52696"/>
                        <a14:backgroundMark x1="49658" y1="54870" x2="49658" y2="54870"/>
                        <a14:backgroundMark x1="49658" y1="57043" x2="49658" y2="57043"/>
                      </a14:backgroundRemoval>
                    </a14:imgEffect>
                  </a14:imgLayer>
                </a14:imgProps>
              </a:ext>
            </a:extLst>
          </a:blip>
          <a:srcRect l="45300" t="45591" r="45550" b="39333"/>
          <a:stretch/>
        </p:blipFill>
        <p:spPr>
          <a:xfrm>
            <a:off x="5439030" y="2363938"/>
            <a:ext cx="1115567" cy="1033862"/>
          </a:xfrm>
          <a:prstGeom prst="rect">
            <a:avLst/>
          </a:prstGeom>
        </p:spPr>
      </p:pic>
      <p:pic>
        <p:nvPicPr>
          <p:cNvPr id="20" name="Picture 1" descr="oworld_reference.png">
            <a:extLst>
              <a:ext uri="{FF2B5EF4-FFF2-40B4-BE49-F238E27FC236}">
                <a16:creationId xmlns:a16="http://schemas.microsoft.com/office/drawing/2014/main" id="{138240EF-354D-4909-70D2-C4F697831C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64525" r="73169">
                        <a14:backgroundMark x1="68799" y1="49826" x2="68799" y2="49826"/>
                        <a14:backgroundMark x1="68652" y1="56957" x2="68652" y2="56957"/>
                        <a14:backgroundMark x1="71582" y1="57043" x2="71582" y2="57043"/>
                        <a14:backgroundMark x1="65771" y1="56870" x2="65771" y2="56870"/>
                      </a14:backgroundRemoval>
                    </a14:imgEffect>
                  </a14:imgLayer>
                </a14:imgProps>
              </a:ext>
            </a:extLst>
          </a:blip>
          <a:srcRect l="63444" t="46882" r="25750" b="40466"/>
          <a:stretch/>
        </p:blipFill>
        <p:spPr>
          <a:xfrm>
            <a:off x="7684779" y="2431832"/>
            <a:ext cx="1317522" cy="867648"/>
          </a:xfrm>
          <a:prstGeom prst="rect">
            <a:avLst/>
          </a:prstGeom>
        </p:spPr>
      </p:pic>
      <p:pic>
        <p:nvPicPr>
          <p:cNvPr id="21" name="Picture 1" descr="oworld_reference.png">
            <a:extLst>
              <a:ext uri="{FF2B5EF4-FFF2-40B4-BE49-F238E27FC236}">
                <a16:creationId xmlns:a16="http://schemas.microsoft.com/office/drawing/2014/main" id="{1ED58FF7-6969-D7DB-24E9-5D31A1A49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83490" r="90810">
                        <a14:foregroundMark x1="87646" y1="53652" x2="87646" y2="53652"/>
                        <a14:foregroundMark x1="89404" y1="56957" x2="89404" y2="56957"/>
                        <a14:foregroundMark x1="90576" y1="57565" x2="90576" y2="57565"/>
                      </a14:backgroundRemoval>
                    </a14:imgEffect>
                  </a14:imgLayer>
                </a14:imgProps>
              </a:ext>
            </a:extLst>
          </a:blip>
          <a:srcRect l="82575" t="46882" r="8275" b="40466"/>
          <a:stretch/>
        </p:blipFill>
        <p:spPr>
          <a:xfrm>
            <a:off x="9935836" y="2422000"/>
            <a:ext cx="1115568" cy="867648"/>
          </a:xfrm>
          <a:prstGeom prst="rect">
            <a:avLst/>
          </a:prstGeom>
        </p:spPr>
      </p:pic>
      <p:grpSp>
        <p:nvGrpSpPr>
          <p:cNvPr id="24" name="Google Shape;252;p4">
            <a:extLst>
              <a:ext uri="{FF2B5EF4-FFF2-40B4-BE49-F238E27FC236}">
                <a16:creationId xmlns:a16="http://schemas.microsoft.com/office/drawing/2014/main" id="{21A5E7E5-A0EB-0494-5288-FEABA21F1513}"/>
              </a:ext>
            </a:extLst>
          </p:cNvPr>
          <p:cNvGrpSpPr/>
          <p:nvPr/>
        </p:nvGrpSpPr>
        <p:grpSpPr>
          <a:xfrm>
            <a:off x="3541823" y="2000986"/>
            <a:ext cx="418718" cy="380422"/>
            <a:chOff x="427587" y="2066948"/>
            <a:chExt cx="912263" cy="828829"/>
          </a:xfrm>
        </p:grpSpPr>
        <p:sp>
          <p:nvSpPr>
            <p:cNvPr id="25" name="Google Shape;253;p4">
              <a:extLst>
                <a:ext uri="{FF2B5EF4-FFF2-40B4-BE49-F238E27FC236}">
                  <a16:creationId xmlns:a16="http://schemas.microsoft.com/office/drawing/2014/main" id="{6EE721C2-CA4E-6D1F-BB7A-20D55561F615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4;p4">
              <a:extLst>
                <a:ext uri="{FF2B5EF4-FFF2-40B4-BE49-F238E27FC236}">
                  <a16:creationId xmlns:a16="http://schemas.microsoft.com/office/drawing/2014/main" id="{14B2BF2C-9301-3210-DA1F-8155406CECD9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55;p4">
              <a:extLst>
                <a:ext uri="{FF2B5EF4-FFF2-40B4-BE49-F238E27FC236}">
                  <a16:creationId xmlns:a16="http://schemas.microsoft.com/office/drawing/2014/main" id="{BF92DF9C-99BB-B0EB-5A09-C87BF7A28BB1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63;p4">
            <a:extLst>
              <a:ext uri="{FF2B5EF4-FFF2-40B4-BE49-F238E27FC236}">
                <a16:creationId xmlns:a16="http://schemas.microsoft.com/office/drawing/2014/main" id="{6568DEE6-1983-71E7-2D30-C8E8FC4D0923}"/>
              </a:ext>
            </a:extLst>
          </p:cNvPr>
          <p:cNvGrpSpPr/>
          <p:nvPr/>
        </p:nvGrpSpPr>
        <p:grpSpPr>
          <a:xfrm>
            <a:off x="5721116" y="2029442"/>
            <a:ext cx="418718" cy="380422"/>
            <a:chOff x="427587" y="2066948"/>
            <a:chExt cx="912263" cy="828829"/>
          </a:xfrm>
        </p:grpSpPr>
        <p:sp>
          <p:nvSpPr>
            <p:cNvPr id="29" name="Google Shape;264;p4">
              <a:extLst>
                <a:ext uri="{FF2B5EF4-FFF2-40B4-BE49-F238E27FC236}">
                  <a16:creationId xmlns:a16="http://schemas.microsoft.com/office/drawing/2014/main" id="{7AF68B86-0F2B-FFC0-041E-565AEC4C6B01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265;p4">
              <a:extLst>
                <a:ext uri="{FF2B5EF4-FFF2-40B4-BE49-F238E27FC236}">
                  <a16:creationId xmlns:a16="http://schemas.microsoft.com/office/drawing/2014/main" id="{F90F25B7-7E42-7DE8-B743-123F1E5BAB77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266;p4">
              <a:extLst>
                <a:ext uri="{FF2B5EF4-FFF2-40B4-BE49-F238E27FC236}">
                  <a16:creationId xmlns:a16="http://schemas.microsoft.com/office/drawing/2014/main" id="{E238FF3F-3E58-B91F-2ABA-354CA35B98E5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32;p4">
            <a:extLst>
              <a:ext uri="{FF2B5EF4-FFF2-40B4-BE49-F238E27FC236}">
                <a16:creationId xmlns:a16="http://schemas.microsoft.com/office/drawing/2014/main" id="{73D46219-A92F-12AA-134E-4A1CA4E0D532}"/>
              </a:ext>
            </a:extLst>
          </p:cNvPr>
          <p:cNvGrpSpPr/>
          <p:nvPr/>
        </p:nvGrpSpPr>
        <p:grpSpPr>
          <a:xfrm>
            <a:off x="8069476" y="1980676"/>
            <a:ext cx="418718" cy="380422"/>
            <a:chOff x="427587" y="2066948"/>
            <a:chExt cx="912263" cy="828829"/>
          </a:xfrm>
        </p:grpSpPr>
        <p:sp>
          <p:nvSpPr>
            <p:cNvPr id="33" name="Google Shape;233;p4">
              <a:extLst>
                <a:ext uri="{FF2B5EF4-FFF2-40B4-BE49-F238E27FC236}">
                  <a16:creationId xmlns:a16="http://schemas.microsoft.com/office/drawing/2014/main" id="{758FE504-48BD-64D5-0FDD-1E9C3BC2A243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234;p4">
              <a:extLst>
                <a:ext uri="{FF2B5EF4-FFF2-40B4-BE49-F238E27FC236}">
                  <a16:creationId xmlns:a16="http://schemas.microsoft.com/office/drawing/2014/main" id="{224B70F8-9758-AC2F-4C5C-7ED622C66EA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235;p4">
              <a:extLst>
                <a:ext uri="{FF2B5EF4-FFF2-40B4-BE49-F238E27FC236}">
                  <a16:creationId xmlns:a16="http://schemas.microsoft.com/office/drawing/2014/main" id="{95D0B13C-2FC6-5BB1-988A-CDD715388C0D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75;p4">
            <a:extLst>
              <a:ext uri="{FF2B5EF4-FFF2-40B4-BE49-F238E27FC236}">
                <a16:creationId xmlns:a16="http://schemas.microsoft.com/office/drawing/2014/main" id="{D42E6780-6016-563D-8F9D-0DD677CA0A25}"/>
              </a:ext>
            </a:extLst>
          </p:cNvPr>
          <p:cNvGrpSpPr/>
          <p:nvPr/>
        </p:nvGrpSpPr>
        <p:grpSpPr>
          <a:xfrm>
            <a:off x="10253975" y="1981990"/>
            <a:ext cx="418718" cy="380422"/>
            <a:chOff x="427587" y="2066948"/>
            <a:chExt cx="912263" cy="828829"/>
          </a:xfrm>
        </p:grpSpPr>
        <p:sp>
          <p:nvSpPr>
            <p:cNvPr id="37" name="Google Shape;276;p4">
              <a:extLst>
                <a:ext uri="{FF2B5EF4-FFF2-40B4-BE49-F238E27FC236}">
                  <a16:creationId xmlns:a16="http://schemas.microsoft.com/office/drawing/2014/main" id="{5C36701A-9D29-6CD9-459D-022BD0D4382B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277;p4">
              <a:extLst>
                <a:ext uri="{FF2B5EF4-FFF2-40B4-BE49-F238E27FC236}">
                  <a16:creationId xmlns:a16="http://schemas.microsoft.com/office/drawing/2014/main" id="{DA782EC1-5C60-84F9-DF27-117D106EC1BB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278;p4">
              <a:extLst>
                <a:ext uri="{FF2B5EF4-FFF2-40B4-BE49-F238E27FC236}">
                  <a16:creationId xmlns:a16="http://schemas.microsoft.com/office/drawing/2014/main" id="{C20DA0FC-3FD0-8BEE-42BF-10E25B9BDE25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883F4D-880B-2725-A998-2D9890B50589}"/>
              </a:ext>
            </a:extLst>
          </p:cNvPr>
          <p:cNvCxnSpPr>
            <a:cxnSpLocks/>
            <a:stCxn id="46" idx="0"/>
            <a:endCxn id="43" idx="2"/>
          </p:cNvCxnSpPr>
          <p:nvPr/>
        </p:nvCxnSpPr>
        <p:spPr>
          <a:xfrm flipV="1">
            <a:off x="2490911" y="278970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5BF6C863-A604-7CCF-7169-4C8D87CE2BFE}"/>
              </a:ext>
            </a:extLst>
          </p:cNvPr>
          <p:cNvSpPr/>
          <p:nvPr/>
        </p:nvSpPr>
        <p:spPr>
          <a:xfrm>
            <a:off x="2610098" y="275674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66B85B5-ACC8-8099-E270-F785545CA4BE}"/>
              </a:ext>
            </a:extLst>
          </p:cNvPr>
          <p:cNvCxnSpPr/>
          <p:nvPr/>
        </p:nvCxnSpPr>
        <p:spPr>
          <a:xfrm flipV="1">
            <a:off x="4766055" y="276684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2C353F1E-A6E9-0D2E-C9EC-7325E51F695E}"/>
              </a:ext>
            </a:extLst>
          </p:cNvPr>
          <p:cNvSpPr/>
          <p:nvPr/>
        </p:nvSpPr>
        <p:spPr>
          <a:xfrm>
            <a:off x="4890322" y="273388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59F777-48CF-14F8-D591-9204E3E38064}"/>
              </a:ext>
            </a:extLst>
          </p:cNvPr>
          <p:cNvCxnSpPr/>
          <p:nvPr/>
        </p:nvCxnSpPr>
        <p:spPr>
          <a:xfrm flipV="1">
            <a:off x="6998475" y="2762882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5B54360F-F5A0-B325-8FB3-3F62C23C4831}"/>
              </a:ext>
            </a:extLst>
          </p:cNvPr>
          <p:cNvSpPr/>
          <p:nvPr/>
        </p:nvSpPr>
        <p:spPr>
          <a:xfrm>
            <a:off x="7122742" y="2729931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5F1A35E-0B38-98A4-9D1C-068AF0195223}"/>
              </a:ext>
            </a:extLst>
          </p:cNvPr>
          <p:cNvCxnSpPr/>
          <p:nvPr/>
        </p:nvCxnSpPr>
        <p:spPr>
          <a:xfrm flipV="1">
            <a:off x="9250493" y="277013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34817CB3-54FD-DA7C-E6FC-78C0B715725D}"/>
              </a:ext>
            </a:extLst>
          </p:cNvPr>
          <p:cNvSpPr/>
          <p:nvPr/>
        </p:nvSpPr>
        <p:spPr>
          <a:xfrm>
            <a:off x="9374760" y="273717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477BA16-A223-D4FE-07A9-EB8937C280B2}"/>
              </a:ext>
            </a:extLst>
          </p:cNvPr>
          <p:cNvSpPr/>
          <p:nvPr/>
        </p:nvSpPr>
        <p:spPr>
          <a:xfrm>
            <a:off x="668337" y="358638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E317911-D1C4-C4E6-6D82-6EF324AD895F}"/>
              </a:ext>
            </a:extLst>
          </p:cNvPr>
          <p:cNvCxnSpPr/>
          <p:nvPr/>
        </p:nvCxnSpPr>
        <p:spPr>
          <a:xfrm>
            <a:off x="1696508" y="363040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46043CA-E5B6-2658-3B29-A84365D5A425}"/>
              </a:ext>
            </a:extLst>
          </p:cNvPr>
          <p:cNvSpPr txBox="1"/>
          <p:nvPr/>
        </p:nvSpPr>
        <p:spPr>
          <a:xfrm>
            <a:off x="1785303" y="3608227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주제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7C9ACD-2298-6BA8-EE06-6FE3FE768E3E}"/>
              </a:ext>
            </a:extLst>
          </p:cNvPr>
          <p:cNvSpPr txBox="1"/>
          <p:nvPr/>
        </p:nvSpPr>
        <p:spPr>
          <a:xfrm>
            <a:off x="1921739" y="4038043"/>
            <a:ext cx="9548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생성형 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와 </a:t>
            </a:r>
            <a:r>
              <a:rPr lang="ko-KR" altLang="en-US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머신러닝을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이용한 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대전 </a:t>
            </a:r>
            <a:r>
              <a:rPr lang="ko-KR" altLang="en-US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오월드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＇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방문객 수 예측 및 날짜 추천 시스템</a:t>
            </a:r>
            <a:endParaRPr lang="en-US" altLang="ko-KR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DE330681-A426-4AB9-5CAC-C47DDB987FE8}"/>
              </a:ext>
            </a:extLst>
          </p:cNvPr>
          <p:cNvSpPr/>
          <p:nvPr/>
        </p:nvSpPr>
        <p:spPr>
          <a:xfrm>
            <a:off x="721391" y="4638102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04F9289B-58D7-EA0E-2FC6-6C6E3B7693D3}"/>
              </a:ext>
            </a:extLst>
          </p:cNvPr>
          <p:cNvCxnSpPr/>
          <p:nvPr/>
        </p:nvCxnSpPr>
        <p:spPr>
          <a:xfrm>
            <a:off x="1716889" y="4687194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B594FA6D-1936-B1AF-9AA2-97D9C2CDBC12}"/>
              </a:ext>
            </a:extLst>
          </p:cNvPr>
          <p:cNvSpPr txBox="1"/>
          <p:nvPr/>
        </p:nvSpPr>
        <p:spPr>
          <a:xfrm>
            <a:off x="1785303" y="4664585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C9AB49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선정 배경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19F8CBD-CD5E-CCA6-C400-6F6A2461A3EF}"/>
              </a:ext>
            </a:extLst>
          </p:cNvPr>
          <p:cNvSpPr txBox="1"/>
          <p:nvPr/>
        </p:nvSpPr>
        <p:spPr>
          <a:xfrm>
            <a:off x="1921739" y="4988143"/>
            <a:ext cx="9548870" cy="54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테마파크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를 이용하는 이용객은 사전에 혼잡도를 가늠할 정보가 부족 → </a:t>
            </a:r>
            <a:r>
              <a:rPr lang="ko-KR" altLang="en-US" sz="1400">
                <a:solidFill>
                  <a:srgbClr val="C9AB49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대기 시간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등 불편을 겪는 경우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증가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방문 전 혼잡도를 예측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+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최적의 방문일을 안내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0F4A9D4-272C-884B-E75D-344D36C17D2C}"/>
              </a:ext>
            </a:extLst>
          </p:cNvPr>
          <p:cNvSpPr/>
          <p:nvPr/>
        </p:nvSpPr>
        <p:spPr>
          <a:xfrm>
            <a:off x="688718" y="565089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5BEA6FE-29BB-56C5-4924-D0246D9EA3B8}"/>
              </a:ext>
            </a:extLst>
          </p:cNvPr>
          <p:cNvCxnSpPr/>
          <p:nvPr/>
        </p:nvCxnSpPr>
        <p:spPr>
          <a:xfrm>
            <a:off x="1716889" y="569491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2AA17B79-8840-C3F4-DFF4-E3B122F46E0D}"/>
              </a:ext>
            </a:extLst>
          </p:cNvPr>
          <p:cNvSpPr txBox="1"/>
          <p:nvPr/>
        </p:nvSpPr>
        <p:spPr>
          <a:xfrm>
            <a:off x="1785303" y="5672308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err="1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차별점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6AC57B8-282D-0575-CA9B-B9300B9D2B3C}"/>
              </a:ext>
            </a:extLst>
          </p:cNvPr>
          <p:cNvSpPr txBox="1"/>
          <p:nvPr/>
        </p:nvSpPr>
        <p:spPr>
          <a:xfrm>
            <a:off x="1921739" y="5995866"/>
            <a:ext cx="9548870" cy="54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최대 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10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일 뒤까지의 방문객 수 예측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+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사용자 선호도 기반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최적의 날짜 추천 로직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사용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생성형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 실시간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 Search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를 포함하여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예측 </a:t>
            </a:r>
            <a:r>
              <a:rPr lang="en-US" altLang="ko-KR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–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추천 </a:t>
            </a:r>
            <a:r>
              <a:rPr lang="en-US" altLang="ko-KR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–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</a:rPr>
              <a:t>출력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을 하나의 파이프라인으로 제공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4C381ACE-672D-5BDC-CA47-A57EB252B4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77" b="96680" l="0" r="97266">
                        <a14:foregroundMark x1="7184" y1="20421" x2="4883" y2="29297"/>
                        <a14:foregroundMark x1="7497" y1="19212" x2="7295" y2="19993"/>
                        <a14:foregroundMark x1="8984" y1="13477" x2="8636" y2="14821"/>
                        <a14:foregroundMark x1="5655" y1="18060" x2="5469" y2="91797"/>
                        <a14:foregroundMark x1="5664" y1="14648" x2="5661" y2="15703"/>
                        <a14:foregroundMark x1="12753" y1="95653" x2="15430" y2="97070"/>
                        <a14:foregroundMark x1="5469" y1="91797" x2="12446" y2="95491"/>
                        <a14:foregroundMark x1="15430" y1="97070" x2="43945" y2="98047"/>
                        <a14:foregroundMark x1="43945" y1="98047" x2="88281" y2="95117"/>
                        <a14:foregroundMark x1="90697" y1="88080" x2="99414" y2="62695"/>
                        <a14:foregroundMark x1="88281" y1="95117" x2="89017" y2="92973"/>
                        <a14:foregroundMark x1="90016" y1="14416" x2="89453" y2="11523"/>
                        <a14:foregroundMark x1="99414" y1="62695" x2="91135" y2="20163"/>
                        <a14:foregroundMark x1="10914" y1="13144" x2="4297" y2="13281"/>
                        <a14:foregroundMark x1="89453" y1="11523" x2="12866" y2="13104"/>
                        <a14:foregroundMark x1="21289" y1="3906" x2="21680" y2="18359"/>
                        <a14:foregroundMark x1="6055" y1="18750" x2="0" y2="72852"/>
                        <a14:foregroundMark x1="0" y1="72852" x2="3125" y2="86914"/>
                        <a14:foregroundMark x1="12541" y1="95137" x2="40625" y2="96680"/>
                        <a14:foregroundMark x1="5078" y1="94727" x2="12124" y2="95114"/>
                        <a14:foregroundMark x1="40625" y1="96680" x2="49023" y2="96484"/>
                        <a14:foregroundMark x1="93362" y1="90400" x2="96484" y2="90039"/>
                        <a14:foregroundMark x1="72852" y1="92773" x2="86919" y2="91146"/>
                        <a14:foregroundMark x1="83203" y1="47852" x2="83203" y2="47852"/>
                        <a14:foregroundMark x1="81836" y1="62500" x2="81836" y2="62500"/>
                        <a14:foregroundMark x1="67969" y1="78711" x2="67969" y2="78711"/>
                        <a14:foregroundMark x1="67383" y1="64258" x2="67383" y2="62891"/>
                        <a14:foregroundMark x1="69727" y1="48047" x2="69727" y2="48047"/>
                        <a14:foregroundMark x1="51563" y1="48438" x2="51563" y2="48438"/>
                        <a14:foregroundMark x1="31250" y1="49023" x2="31250" y2="49023"/>
                        <a14:foregroundMark x1="19141" y1="49023" x2="19141" y2="49023"/>
                        <a14:foregroundMark x1="20313" y1="64063" x2="20313" y2="64063"/>
                        <a14:foregroundMark x1="32813" y1="63672" x2="32813" y2="63672"/>
                        <a14:foregroundMark x1="35547" y1="78711" x2="35547" y2="78711"/>
                        <a14:foregroundMark x1="18555" y1="81445" x2="21094" y2="80469"/>
                        <a14:foregroundMark x1="51953" y1="79688" x2="51953" y2="79688"/>
                        <a14:foregroundMark x1="51367" y1="65039" x2="51367" y2="64453"/>
                        <a14:foregroundMark x1="80664" y1="977" x2="80664" y2="977"/>
                        <a14:foregroundMark x1="92188" y1="12500" x2="92188" y2="12500"/>
                        <a14:foregroundMark x1="95703" y1="20313" x2="97266" y2="84570"/>
                        <a14:foregroundMark x1="81445" y1="4297" x2="81445" y2="4297"/>
                        <a14:foregroundMark x1="79102" y1="21289" x2="79102" y2="21289"/>
                        <a14:foregroundMark x1="81250" y1="17773" x2="78906" y2="19141"/>
                        <a14:foregroundMark x1="22852" y1="18750" x2="19727" y2="20313"/>
                        <a14:foregroundMark x1="20313" y1="30664" x2="30078" y2="30469"/>
                        <a14:foregroundMark x1="19727" y1="47461" x2="20508" y2="47461"/>
                        <a14:foregroundMark x1="32813" y1="47852" x2="32813" y2="47852"/>
                        <a14:foregroundMark x1="33398" y1="46680" x2="34961" y2="49609"/>
                        <a14:foregroundMark x1="35352" y1="64648" x2="36328" y2="68164"/>
                        <a14:foregroundMark x1="19141" y1="64258" x2="20117" y2="65039"/>
                        <a14:foregroundMark x1="15234" y1="45703" x2="16602" y2="66992"/>
                        <a14:foregroundMark x1="16602" y1="66992" x2="30859" y2="84375"/>
                        <a14:foregroundMark x1="30859" y1="84375" x2="72070" y2="85156"/>
                        <a14:foregroundMark x1="72070" y1="85156" x2="81836" y2="79102"/>
                        <a14:foregroundMark x1="81836" y1="79102" x2="85742" y2="47266"/>
                        <a14:foregroundMark x1="85742" y1="47266" x2="12891" y2="43555"/>
                        <a14:foregroundMark x1="14844" y1="62891" x2="14844" y2="73633"/>
                        <a14:foregroundMark x1="14844" y1="73633" x2="28320" y2="88867"/>
                        <a14:foregroundMark x1="28320" y1="88867" x2="68945" y2="83008"/>
                        <a14:foregroundMark x1="68945" y1="83008" x2="58203" y2="67383"/>
                        <a14:foregroundMark x1="58203" y1="67383" x2="24219" y2="58203"/>
                        <a14:foregroundMark x1="24219" y1="58203" x2="16602" y2="61133"/>
                        <a14:foregroundMark x1="45703" y1="52930" x2="45117" y2="71875"/>
                        <a14:foregroundMark x1="45117" y1="71875" x2="69531" y2="72070"/>
                        <a14:foregroundMark x1="69531" y1="72070" x2="53906" y2="56055"/>
                        <a14:foregroundMark x1="53906" y1="56055" x2="44141" y2="59375"/>
                        <a14:foregroundMark x1="24219" y1="70508" x2="29102" y2="81445"/>
                        <a14:foregroundMark x1="29102" y1="81445" x2="60156" y2="77734"/>
                        <a14:foregroundMark x1="60156" y1="77734" x2="32813" y2="69336"/>
                        <a14:foregroundMark x1="32813" y1="69336" x2="29492" y2="72070"/>
                        <a14:foregroundMark x1="8203" y1="32422" x2="75000" y2="32813"/>
                        <a14:foregroundMark x1="75000" y1="32813" x2="89258" y2="32422"/>
                        <a14:backgroundMark x1="8789" y1="16992" x2="8789" y2="16992"/>
                        <a14:backgroundMark x1="8984" y1="16797" x2="11328" y2="16016"/>
                        <a14:backgroundMark x1="10547" y1="16016" x2="8008" y2="19531"/>
                        <a14:backgroundMark x1="88477" y1="15625" x2="92188" y2="19336"/>
                        <a14:backgroundMark x1="89063" y1="7617" x2="92969" y2="8789"/>
                        <a14:backgroundMark x1="93359" y1="8789" x2="89063" y2="7617"/>
                        <a14:backgroundMark x1="91602" y1="88867" x2="87891" y2="91992"/>
                        <a14:backgroundMark x1="11328" y1="92188" x2="7813" y2="880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4095" y="2559087"/>
            <a:ext cx="631556" cy="631556"/>
          </a:xfrm>
          <a:prstGeom prst="rect">
            <a:avLst/>
          </a:prstGeom>
        </p:spPr>
      </p:pic>
      <p:sp>
        <p:nvSpPr>
          <p:cNvPr id="217" name="타원 216">
            <a:extLst>
              <a:ext uri="{FF2B5EF4-FFF2-40B4-BE49-F238E27FC236}">
                <a16:creationId xmlns:a16="http://schemas.microsoft.com/office/drawing/2014/main" id="{41708078-78DD-28C5-7034-C4D12F0F53C1}"/>
              </a:ext>
            </a:extLst>
          </p:cNvPr>
          <p:cNvSpPr/>
          <p:nvPr/>
        </p:nvSpPr>
        <p:spPr>
          <a:xfrm>
            <a:off x="807634" y="3663304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507075FA-48CF-7C2C-B3C5-B37C6A9D1F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6014" y="3818173"/>
            <a:ext cx="432817" cy="432817"/>
          </a:xfrm>
          <a:prstGeom prst="rect">
            <a:avLst/>
          </a:prstGeom>
        </p:spPr>
      </p:pic>
      <p:sp>
        <p:nvSpPr>
          <p:cNvPr id="229" name="타원 228">
            <a:extLst>
              <a:ext uri="{FF2B5EF4-FFF2-40B4-BE49-F238E27FC236}">
                <a16:creationId xmlns:a16="http://schemas.microsoft.com/office/drawing/2014/main" id="{D1AA39A1-AB24-6F8A-AF9B-9F6D3E789566}"/>
              </a:ext>
            </a:extLst>
          </p:cNvPr>
          <p:cNvSpPr/>
          <p:nvPr/>
        </p:nvSpPr>
        <p:spPr>
          <a:xfrm>
            <a:off x="807634" y="5740014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1" name="그림 230">
            <a:extLst>
              <a:ext uri="{FF2B5EF4-FFF2-40B4-BE49-F238E27FC236}">
                <a16:creationId xmlns:a16="http://schemas.microsoft.com/office/drawing/2014/main" id="{479E421C-1375-09C1-65C3-BE4BAEDFB68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5886" y="5825605"/>
            <a:ext cx="533298" cy="533298"/>
          </a:xfrm>
          <a:prstGeom prst="rect">
            <a:avLst/>
          </a:prstGeom>
        </p:spPr>
      </p:pic>
      <p:sp>
        <p:nvSpPr>
          <p:cNvPr id="233" name="타원 232">
            <a:extLst>
              <a:ext uri="{FF2B5EF4-FFF2-40B4-BE49-F238E27FC236}">
                <a16:creationId xmlns:a16="http://schemas.microsoft.com/office/drawing/2014/main" id="{69332DCB-4993-E43F-29C0-84002337F9CC}"/>
              </a:ext>
            </a:extLst>
          </p:cNvPr>
          <p:cNvSpPr/>
          <p:nvPr/>
        </p:nvSpPr>
        <p:spPr>
          <a:xfrm>
            <a:off x="822135" y="4732291"/>
            <a:ext cx="749578" cy="749578"/>
          </a:xfrm>
          <a:prstGeom prst="ellipse">
            <a:avLst/>
          </a:prstGeom>
          <a:solidFill>
            <a:srgbClr val="F7E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9" name="그림 238">
            <a:extLst>
              <a:ext uri="{FF2B5EF4-FFF2-40B4-BE49-F238E27FC236}">
                <a16:creationId xmlns:a16="http://schemas.microsoft.com/office/drawing/2014/main" id="{6185C1AE-7982-0A0F-58F9-D40FE1B7B8B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6811" y="4857199"/>
            <a:ext cx="491985" cy="491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A2BA1669-0188-9DD8-5C44-FDF354E7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">
            <a:extLst>
              <a:ext uri="{FF2B5EF4-FFF2-40B4-BE49-F238E27FC236}">
                <a16:creationId xmlns:a16="http://schemas.microsoft.com/office/drawing/2014/main" id="{EE17CB44-1015-7CBE-6870-3595882288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" y="-23531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61;p4">
            <a:extLst>
              <a:ext uri="{FF2B5EF4-FFF2-40B4-BE49-F238E27FC236}">
                <a16:creationId xmlns:a16="http://schemas.microsoft.com/office/drawing/2014/main" id="{BF47E19F-35E8-5D2A-6389-135DBBC4AF23}"/>
              </a:ext>
            </a:extLst>
          </p:cNvPr>
          <p:cNvSpPr/>
          <p:nvPr/>
        </p:nvSpPr>
        <p:spPr>
          <a:xfrm>
            <a:off x="9444453" y="2165485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62;p4">
            <a:extLst>
              <a:ext uri="{FF2B5EF4-FFF2-40B4-BE49-F238E27FC236}">
                <a16:creationId xmlns:a16="http://schemas.microsoft.com/office/drawing/2014/main" id="{F869B09F-AB65-111A-136C-56729470F181}"/>
              </a:ext>
            </a:extLst>
          </p:cNvPr>
          <p:cNvSpPr/>
          <p:nvPr/>
        </p:nvSpPr>
        <p:spPr>
          <a:xfrm>
            <a:off x="9444453" y="3348673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50;p4">
            <a:extLst>
              <a:ext uri="{FF2B5EF4-FFF2-40B4-BE49-F238E27FC236}">
                <a16:creationId xmlns:a16="http://schemas.microsoft.com/office/drawing/2014/main" id="{57093284-647E-453C-236A-EEB874781C12}"/>
              </a:ext>
            </a:extLst>
          </p:cNvPr>
          <p:cNvSpPr/>
          <p:nvPr/>
        </p:nvSpPr>
        <p:spPr>
          <a:xfrm>
            <a:off x="7216453" y="2122231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1;p4">
            <a:extLst>
              <a:ext uri="{FF2B5EF4-FFF2-40B4-BE49-F238E27FC236}">
                <a16:creationId xmlns:a16="http://schemas.microsoft.com/office/drawing/2014/main" id="{580A54E6-4B2C-C12C-8D5B-89B4CBEC898E}"/>
              </a:ext>
            </a:extLst>
          </p:cNvPr>
          <p:cNvSpPr/>
          <p:nvPr/>
        </p:nvSpPr>
        <p:spPr>
          <a:xfrm>
            <a:off x="7216454" y="3339730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61;p4">
            <a:extLst>
              <a:ext uri="{FF2B5EF4-FFF2-40B4-BE49-F238E27FC236}">
                <a16:creationId xmlns:a16="http://schemas.microsoft.com/office/drawing/2014/main" id="{060745DA-E2E0-FD0A-50DB-A497AD0379AC}"/>
              </a:ext>
            </a:extLst>
          </p:cNvPr>
          <p:cNvSpPr/>
          <p:nvPr/>
        </p:nvSpPr>
        <p:spPr>
          <a:xfrm>
            <a:off x="4972531" y="2179420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62;p4">
            <a:extLst>
              <a:ext uri="{FF2B5EF4-FFF2-40B4-BE49-F238E27FC236}">
                <a16:creationId xmlns:a16="http://schemas.microsoft.com/office/drawing/2014/main" id="{DD3355AD-E978-072F-9A93-4C03D6BE1EA3}"/>
              </a:ext>
            </a:extLst>
          </p:cNvPr>
          <p:cNvSpPr/>
          <p:nvPr/>
        </p:nvSpPr>
        <p:spPr>
          <a:xfrm>
            <a:off x="4972531" y="3362608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0;p4">
            <a:extLst>
              <a:ext uri="{FF2B5EF4-FFF2-40B4-BE49-F238E27FC236}">
                <a16:creationId xmlns:a16="http://schemas.microsoft.com/office/drawing/2014/main" id="{99F5754C-9F3C-41A2-F542-E28FDC49D3DA}"/>
              </a:ext>
            </a:extLst>
          </p:cNvPr>
          <p:cNvSpPr/>
          <p:nvPr/>
        </p:nvSpPr>
        <p:spPr>
          <a:xfrm>
            <a:off x="2734699" y="2155830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1;p4">
            <a:extLst>
              <a:ext uri="{FF2B5EF4-FFF2-40B4-BE49-F238E27FC236}">
                <a16:creationId xmlns:a16="http://schemas.microsoft.com/office/drawing/2014/main" id="{5F4FDDDD-3CF0-71DF-F450-12070ECBC2D6}"/>
              </a:ext>
            </a:extLst>
          </p:cNvPr>
          <p:cNvSpPr/>
          <p:nvPr/>
        </p:nvSpPr>
        <p:spPr>
          <a:xfrm>
            <a:off x="2734700" y="3373329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61;p4">
            <a:extLst>
              <a:ext uri="{FF2B5EF4-FFF2-40B4-BE49-F238E27FC236}">
                <a16:creationId xmlns:a16="http://schemas.microsoft.com/office/drawing/2014/main" id="{58E0AB42-80CA-5F4D-28A9-2A09D0A5C102}"/>
              </a:ext>
            </a:extLst>
          </p:cNvPr>
          <p:cNvSpPr/>
          <p:nvPr/>
        </p:nvSpPr>
        <p:spPr>
          <a:xfrm>
            <a:off x="425618" y="2175617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62;p4">
            <a:extLst>
              <a:ext uri="{FF2B5EF4-FFF2-40B4-BE49-F238E27FC236}">
                <a16:creationId xmlns:a16="http://schemas.microsoft.com/office/drawing/2014/main" id="{6E26E918-8357-503F-8F4F-77CEA2A6D204}"/>
              </a:ext>
            </a:extLst>
          </p:cNvPr>
          <p:cNvSpPr/>
          <p:nvPr/>
        </p:nvSpPr>
        <p:spPr>
          <a:xfrm>
            <a:off x="425618" y="3358805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B2C4B371-60A5-6541-4A3A-5008CEB4A667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4">
            <a:extLst>
              <a:ext uri="{FF2B5EF4-FFF2-40B4-BE49-F238E27FC236}">
                <a16:creationId xmlns:a16="http://schemas.microsoft.com/office/drawing/2014/main" id="{38ED3734-1D86-D0F7-8990-3A42DCCD27C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1" name="Google Shape;211;p4">
              <a:extLst>
                <a:ext uri="{FF2B5EF4-FFF2-40B4-BE49-F238E27FC236}">
                  <a16:creationId xmlns:a16="http://schemas.microsoft.com/office/drawing/2014/main" id="{FA2B7A4C-13E4-3CB9-98A9-9B9030D913A3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4">
              <a:extLst>
                <a:ext uri="{FF2B5EF4-FFF2-40B4-BE49-F238E27FC236}">
                  <a16:creationId xmlns:a16="http://schemas.microsoft.com/office/drawing/2014/main" id="{51785A05-6126-16C7-8CCD-A4D8D27A99EB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>
              <a:extLst>
                <a:ext uri="{FF2B5EF4-FFF2-40B4-BE49-F238E27FC236}">
                  <a16:creationId xmlns:a16="http://schemas.microsoft.com/office/drawing/2014/main" id="{E7C28BBA-6DB4-0CB9-67C1-5050018E314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4">
            <a:extLst>
              <a:ext uri="{FF2B5EF4-FFF2-40B4-BE49-F238E27FC236}">
                <a16:creationId xmlns:a16="http://schemas.microsoft.com/office/drawing/2014/main" id="{BF4933B8-0B36-C0BB-E55D-78FB73E0FB59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>
            <a:extLst>
              <a:ext uri="{FF2B5EF4-FFF2-40B4-BE49-F238E27FC236}">
                <a16:creationId xmlns:a16="http://schemas.microsoft.com/office/drawing/2014/main" id="{FE96577C-39CC-DCC4-FEB0-099944825204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>
            <a:extLst>
              <a:ext uri="{FF2B5EF4-FFF2-40B4-BE49-F238E27FC236}">
                <a16:creationId xmlns:a16="http://schemas.microsoft.com/office/drawing/2014/main" id="{07CCCB06-7100-0688-D6B5-7D2E1DB044F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>
            <a:extLst>
              <a:ext uri="{FF2B5EF4-FFF2-40B4-BE49-F238E27FC236}">
                <a16:creationId xmlns:a16="http://schemas.microsoft.com/office/drawing/2014/main" id="{27055FE8-CDB3-07AB-1716-CD0BB2B798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>
            <a:extLst>
              <a:ext uri="{FF2B5EF4-FFF2-40B4-BE49-F238E27FC236}">
                <a16:creationId xmlns:a16="http://schemas.microsoft.com/office/drawing/2014/main" id="{8535E0D8-FD69-B6F5-E013-26C00A0E1B9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>
            <a:extLst>
              <a:ext uri="{FF2B5EF4-FFF2-40B4-BE49-F238E27FC236}">
                <a16:creationId xmlns:a16="http://schemas.microsoft.com/office/drawing/2014/main" id="{3875C003-1EFD-3759-9C3D-707DB1D64F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>
            <a:extLst>
              <a:ext uri="{FF2B5EF4-FFF2-40B4-BE49-F238E27FC236}">
                <a16:creationId xmlns:a16="http://schemas.microsoft.com/office/drawing/2014/main" id="{C4ADB5B7-149C-1A4A-0F3B-1AA1CF7D9C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>
            <a:extLst>
              <a:ext uri="{FF2B5EF4-FFF2-40B4-BE49-F238E27FC236}">
                <a16:creationId xmlns:a16="http://schemas.microsoft.com/office/drawing/2014/main" id="{6F623861-49D7-6B62-35D8-32400348394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4">
            <a:extLst>
              <a:ext uri="{FF2B5EF4-FFF2-40B4-BE49-F238E27FC236}">
                <a16:creationId xmlns:a16="http://schemas.microsoft.com/office/drawing/2014/main" id="{C60AD4DE-276C-47D6-6E58-5AA7AB1181C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83" name="Google Shape;283;p4" descr="EMB0000378c3f3d">
              <a:extLst>
                <a:ext uri="{FF2B5EF4-FFF2-40B4-BE49-F238E27FC236}">
                  <a16:creationId xmlns:a16="http://schemas.microsoft.com/office/drawing/2014/main" id="{DA6128BB-7FBE-B904-04BA-F9D67251125E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4">
              <a:extLst>
                <a:ext uri="{FF2B5EF4-FFF2-40B4-BE49-F238E27FC236}">
                  <a16:creationId xmlns:a16="http://schemas.microsoft.com/office/drawing/2014/main" id="{966C76EC-E577-A4E3-F135-83E2DEAE8514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oworld_reference.png">
            <a:extLst>
              <a:ext uri="{FF2B5EF4-FFF2-40B4-BE49-F238E27FC236}">
                <a16:creationId xmlns:a16="http://schemas.microsoft.com/office/drawing/2014/main" id="{3D409F07-2270-F908-6DCA-194D2AF64C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179" b="58383" l="8581" r="17225">
                        <a14:foregroundMark x1="10938" y1="51391" x2="10938" y2="51391"/>
                        <a14:foregroundMark x1="10889" y1="50174" x2="10889" y2="50174"/>
                        <a14:foregroundMark x1="12939" y1="50609" x2="12939" y2="50609"/>
                        <a14:foregroundMark x1="13232" y1="51565" x2="13232" y2="51565"/>
                        <a14:foregroundMark x1="15088" y1="50870" x2="15088" y2="50870"/>
                        <a14:backgroundMark x1="11035" y1="51217" x2="11035" y2="51217"/>
                        <a14:backgroundMark x1="11035" y1="51304" x2="11035" y2="51304"/>
                        <a14:backgroundMark x1="10986" y1="50087" x2="10986" y2="50087"/>
                        <a14:backgroundMark x1="10986" y1="50348" x2="10986" y2="50348"/>
                        <a14:backgroundMark x1="12891" y1="50522" x2="12891" y2="50522"/>
                        <a14:backgroundMark x1="13135" y1="51739" x2="13135" y2="51739"/>
                        <a14:backgroundMark x1="15088" y1="51043" x2="15088" y2="51043"/>
                      </a14:backgroundRemoval>
                    </a14:imgEffect>
                  </a14:imgLayer>
                </a14:imgProps>
              </a:ext>
            </a:extLst>
          </a:blip>
          <a:srcRect l="7500" t="48029" r="81694" b="40466"/>
          <a:stretch/>
        </p:blipFill>
        <p:spPr>
          <a:xfrm>
            <a:off x="833181" y="2549818"/>
            <a:ext cx="1317523" cy="788990"/>
          </a:xfrm>
          <a:prstGeom prst="rect">
            <a:avLst/>
          </a:prstGeom>
        </p:spPr>
      </p:pic>
      <p:grpSp>
        <p:nvGrpSpPr>
          <p:cNvPr id="12" name="Google Shape;242;p4">
            <a:extLst>
              <a:ext uri="{FF2B5EF4-FFF2-40B4-BE49-F238E27FC236}">
                <a16:creationId xmlns:a16="http://schemas.microsoft.com/office/drawing/2014/main" id="{9F84D2BF-8152-E986-5745-6B617ADB3FA3}"/>
              </a:ext>
            </a:extLst>
          </p:cNvPr>
          <p:cNvGrpSpPr/>
          <p:nvPr/>
        </p:nvGrpSpPr>
        <p:grpSpPr>
          <a:xfrm>
            <a:off x="1260286" y="2035986"/>
            <a:ext cx="408282" cy="388046"/>
            <a:chOff x="450324" y="2128945"/>
            <a:chExt cx="889526" cy="845440"/>
          </a:xfrm>
        </p:grpSpPr>
        <p:sp>
          <p:nvSpPr>
            <p:cNvPr id="13" name="Google Shape;243;p4">
              <a:extLst>
                <a:ext uri="{FF2B5EF4-FFF2-40B4-BE49-F238E27FC236}">
                  <a16:creationId xmlns:a16="http://schemas.microsoft.com/office/drawing/2014/main" id="{9EF77C01-E8CB-B462-4060-F03FB00ED4F8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4;p4">
              <a:extLst>
                <a:ext uri="{FF2B5EF4-FFF2-40B4-BE49-F238E27FC236}">
                  <a16:creationId xmlns:a16="http://schemas.microsoft.com/office/drawing/2014/main" id="{547A24F7-EB2F-0384-A394-1CF81E708B39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245;p4">
              <a:extLst>
                <a:ext uri="{FF2B5EF4-FFF2-40B4-BE49-F238E27FC236}">
                  <a16:creationId xmlns:a16="http://schemas.microsoft.com/office/drawing/2014/main" id="{4D84D741-A0C5-4522-7BEE-B82E4878004B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Picture 1" descr="oworld_reference.png">
            <a:extLst>
              <a:ext uri="{FF2B5EF4-FFF2-40B4-BE49-F238E27FC236}">
                <a16:creationId xmlns:a16="http://schemas.microsoft.com/office/drawing/2014/main" id="{A9B79C24-0BEC-34FB-A14D-2E28371E29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7099" b="59159" l="46215" r="53535">
                        <a14:foregroundMark x1="49756" y1="52609" x2="49756" y2="52609"/>
                        <a14:foregroundMark x1="49756" y1="54870" x2="49756" y2="54870"/>
                        <a14:foregroundMark x1="49756" y1="57130" x2="49756" y2="57130"/>
                        <a14:foregroundMark x1="51709" y1="56870" x2="51709" y2="56870"/>
                        <a14:backgroundMark x1="48242" y1="52435" x2="48242" y2="52435"/>
                        <a14:backgroundMark x1="48828" y1="54783" x2="48828" y2="54783"/>
                        <a14:backgroundMark x1="48633" y1="56870" x2="48633" y2="56870"/>
                        <a14:backgroundMark x1="48926" y1="52261" x2="48926" y2="52261"/>
                        <a14:backgroundMark x1="51660" y1="55565" x2="51660" y2="55565"/>
                        <a14:backgroundMark x1="52637" y1="57739" x2="52637" y2="57739"/>
                        <a14:backgroundMark x1="49658" y1="52696" x2="49658" y2="52696"/>
                        <a14:backgroundMark x1="49658" y1="54870" x2="49658" y2="54870"/>
                        <a14:backgroundMark x1="49658" y1="57043" x2="49658" y2="57043"/>
                      </a14:backgroundRemoval>
                    </a14:imgEffect>
                  </a14:imgLayer>
                </a14:imgProps>
              </a:ext>
            </a:extLst>
          </a:blip>
          <a:srcRect l="45300" t="45591" r="45550" b="39333"/>
          <a:stretch/>
        </p:blipFill>
        <p:spPr>
          <a:xfrm>
            <a:off x="5439030" y="2363938"/>
            <a:ext cx="1115567" cy="1033862"/>
          </a:xfrm>
          <a:prstGeom prst="rect">
            <a:avLst/>
          </a:prstGeom>
        </p:spPr>
      </p:pic>
      <p:pic>
        <p:nvPicPr>
          <p:cNvPr id="20" name="Picture 1" descr="oworld_reference.png">
            <a:extLst>
              <a:ext uri="{FF2B5EF4-FFF2-40B4-BE49-F238E27FC236}">
                <a16:creationId xmlns:a16="http://schemas.microsoft.com/office/drawing/2014/main" id="{C04EB2BB-C4E1-ADA5-AA58-C371037319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64525" r="73169">
                        <a14:backgroundMark x1="68799" y1="49826" x2="68799" y2="49826"/>
                        <a14:backgroundMark x1="68652" y1="56957" x2="68652" y2="56957"/>
                        <a14:backgroundMark x1="71582" y1="57043" x2="71582" y2="57043"/>
                        <a14:backgroundMark x1="65771" y1="56870" x2="65771" y2="56870"/>
                      </a14:backgroundRemoval>
                    </a14:imgEffect>
                  </a14:imgLayer>
                </a14:imgProps>
              </a:ext>
            </a:extLst>
          </a:blip>
          <a:srcRect l="63444" t="46882" r="25750" b="40466"/>
          <a:stretch/>
        </p:blipFill>
        <p:spPr>
          <a:xfrm>
            <a:off x="7684779" y="2431832"/>
            <a:ext cx="1317522" cy="867648"/>
          </a:xfrm>
          <a:prstGeom prst="rect">
            <a:avLst/>
          </a:prstGeom>
        </p:spPr>
      </p:pic>
      <p:pic>
        <p:nvPicPr>
          <p:cNvPr id="21" name="Picture 1" descr="oworld_reference.png">
            <a:extLst>
              <a:ext uri="{FF2B5EF4-FFF2-40B4-BE49-F238E27FC236}">
                <a16:creationId xmlns:a16="http://schemas.microsoft.com/office/drawing/2014/main" id="{F021181F-A49C-F523-B322-56AA79FA96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83490" r="90810">
                        <a14:foregroundMark x1="87646" y1="53652" x2="87646" y2="53652"/>
                        <a14:foregroundMark x1="89404" y1="56957" x2="89404" y2="56957"/>
                        <a14:foregroundMark x1="90576" y1="57565" x2="90576" y2="57565"/>
                      </a14:backgroundRemoval>
                    </a14:imgEffect>
                  </a14:imgLayer>
                </a14:imgProps>
              </a:ext>
            </a:extLst>
          </a:blip>
          <a:srcRect l="82575" t="46882" r="8275" b="40466"/>
          <a:stretch/>
        </p:blipFill>
        <p:spPr>
          <a:xfrm>
            <a:off x="9935836" y="2422000"/>
            <a:ext cx="1115568" cy="867648"/>
          </a:xfrm>
          <a:prstGeom prst="rect">
            <a:avLst/>
          </a:prstGeom>
        </p:spPr>
      </p:pic>
      <p:grpSp>
        <p:nvGrpSpPr>
          <p:cNvPr id="24" name="Google Shape;252;p4">
            <a:extLst>
              <a:ext uri="{FF2B5EF4-FFF2-40B4-BE49-F238E27FC236}">
                <a16:creationId xmlns:a16="http://schemas.microsoft.com/office/drawing/2014/main" id="{5FFC2B7E-7B16-B609-482C-EC65EAEE9EFA}"/>
              </a:ext>
            </a:extLst>
          </p:cNvPr>
          <p:cNvGrpSpPr/>
          <p:nvPr/>
        </p:nvGrpSpPr>
        <p:grpSpPr>
          <a:xfrm>
            <a:off x="3541823" y="2000986"/>
            <a:ext cx="418718" cy="380422"/>
            <a:chOff x="427587" y="2066948"/>
            <a:chExt cx="912263" cy="828829"/>
          </a:xfrm>
        </p:grpSpPr>
        <p:sp>
          <p:nvSpPr>
            <p:cNvPr id="25" name="Google Shape;253;p4">
              <a:extLst>
                <a:ext uri="{FF2B5EF4-FFF2-40B4-BE49-F238E27FC236}">
                  <a16:creationId xmlns:a16="http://schemas.microsoft.com/office/drawing/2014/main" id="{AE74163D-6679-2ECE-91B8-A920DB5E91F1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4;p4">
              <a:extLst>
                <a:ext uri="{FF2B5EF4-FFF2-40B4-BE49-F238E27FC236}">
                  <a16:creationId xmlns:a16="http://schemas.microsoft.com/office/drawing/2014/main" id="{D84E78D8-5C59-3B1D-BF69-FF45C45F4CD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55;p4">
              <a:extLst>
                <a:ext uri="{FF2B5EF4-FFF2-40B4-BE49-F238E27FC236}">
                  <a16:creationId xmlns:a16="http://schemas.microsoft.com/office/drawing/2014/main" id="{6B0D3430-914C-D1E9-7607-C9415F95E178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63;p4">
            <a:extLst>
              <a:ext uri="{FF2B5EF4-FFF2-40B4-BE49-F238E27FC236}">
                <a16:creationId xmlns:a16="http://schemas.microsoft.com/office/drawing/2014/main" id="{383AD1C7-2F9C-B06B-5B09-FF70B8465487}"/>
              </a:ext>
            </a:extLst>
          </p:cNvPr>
          <p:cNvGrpSpPr/>
          <p:nvPr/>
        </p:nvGrpSpPr>
        <p:grpSpPr>
          <a:xfrm>
            <a:off x="5721116" y="2029442"/>
            <a:ext cx="418718" cy="380422"/>
            <a:chOff x="427587" y="2066948"/>
            <a:chExt cx="912263" cy="828829"/>
          </a:xfrm>
        </p:grpSpPr>
        <p:sp>
          <p:nvSpPr>
            <p:cNvPr id="29" name="Google Shape;264;p4">
              <a:extLst>
                <a:ext uri="{FF2B5EF4-FFF2-40B4-BE49-F238E27FC236}">
                  <a16:creationId xmlns:a16="http://schemas.microsoft.com/office/drawing/2014/main" id="{6FB19EBA-74D4-2557-2EC1-2F0656E30A69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265;p4">
              <a:extLst>
                <a:ext uri="{FF2B5EF4-FFF2-40B4-BE49-F238E27FC236}">
                  <a16:creationId xmlns:a16="http://schemas.microsoft.com/office/drawing/2014/main" id="{418D52E5-E6E3-8493-75E9-30CF46AB9FAD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266;p4">
              <a:extLst>
                <a:ext uri="{FF2B5EF4-FFF2-40B4-BE49-F238E27FC236}">
                  <a16:creationId xmlns:a16="http://schemas.microsoft.com/office/drawing/2014/main" id="{66268491-2318-FD67-9172-19883BD1A402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32;p4">
            <a:extLst>
              <a:ext uri="{FF2B5EF4-FFF2-40B4-BE49-F238E27FC236}">
                <a16:creationId xmlns:a16="http://schemas.microsoft.com/office/drawing/2014/main" id="{5A0DCE03-FF7B-9E04-63E4-1B15FC072B66}"/>
              </a:ext>
            </a:extLst>
          </p:cNvPr>
          <p:cNvGrpSpPr/>
          <p:nvPr/>
        </p:nvGrpSpPr>
        <p:grpSpPr>
          <a:xfrm>
            <a:off x="8069476" y="1980676"/>
            <a:ext cx="418718" cy="380422"/>
            <a:chOff x="427587" y="2066948"/>
            <a:chExt cx="912263" cy="828829"/>
          </a:xfrm>
        </p:grpSpPr>
        <p:sp>
          <p:nvSpPr>
            <p:cNvPr id="33" name="Google Shape;233;p4">
              <a:extLst>
                <a:ext uri="{FF2B5EF4-FFF2-40B4-BE49-F238E27FC236}">
                  <a16:creationId xmlns:a16="http://schemas.microsoft.com/office/drawing/2014/main" id="{55145BAF-3F42-7885-B97D-343A2C22EC4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234;p4">
              <a:extLst>
                <a:ext uri="{FF2B5EF4-FFF2-40B4-BE49-F238E27FC236}">
                  <a16:creationId xmlns:a16="http://schemas.microsoft.com/office/drawing/2014/main" id="{70AB034A-D78D-FD5A-0E02-C92FC3FEED05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235;p4">
              <a:extLst>
                <a:ext uri="{FF2B5EF4-FFF2-40B4-BE49-F238E27FC236}">
                  <a16:creationId xmlns:a16="http://schemas.microsoft.com/office/drawing/2014/main" id="{717D588E-4B4F-790B-71D6-EFD34E503FA5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75;p4">
            <a:extLst>
              <a:ext uri="{FF2B5EF4-FFF2-40B4-BE49-F238E27FC236}">
                <a16:creationId xmlns:a16="http://schemas.microsoft.com/office/drawing/2014/main" id="{83079A9C-3FEA-489E-1E1E-E4DCEB23EBD9}"/>
              </a:ext>
            </a:extLst>
          </p:cNvPr>
          <p:cNvGrpSpPr/>
          <p:nvPr/>
        </p:nvGrpSpPr>
        <p:grpSpPr>
          <a:xfrm>
            <a:off x="10253975" y="1981990"/>
            <a:ext cx="418718" cy="380422"/>
            <a:chOff x="427587" y="2066948"/>
            <a:chExt cx="912263" cy="828829"/>
          </a:xfrm>
        </p:grpSpPr>
        <p:sp>
          <p:nvSpPr>
            <p:cNvPr id="37" name="Google Shape;276;p4">
              <a:extLst>
                <a:ext uri="{FF2B5EF4-FFF2-40B4-BE49-F238E27FC236}">
                  <a16:creationId xmlns:a16="http://schemas.microsoft.com/office/drawing/2014/main" id="{AFA4E975-A862-8194-FD30-CB37454FCAF1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277;p4">
              <a:extLst>
                <a:ext uri="{FF2B5EF4-FFF2-40B4-BE49-F238E27FC236}">
                  <a16:creationId xmlns:a16="http://schemas.microsoft.com/office/drawing/2014/main" id="{FA3C89DB-A9D4-BC55-4687-CBC70259570E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278;p4">
              <a:extLst>
                <a:ext uri="{FF2B5EF4-FFF2-40B4-BE49-F238E27FC236}">
                  <a16:creationId xmlns:a16="http://schemas.microsoft.com/office/drawing/2014/main" id="{8352E4EC-F51F-B7FB-B201-40636F118482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AB9D7B9-5147-B714-C18D-D1D1E12B09A6}"/>
              </a:ext>
            </a:extLst>
          </p:cNvPr>
          <p:cNvCxnSpPr>
            <a:cxnSpLocks/>
            <a:stCxn id="46" idx="0"/>
            <a:endCxn id="43" idx="2"/>
          </p:cNvCxnSpPr>
          <p:nvPr/>
        </p:nvCxnSpPr>
        <p:spPr>
          <a:xfrm flipV="1">
            <a:off x="2490911" y="278970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4264AA6D-F31B-8D7A-4382-0705BDD2DD5A}"/>
              </a:ext>
            </a:extLst>
          </p:cNvPr>
          <p:cNvSpPr/>
          <p:nvPr/>
        </p:nvSpPr>
        <p:spPr>
          <a:xfrm>
            <a:off x="2610098" y="275674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F4F61F2-8C5D-CBB5-3069-6E3E2C7FF7CE}"/>
              </a:ext>
            </a:extLst>
          </p:cNvPr>
          <p:cNvCxnSpPr/>
          <p:nvPr/>
        </p:nvCxnSpPr>
        <p:spPr>
          <a:xfrm flipV="1">
            <a:off x="4766055" y="276684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4AB009AA-EA2C-5D7B-75B8-2584F15BEF5D}"/>
              </a:ext>
            </a:extLst>
          </p:cNvPr>
          <p:cNvSpPr/>
          <p:nvPr/>
        </p:nvSpPr>
        <p:spPr>
          <a:xfrm>
            <a:off x="4890322" y="273388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15D9C30-3B7E-A74D-30EE-E4B65D77331F}"/>
              </a:ext>
            </a:extLst>
          </p:cNvPr>
          <p:cNvCxnSpPr/>
          <p:nvPr/>
        </p:nvCxnSpPr>
        <p:spPr>
          <a:xfrm flipV="1">
            <a:off x="6998475" y="2762882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03F7AF9F-14B6-8870-D1E8-C4BC2559FE2E}"/>
              </a:ext>
            </a:extLst>
          </p:cNvPr>
          <p:cNvSpPr/>
          <p:nvPr/>
        </p:nvSpPr>
        <p:spPr>
          <a:xfrm>
            <a:off x="7122742" y="2729931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17CB0D7-6B76-BC59-ED68-85A19BAEE653}"/>
              </a:ext>
            </a:extLst>
          </p:cNvPr>
          <p:cNvCxnSpPr/>
          <p:nvPr/>
        </p:nvCxnSpPr>
        <p:spPr>
          <a:xfrm flipV="1">
            <a:off x="9250493" y="277013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C9D81BFE-FE09-141D-0DBA-34336CE5EB3C}"/>
              </a:ext>
            </a:extLst>
          </p:cNvPr>
          <p:cNvSpPr/>
          <p:nvPr/>
        </p:nvSpPr>
        <p:spPr>
          <a:xfrm>
            <a:off x="9374760" y="273717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6BCDE11-3768-17A5-E8FA-6620F31B85C4}"/>
              </a:ext>
            </a:extLst>
          </p:cNvPr>
          <p:cNvSpPr/>
          <p:nvPr/>
        </p:nvSpPr>
        <p:spPr>
          <a:xfrm>
            <a:off x="668337" y="358638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DC5DB68-4DFC-55D1-6965-7C3D55CBD121}"/>
              </a:ext>
            </a:extLst>
          </p:cNvPr>
          <p:cNvCxnSpPr/>
          <p:nvPr/>
        </p:nvCxnSpPr>
        <p:spPr>
          <a:xfrm>
            <a:off x="1696508" y="363040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3746291-73E3-8994-477E-289EA72D7ABB}"/>
              </a:ext>
            </a:extLst>
          </p:cNvPr>
          <p:cNvSpPr txBox="1"/>
          <p:nvPr/>
        </p:nvSpPr>
        <p:spPr>
          <a:xfrm>
            <a:off x="1785303" y="3608227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구현 내용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940B5C-FC47-529C-F1AF-1CE1299BCCB3}"/>
              </a:ext>
            </a:extLst>
          </p:cNvPr>
          <p:cNvSpPr txBox="1"/>
          <p:nvPr/>
        </p:nvSpPr>
        <p:spPr>
          <a:xfrm>
            <a:off x="1921739" y="3931785"/>
            <a:ext cx="954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대전 </a:t>
            </a:r>
            <a:r>
              <a:rPr lang="ko-KR" altLang="en-US" sz="1400" i="0" u="none" strike="noStrike" cap="none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오월드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 방문객 수를 예측하고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사용자가 선택한 선호도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에 따라 최적의 방문 날짜를 추천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  <a:sym typeface="Malgun Gothic"/>
            </a:endParaRPr>
          </a:p>
          <a:p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해당일의 예상 날씨와 </a:t>
            </a:r>
            <a:r>
              <a:rPr lang="ko-KR" altLang="en-US" sz="140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오월드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 주요 공지사항을 함께 제공하는 </a:t>
            </a:r>
            <a:r>
              <a:rPr lang="en-US" altLang="ko-KR" sz="1400" err="1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Streamlit</a:t>
            </a:r>
            <a:r>
              <a:rPr lang="en-US" altLang="ko-KR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기반 웹 애플리케이션</a:t>
            </a:r>
            <a:endParaRPr lang="en-US" altLang="ko-KR">
              <a:solidFill>
                <a:srgbClr val="3378C8"/>
              </a:solidFill>
              <a:highlight>
                <a:srgbClr val="FFFF00"/>
              </a:highligh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A5F01A4F-D709-CBBD-9CE6-D3867383B5C5}"/>
              </a:ext>
            </a:extLst>
          </p:cNvPr>
          <p:cNvSpPr/>
          <p:nvPr/>
        </p:nvSpPr>
        <p:spPr>
          <a:xfrm>
            <a:off x="688718" y="4643174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40217668-3CF6-AC97-DBE8-C0DBDB89F391}"/>
              </a:ext>
            </a:extLst>
          </p:cNvPr>
          <p:cNvCxnSpPr/>
          <p:nvPr/>
        </p:nvCxnSpPr>
        <p:spPr>
          <a:xfrm>
            <a:off x="1716889" y="4687194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3B1C307A-C964-84E5-11DD-DDE61AB82CAC}"/>
              </a:ext>
            </a:extLst>
          </p:cNvPr>
          <p:cNvSpPr txBox="1"/>
          <p:nvPr/>
        </p:nvSpPr>
        <p:spPr>
          <a:xfrm>
            <a:off x="1785303" y="4664585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C9AB49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핵심 컨셉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CBDBC3F-41EF-55F1-70F5-22DCB0E4F1E8}"/>
              </a:ext>
            </a:extLst>
          </p:cNvPr>
          <p:cNvSpPr txBox="1"/>
          <p:nvPr/>
        </p:nvSpPr>
        <p:spPr>
          <a:xfrm>
            <a:off x="1921739" y="5070032"/>
            <a:ext cx="9548870" cy="3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데이터 </a:t>
            </a:r>
            <a:r>
              <a:rPr lang="ko-KR" altLang="en-US" sz="140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전처리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→ </a:t>
            </a:r>
            <a:r>
              <a:rPr lang="ko-KR" altLang="en-US" sz="140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머신러닝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예측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/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분류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→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OpenAI API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를 통한 실시간 정보 수집 및 가공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→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</a:t>
            </a:r>
            <a:r>
              <a:rPr lang="en-US" altLang="ko-KR" sz="140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Streamlit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UI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출력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D329BEB-EE2A-B3FE-8B90-1C9779D2ED97}"/>
              </a:ext>
            </a:extLst>
          </p:cNvPr>
          <p:cNvSpPr/>
          <p:nvPr/>
        </p:nvSpPr>
        <p:spPr>
          <a:xfrm>
            <a:off x="688718" y="565089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C3C30DDB-E70E-4A06-91ED-5BF4A7E435BD}"/>
              </a:ext>
            </a:extLst>
          </p:cNvPr>
          <p:cNvCxnSpPr/>
          <p:nvPr/>
        </p:nvCxnSpPr>
        <p:spPr>
          <a:xfrm>
            <a:off x="1716889" y="569491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D88F69AD-982F-CA6C-0B70-70E305154EB6}"/>
              </a:ext>
            </a:extLst>
          </p:cNvPr>
          <p:cNvSpPr txBox="1"/>
          <p:nvPr/>
        </p:nvSpPr>
        <p:spPr>
          <a:xfrm>
            <a:off x="1785303" y="5672308"/>
            <a:ext cx="231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훈련 내용과 연관성</a:t>
            </a:r>
          </a:p>
        </p:txBody>
      </p:sp>
      <p:sp>
        <p:nvSpPr>
          <p:cNvPr id="3" name="Google Shape;241;p4">
            <a:extLst>
              <a:ext uri="{FF2B5EF4-FFF2-40B4-BE49-F238E27FC236}">
                <a16:creationId xmlns:a16="http://schemas.microsoft.com/office/drawing/2014/main" id="{4DF2A3AE-AFB9-B5BE-0F5C-FEECCF823938}"/>
              </a:ext>
            </a:extLst>
          </p:cNvPr>
          <p:cNvSpPr txBox="1"/>
          <p:nvPr/>
        </p:nvSpPr>
        <p:spPr>
          <a:xfrm>
            <a:off x="833181" y="1419846"/>
            <a:ext cx="428324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C9AB49"/>
                </a:solidFill>
                <a:latin typeface="Arial"/>
                <a:ea typeface="Arial"/>
                <a:cs typeface="Arial"/>
                <a:sym typeface="Arial"/>
              </a:rPr>
              <a:t>프로젝트 내용 </a:t>
            </a:r>
            <a:endParaRPr lang="ko-KR" altLang="en-US" sz="1200" b="0" i="0" u="none" strike="noStrike" cap="none">
              <a:solidFill>
                <a:srgbClr val="C9AB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40;p4">
            <a:extLst>
              <a:ext uri="{FF2B5EF4-FFF2-40B4-BE49-F238E27FC236}">
                <a16:creationId xmlns:a16="http://schemas.microsoft.com/office/drawing/2014/main" id="{CBC5D3C7-6245-6A31-E0BE-274EF3ADBB52}"/>
              </a:ext>
            </a:extLst>
          </p:cNvPr>
          <p:cNvSpPr/>
          <p:nvPr/>
        </p:nvSpPr>
        <p:spPr>
          <a:xfrm rot="5400000">
            <a:off x="-290568" y="1539662"/>
            <a:ext cx="743855" cy="15736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" name="Google Shape;252;p4">
            <a:extLst>
              <a:ext uri="{FF2B5EF4-FFF2-40B4-BE49-F238E27FC236}">
                <a16:creationId xmlns:a16="http://schemas.microsoft.com/office/drawing/2014/main" id="{D02936CE-86DB-5FE0-6CED-8C7BBF5364F8}"/>
              </a:ext>
            </a:extLst>
          </p:cNvPr>
          <p:cNvGrpSpPr/>
          <p:nvPr/>
        </p:nvGrpSpPr>
        <p:grpSpPr>
          <a:xfrm>
            <a:off x="444523" y="1387453"/>
            <a:ext cx="418718" cy="380422"/>
            <a:chOff x="427587" y="2066948"/>
            <a:chExt cx="912263" cy="828829"/>
          </a:xfrm>
        </p:grpSpPr>
        <p:sp>
          <p:nvSpPr>
            <p:cNvPr id="23" name="Google Shape;253;p4">
              <a:extLst>
                <a:ext uri="{FF2B5EF4-FFF2-40B4-BE49-F238E27FC236}">
                  <a16:creationId xmlns:a16="http://schemas.microsoft.com/office/drawing/2014/main" id="{9BF9AAC8-9F86-0576-9550-D7B55D791E11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" name="Google Shape;254;p4">
              <a:extLst>
                <a:ext uri="{FF2B5EF4-FFF2-40B4-BE49-F238E27FC236}">
                  <a16:creationId xmlns:a16="http://schemas.microsoft.com/office/drawing/2014/main" id="{680D239C-54FF-C4B0-1774-723E72577342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" name="Google Shape;255;p4">
              <a:extLst>
                <a:ext uri="{FF2B5EF4-FFF2-40B4-BE49-F238E27FC236}">
                  <a16:creationId xmlns:a16="http://schemas.microsoft.com/office/drawing/2014/main" id="{96BA95E0-3C87-41A5-B3FE-31B2B7E102DF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904420AF-DD77-3C08-D3B6-1F49DBFB52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77" b="96680" l="0" r="97266">
                        <a14:foregroundMark x1="7184" y1="20421" x2="4883" y2="29297"/>
                        <a14:foregroundMark x1="7497" y1="19212" x2="7295" y2="19993"/>
                        <a14:foregroundMark x1="8984" y1="13477" x2="8636" y2="14821"/>
                        <a14:foregroundMark x1="5655" y1="18060" x2="5469" y2="91797"/>
                        <a14:foregroundMark x1="5664" y1="14648" x2="5661" y2="15703"/>
                        <a14:foregroundMark x1="12753" y1="95653" x2="15430" y2="97070"/>
                        <a14:foregroundMark x1="5469" y1="91797" x2="12446" y2="95491"/>
                        <a14:foregroundMark x1="15430" y1="97070" x2="43945" y2="98047"/>
                        <a14:foregroundMark x1="43945" y1="98047" x2="88281" y2="95117"/>
                        <a14:foregroundMark x1="90697" y1="88080" x2="99414" y2="62695"/>
                        <a14:foregroundMark x1="88281" y1="95117" x2="89017" y2="92973"/>
                        <a14:foregroundMark x1="90016" y1="14416" x2="89453" y2="11523"/>
                        <a14:foregroundMark x1="99414" y1="62695" x2="91135" y2="20163"/>
                        <a14:foregroundMark x1="10914" y1="13144" x2="4297" y2="13281"/>
                        <a14:foregroundMark x1="89453" y1="11523" x2="12866" y2="13104"/>
                        <a14:foregroundMark x1="21289" y1="3906" x2="21680" y2="18359"/>
                        <a14:foregroundMark x1="6055" y1="18750" x2="0" y2="72852"/>
                        <a14:foregroundMark x1="0" y1="72852" x2="3125" y2="86914"/>
                        <a14:foregroundMark x1="12541" y1="95137" x2="40625" y2="96680"/>
                        <a14:foregroundMark x1="5078" y1="94727" x2="12124" y2="95114"/>
                        <a14:foregroundMark x1="40625" y1="96680" x2="49023" y2="96484"/>
                        <a14:foregroundMark x1="93362" y1="90400" x2="96484" y2="90039"/>
                        <a14:foregroundMark x1="72852" y1="92773" x2="86919" y2="91146"/>
                        <a14:foregroundMark x1="83203" y1="47852" x2="83203" y2="47852"/>
                        <a14:foregroundMark x1="81836" y1="62500" x2="81836" y2="62500"/>
                        <a14:foregroundMark x1="67969" y1="78711" x2="67969" y2="78711"/>
                        <a14:foregroundMark x1="67383" y1="64258" x2="67383" y2="62891"/>
                        <a14:foregroundMark x1="69727" y1="48047" x2="69727" y2="48047"/>
                        <a14:foregroundMark x1="51563" y1="48438" x2="51563" y2="48438"/>
                        <a14:foregroundMark x1="31250" y1="49023" x2="31250" y2="49023"/>
                        <a14:foregroundMark x1="19141" y1="49023" x2="19141" y2="49023"/>
                        <a14:foregroundMark x1="20313" y1="64063" x2="20313" y2="64063"/>
                        <a14:foregroundMark x1="32813" y1="63672" x2="32813" y2="63672"/>
                        <a14:foregroundMark x1="35547" y1="78711" x2="35547" y2="78711"/>
                        <a14:foregroundMark x1="18555" y1="81445" x2="21094" y2="80469"/>
                        <a14:foregroundMark x1="51953" y1="79688" x2="51953" y2="79688"/>
                        <a14:foregroundMark x1="51367" y1="65039" x2="51367" y2="64453"/>
                        <a14:foregroundMark x1="80664" y1="977" x2="80664" y2="977"/>
                        <a14:foregroundMark x1="92188" y1="12500" x2="92188" y2="12500"/>
                        <a14:foregroundMark x1="95703" y1="20313" x2="97266" y2="84570"/>
                        <a14:foregroundMark x1="81445" y1="4297" x2="81445" y2="4297"/>
                        <a14:foregroundMark x1="79102" y1="21289" x2="79102" y2="21289"/>
                        <a14:foregroundMark x1="81250" y1="17773" x2="78906" y2="19141"/>
                        <a14:foregroundMark x1="22852" y1="18750" x2="19727" y2="20313"/>
                        <a14:foregroundMark x1="20313" y1="30664" x2="30078" y2="30469"/>
                        <a14:foregroundMark x1="19727" y1="47461" x2="20508" y2="47461"/>
                        <a14:foregroundMark x1="32813" y1="47852" x2="32813" y2="47852"/>
                        <a14:foregroundMark x1="33398" y1="46680" x2="34961" y2="49609"/>
                        <a14:foregroundMark x1="35352" y1="64648" x2="36328" y2="68164"/>
                        <a14:foregroundMark x1="19141" y1="64258" x2="20117" y2="65039"/>
                        <a14:foregroundMark x1="15234" y1="45703" x2="16602" y2="66992"/>
                        <a14:foregroundMark x1="16602" y1="66992" x2="30859" y2="84375"/>
                        <a14:foregroundMark x1="30859" y1="84375" x2="72070" y2="85156"/>
                        <a14:foregroundMark x1="72070" y1="85156" x2="81836" y2="79102"/>
                        <a14:foregroundMark x1="81836" y1="79102" x2="85742" y2="47266"/>
                        <a14:foregroundMark x1="85742" y1="47266" x2="12891" y2="43555"/>
                        <a14:foregroundMark x1="14844" y1="62891" x2="14844" y2="73633"/>
                        <a14:foregroundMark x1="14844" y1="73633" x2="28320" y2="88867"/>
                        <a14:foregroundMark x1="28320" y1="88867" x2="68945" y2="83008"/>
                        <a14:foregroundMark x1="68945" y1="83008" x2="58203" y2="67383"/>
                        <a14:foregroundMark x1="58203" y1="67383" x2="24219" y2="58203"/>
                        <a14:foregroundMark x1="24219" y1="58203" x2="16602" y2="61133"/>
                        <a14:foregroundMark x1="45703" y1="52930" x2="45117" y2="71875"/>
                        <a14:foregroundMark x1="45117" y1="71875" x2="69531" y2="72070"/>
                        <a14:foregroundMark x1="69531" y1="72070" x2="53906" y2="56055"/>
                        <a14:foregroundMark x1="53906" y1="56055" x2="44141" y2="59375"/>
                        <a14:foregroundMark x1="24219" y1="70508" x2="29102" y2="81445"/>
                        <a14:foregroundMark x1="29102" y1="81445" x2="60156" y2="77734"/>
                        <a14:foregroundMark x1="60156" y1="77734" x2="32813" y2="69336"/>
                        <a14:foregroundMark x1="32813" y1="69336" x2="29492" y2="72070"/>
                        <a14:foregroundMark x1="8203" y1="32422" x2="75000" y2="32813"/>
                        <a14:foregroundMark x1="75000" y1="32813" x2="89258" y2="32422"/>
                        <a14:backgroundMark x1="8789" y1="16992" x2="8789" y2="16992"/>
                        <a14:backgroundMark x1="8984" y1="16797" x2="11328" y2="16016"/>
                        <a14:backgroundMark x1="10547" y1="16016" x2="8008" y2="19531"/>
                        <a14:backgroundMark x1="88477" y1="15625" x2="92188" y2="19336"/>
                        <a14:backgroundMark x1="89063" y1="7617" x2="92969" y2="8789"/>
                        <a14:backgroundMark x1="93359" y1="8789" x2="89063" y2="7617"/>
                        <a14:backgroundMark x1="91602" y1="88867" x2="87891" y2="91992"/>
                        <a14:backgroundMark x1="11328" y1="92188" x2="7813" y2="880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4095" y="2559087"/>
            <a:ext cx="631556" cy="631556"/>
          </a:xfrm>
          <a:prstGeom prst="rect">
            <a:avLst/>
          </a:prstGeom>
        </p:spPr>
      </p:pic>
      <p:sp>
        <p:nvSpPr>
          <p:cNvPr id="49" name="타원 48">
            <a:extLst>
              <a:ext uri="{FF2B5EF4-FFF2-40B4-BE49-F238E27FC236}">
                <a16:creationId xmlns:a16="http://schemas.microsoft.com/office/drawing/2014/main" id="{4E946447-02C2-26AA-2A99-94133E3132D3}"/>
              </a:ext>
            </a:extLst>
          </p:cNvPr>
          <p:cNvSpPr/>
          <p:nvPr/>
        </p:nvSpPr>
        <p:spPr>
          <a:xfrm>
            <a:off x="807634" y="3663304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328E8EB-52E0-96FA-4D0F-88C0692AD4E5}"/>
              </a:ext>
            </a:extLst>
          </p:cNvPr>
          <p:cNvSpPr/>
          <p:nvPr/>
        </p:nvSpPr>
        <p:spPr>
          <a:xfrm>
            <a:off x="807634" y="5740014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8BA93E1D-A856-E7A2-3386-A0261F778577}"/>
              </a:ext>
            </a:extLst>
          </p:cNvPr>
          <p:cNvSpPr/>
          <p:nvPr/>
        </p:nvSpPr>
        <p:spPr>
          <a:xfrm>
            <a:off x="822135" y="4732291"/>
            <a:ext cx="749578" cy="749578"/>
          </a:xfrm>
          <a:prstGeom prst="ellipse">
            <a:avLst/>
          </a:prstGeom>
          <a:solidFill>
            <a:srgbClr val="F7E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93115253-4179-71FD-A376-D3D7B5F904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7219" y="5818324"/>
            <a:ext cx="521690" cy="521690"/>
          </a:xfrm>
          <a:prstGeom prst="rect">
            <a:avLst/>
          </a:prstGeom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589624AF-6FC9-88B3-31EB-0E7A3763578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824" y="3818154"/>
            <a:ext cx="440950" cy="440950"/>
          </a:xfrm>
          <a:prstGeom prst="rect">
            <a:avLst/>
          </a:prstGeom>
        </p:spPr>
      </p:pic>
      <p:pic>
        <p:nvPicPr>
          <p:cNvPr id="217" name="그림 216">
            <a:extLst>
              <a:ext uri="{FF2B5EF4-FFF2-40B4-BE49-F238E27FC236}">
                <a16:creationId xmlns:a16="http://schemas.microsoft.com/office/drawing/2014/main" id="{A4D0650D-C6BD-D08D-7D70-E7AC4255297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5800" y="4889611"/>
            <a:ext cx="428750" cy="428750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DD081A88-3EE7-47BC-7A73-30906306E81A}"/>
              </a:ext>
            </a:extLst>
          </p:cNvPr>
          <p:cNvSpPr txBox="1"/>
          <p:nvPr/>
        </p:nvSpPr>
        <p:spPr>
          <a:xfrm>
            <a:off x="1921739" y="5989248"/>
            <a:ext cx="954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교육과정에서 학습한 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데이터 수집 및 </a:t>
            </a:r>
            <a:r>
              <a:rPr lang="ko-KR" altLang="en-US" sz="1400" err="1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전처리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회귀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/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분류 </a:t>
            </a:r>
            <a:r>
              <a:rPr lang="ko-KR" altLang="en-US" sz="1400" err="1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머신러닝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모델링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, </a:t>
            </a:r>
          </a:p>
          <a:p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API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연동 </a:t>
            </a:r>
            <a:r>
              <a:rPr lang="en-US" altLang="ko-KR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Web Search/function</a:t>
            </a:r>
            <a:r>
              <a:rPr lang="ko-KR" altLang="en-US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 </a:t>
            </a:r>
            <a:r>
              <a:rPr lang="en-US" altLang="ko-KR" sz="1400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calling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, front-end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서버 구현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(</a:t>
            </a:r>
            <a:r>
              <a:rPr lang="en-US" altLang="ko-KR" sz="1400" err="1">
                <a:solidFill>
                  <a:srgbClr val="3378C8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Streamlit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)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Malgun Gothic"/>
              </a:rPr>
              <a:t>등을 종합적으로 적용</a:t>
            </a:r>
            <a:endParaRPr lang="en-US" altLang="ko-KR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87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17B30D07-ADC9-53B0-FFB0-6A67A559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">
            <a:extLst>
              <a:ext uri="{FF2B5EF4-FFF2-40B4-BE49-F238E27FC236}">
                <a16:creationId xmlns:a16="http://schemas.microsoft.com/office/drawing/2014/main" id="{97953D22-A0F5-BAE4-471D-E6E9DF9A57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" y="-23531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61;p4">
            <a:extLst>
              <a:ext uri="{FF2B5EF4-FFF2-40B4-BE49-F238E27FC236}">
                <a16:creationId xmlns:a16="http://schemas.microsoft.com/office/drawing/2014/main" id="{1B8B9EA0-935F-95CE-739C-6BEA1F844B42}"/>
              </a:ext>
            </a:extLst>
          </p:cNvPr>
          <p:cNvSpPr/>
          <p:nvPr/>
        </p:nvSpPr>
        <p:spPr>
          <a:xfrm>
            <a:off x="9444453" y="2165485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62;p4">
            <a:extLst>
              <a:ext uri="{FF2B5EF4-FFF2-40B4-BE49-F238E27FC236}">
                <a16:creationId xmlns:a16="http://schemas.microsoft.com/office/drawing/2014/main" id="{561F620D-F67A-0805-FE3F-7F9BFD64783B}"/>
              </a:ext>
            </a:extLst>
          </p:cNvPr>
          <p:cNvSpPr/>
          <p:nvPr/>
        </p:nvSpPr>
        <p:spPr>
          <a:xfrm>
            <a:off x="9444453" y="3348673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50;p4">
            <a:extLst>
              <a:ext uri="{FF2B5EF4-FFF2-40B4-BE49-F238E27FC236}">
                <a16:creationId xmlns:a16="http://schemas.microsoft.com/office/drawing/2014/main" id="{CA9AEF9D-FDBD-1EDF-EC08-398723C0E6B7}"/>
              </a:ext>
            </a:extLst>
          </p:cNvPr>
          <p:cNvSpPr/>
          <p:nvPr/>
        </p:nvSpPr>
        <p:spPr>
          <a:xfrm>
            <a:off x="7216453" y="2122231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1;p4">
            <a:extLst>
              <a:ext uri="{FF2B5EF4-FFF2-40B4-BE49-F238E27FC236}">
                <a16:creationId xmlns:a16="http://schemas.microsoft.com/office/drawing/2014/main" id="{8081F35A-A93D-AB6F-5ACA-F4BAAF2F77BA}"/>
              </a:ext>
            </a:extLst>
          </p:cNvPr>
          <p:cNvSpPr/>
          <p:nvPr/>
        </p:nvSpPr>
        <p:spPr>
          <a:xfrm>
            <a:off x="7216454" y="3339730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61;p4">
            <a:extLst>
              <a:ext uri="{FF2B5EF4-FFF2-40B4-BE49-F238E27FC236}">
                <a16:creationId xmlns:a16="http://schemas.microsoft.com/office/drawing/2014/main" id="{E665D333-4E71-8FBA-3CCC-CAA330A24D5B}"/>
              </a:ext>
            </a:extLst>
          </p:cNvPr>
          <p:cNvSpPr/>
          <p:nvPr/>
        </p:nvSpPr>
        <p:spPr>
          <a:xfrm>
            <a:off x="4972531" y="2179420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62;p4">
            <a:extLst>
              <a:ext uri="{FF2B5EF4-FFF2-40B4-BE49-F238E27FC236}">
                <a16:creationId xmlns:a16="http://schemas.microsoft.com/office/drawing/2014/main" id="{5F873F95-4AF5-BC11-0B69-D0C84A7448D2}"/>
              </a:ext>
            </a:extLst>
          </p:cNvPr>
          <p:cNvSpPr/>
          <p:nvPr/>
        </p:nvSpPr>
        <p:spPr>
          <a:xfrm>
            <a:off x="4972531" y="3362608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0;p4">
            <a:extLst>
              <a:ext uri="{FF2B5EF4-FFF2-40B4-BE49-F238E27FC236}">
                <a16:creationId xmlns:a16="http://schemas.microsoft.com/office/drawing/2014/main" id="{597C5696-6DF1-953E-6F87-5BFBAD65E870}"/>
              </a:ext>
            </a:extLst>
          </p:cNvPr>
          <p:cNvSpPr/>
          <p:nvPr/>
        </p:nvSpPr>
        <p:spPr>
          <a:xfrm>
            <a:off x="2734699" y="2155830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1;p4">
            <a:extLst>
              <a:ext uri="{FF2B5EF4-FFF2-40B4-BE49-F238E27FC236}">
                <a16:creationId xmlns:a16="http://schemas.microsoft.com/office/drawing/2014/main" id="{8F9F7F10-A9E8-2ADB-EC67-06CFEF4BFB8B}"/>
              </a:ext>
            </a:extLst>
          </p:cNvPr>
          <p:cNvSpPr/>
          <p:nvPr/>
        </p:nvSpPr>
        <p:spPr>
          <a:xfrm>
            <a:off x="2734700" y="3373329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61;p4">
            <a:extLst>
              <a:ext uri="{FF2B5EF4-FFF2-40B4-BE49-F238E27FC236}">
                <a16:creationId xmlns:a16="http://schemas.microsoft.com/office/drawing/2014/main" id="{8211224D-A3C6-C495-AB21-B36CF73D4CE3}"/>
              </a:ext>
            </a:extLst>
          </p:cNvPr>
          <p:cNvSpPr/>
          <p:nvPr/>
        </p:nvSpPr>
        <p:spPr>
          <a:xfrm>
            <a:off x="425618" y="2175617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62;p4">
            <a:extLst>
              <a:ext uri="{FF2B5EF4-FFF2-40B4-BE49-F238E27FC236}">
                <a16:creationId xmlns:a16="http://schemas.microsoft.com/office/drawing/2014/main" id="{7C6F4A78-029D-AF14-CA42-7311F08AAB06}"/>
              </a:ext>
            </a:extLst>
          </p:cNvPr>
          <p:cNvSpPr/>
          <p:nvPr/>
        </p:nvSpPr>
        <p:spPr>
          <a:xfrm>
            <a:off x="425618" y="3358805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8224C53D-F35C-A7FC-ADC7-04A3FBF0FAA5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4">
            <a:extLst>
              <a:ext uri="{FF2B5EF4-FFF2-40B4-BE49-F238E27FC236}">
                <a16:creationId xmlns:a16="http://schemas.microsoft.com/office/drawing/2014/main" id="{BE120120-0699-CD79-AF00-F3C1849BF64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1" name="Google Shape;211;p4">
              <a:extLst>
                <a:ext uri="{FF2B5EF4-FFF2-40B4-BE49-F238E27FC236}">
                  <a16:creationId xmlns:a16="http://schemas.microsoft.com/office/drawing/2014/main" id="{5A8C711E-06C2-3469-AE2A-A977FE546C1D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4">
              <a:extLst>
                <a:ext uri="{FF2B5EF4-FFF2-40B4-BE49-F238E27FC236}">
                  <a16:creationId xmlns:a16="http://schemas.microsoft.com/office/drawing/2014/main" id="{52AF86DC-5C3E-851F-8679-8A370071090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>
              <a:extLst>
                <a:ext uri="{FF2B5EF4-FFF2-40B4-BE49-F238E27FC236}">
                  <a16:creationId xmlns:a16="http://schemas.microsoft.com/office/drawing/2014/main" id="{8E1A79C8-BF9A-30B5-B284-B62A5AB15FB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4">
            <a:extLst>
              <a:ext uri="{FF2B5EF4-FFF2-40B4-BE49-F238E27FC236}">
                <a16:creationId xmlns:a16="http://schemas.microsoft.com/office/drawing/2014/main" id="{39437F50-22A2-6550-E6F4-58C7BFE67475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>
            <a:extLst>
              <a:ext uri="{FF2B5EF4-FFF2-40B4-BE49-F238E27FC236}">
                <a16:creationId xmlns:a16="http://schemas.microsoft.com/office/drawing/2014/main" id="{D4FFCA33-983E-C33C-D2CC-7F26B6B1165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>
            <a:extLst>
              <a:ext uri="{FF2B5EF4-FFF2-40B4-BE49-F238E27FC236}">
                <a16:creationId xmlns:a16="http://schemas.microsoft.com/office/drawing/2014/main" id="{CF692A7E-81C8-294C-9887-B58668BFC73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>
            <a:extLst>
              <a:ext uri="{FF2B5EF4-FFF2-40B4-BE49-F238E27FC236}">
                <a16:creationId xmlns:a16="http://schemas.microsoft.com/office/drawing/2014/main" id="{0EC1D60D-4B17-C9C6-84A6-6CB675C917B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>
            <a:extLst>
              <a:ext uri="{FF2B5EF4-FFF2-40B4-BE49-F238E27FC236}">
                <a16:creationId xmlns:a16="http://schemas.microsoft.com/office/drawing/2014/main" id="{EC8B4A25-FB30-B529-8C98-65E7F4D575B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>
            <a:extLst>
              <a:ext uri="{FF2B5EF4-FFF2-40B4-BE49-F238E27FC236}">
                <a16:creationId xmlns:a16="http://schemas.microsoft.com/office/drawing/2014/main" id="{714D3205-D5E3-886E-F145-F1A0CA93E77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>
            <a:extLst>
              <a:ext uri="{FF2B5EF4-FFF2-40B4-BE49-F238E27FC236}">
                <a16:creationId xmlns:a16="http://schemas.microsoft.com/office/drawing/2014/main" id="{F1BA33EB-A52A-7A31-98B7-E0C0A3E8447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>
            <a:extLst>
              <a:ext uri="{FF2B5EF4-FFF2-40B4-BE49-F238E27FC236}">
                <a16:creationId xmlns:a16="http://schemas.microsoft.com/office/drawing/2014/main" id="{F4CFB9FA-4D2E-E855-DE0B-121A29F36E0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>
            <a:extLst>
              <a:ext uri="{FF2B5EF4-FFF2-40B4-BE49-F238E27FC236}">
                <a16:creationId xmlns:a16="http://schemas.microsoft.com/office/drawing/2014/main" id="{3DC82D96-A630-FBF1-C6C5-95F0D50BBE7B}"/>
              </a:ext>
            </a:extLst>
          </p:cNvPr>
          <p:cNvSpPr txBox="1"/>
          <p:nvPr/>
        </p:nvSpPr>
        <p:spPr>
          <a:xfrm>
            <a:off x="833181" y="1419846"/>
            <a:ext cx="428324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0000"/>
              </a:lnSpc>
              <a:buSzPts val="1800"/>
            </a:pPr>
            <a:r>
              <a:rPr lang="ko-KR" altLang="en-US" sz="18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장비 및 재료</a:t>
            </a:r>
            <a:endParaRPr lang="ko-KR" altLang="en-US" sz="1400" b="0" i="0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4">
            <a:extLst>
              <a:ext uri="{FF2B5EF4-FFF2-40B4-BE49-F238E27FC236}">
                <a16:creationId xmlns:a16="http://schemas.microsoft.com/office/drawing/2014/main" id="{35152F06-B0F4-DF03-DB6C-DDB2B475C6B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83" name="Google Shape;283;p4" descr="EMB0000378c3f3d">
              <a:extLst>
                <a:ext uri="{FF2B5EF4-FFF2-40B4-BE49-F238E27FC236}">
                  <a16:creationId xmlns:a16="http://schemas.microsoft.com/office/drawing/2014/main" id="{19E21D48-53A3-99A1-A5B5-E385F841170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4">
              <a:extLst>
                <a:ext uri="{FF2B5EF4-FFF2-40B4-BE49-F238E27FC236}">
                  <a16:creationId xmlns:a16="http://schemas.microsoft.com/office/drawing/2014/main" id="{DDB43098-1642-E04A-1369-A88B9806E4C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oworld_reference.png">
            <a:extLst>
              <a:ext uri="{FF2B5EF4-FFF2-40B4-BE49-F238E27FC236}">
                <a16:creationId xmlns:a16="http://schemas.microsoft.com/office/drawing/2014/main" id="{3C9DC2D0-147A-36E5-7A57-1B729208C8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179" b="58383" l="8581" r="17225">
                        <a14:foregroundMark x1="10938" y1="51391" x2="10938" y2="51391"/>
                        <a14:foregroundMark x1="10889" y1="50174" x2="10889" y2="50174"/>
                        <a14:foregroundMark x1="12939" y1="50609" x2="12939" y2="50609"/>
                        <a14:foregroundMark x1="13232" y1="51565" x2="13232" y2="51565"/>
                        <a14:foregroundMark x1="15088" y1="50870" x2="15088" y2="50870"/>
                        <a14:backgroundMark x1="11035" y1="51217" x2="11035" y2="51217"/>
                        <a14:backgroundMark x1="11035" y1="51304" x2="11035" y2="51304"/>
                        <a14:backgroundMark x1="10986" y1="50087" x2="10986" y2="50087"/>
                        <a14:backgroundMark x1="10986" y1="50348" x2="10986" y2="50348"/>
                        <a14:backgroundMark x1="12891" y1="50522" x2="12891" y2="50522"/>
                        <a14:backgroundMark x1="13135" y1="51739" x2="13135" y2="51739"/>
                        <a14:backgroundMark x1="15088" y1="51043" x2="15088" y2="51043"/>
                      </a14:backgroundRemoval>
                    </a14:imgEffect>
                  </a14:imgLayer>
                </a14:imgProps>
              </a:ext>
            </a:extLst>
          </a:blip>
          <a:srcRect l="7500" t="48029" r="81694" b="40466"/>
          <a:stretch/>
        </p:blipFill>
        <p:spPr>
          <a:xfrm>
            <a:off x="833181" y="2549818"/>
            <a:ext cx="1317523" cy="788990"/>
          </a:xfrm>
          <a:prstGeom prst="rect">
            <a:avLst/>
          </a:prstGeom>
        </p:spPr>
      </p:pic>
      <p:sp>
        <p:nvSpPr>
          <p:cNvPr id="8" name="Google Shape;240;p4">
            <a:extLst>
              <a:ext uri="{FF2B5EF4-FFF2-40B4-BE49-F238E27FC236}">
                <a16:creationId xmlns:a16="http://schemas.microsoft.com/office/drawing/2014/main" id="{4264271E-0448-DB06-2638-7CD10E77C3F6}"/>
              </a:ext>
            </a:extLst>
          </p:cNvPr>
          <p:cNvSpPr/>
          <p:nvPr/>
        </p:nvSpPr>
        <p:spPr>
          <a:xfrm rot="5400000">
            <a:off x="-290568" y="1539662"/>
            <a:ext cx="743855" cy="157361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" name="Google Shape;242;p4">
            <a:extLst>
              <a:ext uri="{FF2B5EF4-FFF2-40B4-BE49-F238E27FC236}">
                <a16:creationId xmlns:a16="http://schemas.microsoft.com/office/drawing/2014/main" id="{3E60A566-1EBF-A433-91BE-F09C3D7201A2}"/>
              </a:ext>
            </a:extLst>
          </p:cNvPr>
          <p:cNvGrpSpPr/>
          <p:nvPr/>
        </p:nvGrpSpPr>
        <p:grpSpPr>
          <a:xfrm>
            <a:off x="1260286" y="2035986"/>
            <a:ext cx="408282" cy="388046"/>
            <a:chOff x="450324" y="2128945"/>
            <a:chExt cx="889526" cy="845440"/>
          </a:xfrm>
        </p:grpSpPr>
        <p:sp>
          <p:nvSpPr>
            <p:cNvPr id="13" name="Google Shape;243;p4">
              <a:extLst>
                <a:ext uri="{FF2B5EF4-FFF2-40B4-BE49-F238E27FC236}">
                  <a16:creationId xmlns:a16="http://schemas.microsoft.com/office/drawing/2014/main" id="{C1A637E7-8AB2-B7C9-ABD0-2C9A8D3E18C3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4;p4">
              <a:extLst>
                <a:ext uri="{FF2B5EF4-FFF2-40B4-BE49-F238E27FC236}">
                  <a16:creationId xmlns:a16="http://schemas.microsoft.com/office/drawing/2014/main" id="{6EB101F8-2BF0-1916-2BD1-E9D4F37CFF34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245;p4">
              <a:extLst>
                <a:ext uri="{FF2B5EF4-FFF2-40B4-BE49-F238E27FC236}">
                  <a16:creationId xmlns:a16="http://schemas.microsoft.com/office/drawing/2014/main" id="{ED0CCCD5-AB2C-D92A-CDEB-DF9AC2C905A8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Picture 1" descr="oworld_reference.png">
            <a:extLst>
              <a:ext uri="{FF2B5EF4-FFF2-40B4-BE49-F238E27FC236}">
                <a16:creationId xmlns:a16="http://schemas.microsoft.com/office/drawing/2014/main" id="{E3EF211E-5BC3-D5C5-9C25-704A312C0D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7099" b="59159" l="46215" r="53535">
                        <a14:foregroundMark x1="49756" y1="52609" x2="49756" y2="52609"/>
                        <a14:foregroundMark x1="49756" y1="54870" x2="49756" y2="54870"/>
                        <a14:foregroundMark x1="49756" y1="57130" x2="49756" y2="57130"/>
                        <a14:foregroundMark x1="51709" y1="56870" x2="51709" y2="56870"/>
                        <a14:backgroundMark x1="48242" y1="52435" x2="48242" y2="52435"/>
                        <a14:backgroundMark x1="48828" y1="54783" x2="48828" y2="54783"/>
                        <a14:backgroundMark x1="48633" y1="56870" x2="48633" y2="56870"/>
                        <a14:backgroundMark x1="48926" y1="52261" x2="48926" y2="52261"/>
                        <a14:backgroundMark x1="51660" y1="55565" x2="51660" y2="55565"/>
                        <a14:backgroundMark x1="52637" y1="57739" x2="52637" y2="57739"/>
                        <a14:backgroundMark x1="49658" y1="52696" x2="49658" y2="52696"/>
                        <a14:backgroundMark x1="49658" y1="54870" x2="49658" y2="54870"/>
                        <a14:backgroundMark x1="49658" y1="57043" x2="49658" y2="57043"/>
                      </a14:backgroundRemoval>
                    </a14:imgEffect>
                  </a14:imgLayer>
                </a14:imgProps>
              </a:ext>
            </a:extLst>
          </a:blip>
          <a:srcRect l="45300" t="45591" r="45550" b="39333"/>
          <a:stretch/>
        </p:blipFill>
        <p:spPr>
          <a:xfrm>
            <a:off x="5439030" y="2363938"/>
            <a:ext cx="1115567" cy="1033862"/>
          </a:xfrm>
          <a:prstGeom prst="rect">
            <a:avLst/>
          </a:prstGeom>
        </p:spPr>
      </p:pic>
      <p:pic>
        <p:nvPicPr>
          <p:cNvPr id="20" name="Picture 1" descr="oworld_reference.png">
            <a:extLst>
              <a:ext uri="{FF2B5EF4-FFF2-40B4-BE49-F238E27FC236}">
                <a16:creationId xmlns:a16="http://schemas.microsoft.com/office/drawing/2014/main" id="{713256E1-DB56-7431-068C-6872B5386A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64525" r="73169">
                        <a14:backgroundMark x1="68799" y1="49826" x2="68799" y2="49826"/>
                        <a14:backgroundMark x1="68652" y1="56957" x2="68652" y2="56957"/>
                        <a14:backgroundMark x1="71582" y1="57043" x2="71582" y2="57043"/>
                        <a14:backgroundMark x1="65771" y1="56870" x2="65771" y2="56870"/>
                      </a14:backgroundRemoval>
                    </a14:imgEffect>
                  </a14:imgLayer>
                </a14:imgProps>
              </a:ext>
            </a:extLst>
          </a:blip>
          <a:srcRect l="63444" t="46882" r="25750" b="40466"/>
          <a:stretch/>
        </p:blipFill>
        <p:spPr>
          <a:xfrm>
            <a:off x="7684779" y="2431832"/>
            <a:ext cx="1317522" cy="867648"/>
          </a:xfrm>
          <a:prstGeom prst="rect">
            <a:avLst/>
          </a:prstGeom>
        </p:spPr>
      </p:pic>
      <p:pic>
        <p:nvPicPr>
          <p:cNvPr id="21" name="Picture 1" descr="oworld_reference.png">
            <a:extLst>
              <a:ext uri="{FF2B5EF4-FFF2-40B4-BE49-F238E27FC236}">
                <a16:creationId xmlns:a16="http://schemas.microsoft.com/office/drawing/2014/main" id="{193F7A70-BF36-FA51-8077-B9E8AD7826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83490" r="90810">
                        <a14:foregroundMark x1="87646" y1="53652" x2="87646" y2="53652"/>
                        <a14:foregroundMark x1="89404" y1="56957" x2="89404" y2="56957"/>
                        <a14:foregroundMark x1="90576" y1="57565" x2="90576" y2="57565"/>
                      </a14:backgroundRemoval>
                    </a14:imgEffect>
                  </a14:imgLayer>
                </a14:imgProps>
              </a:ext>
            </a:extLst>
          </a:blip>
          <a:srcRect l="82575" t="46882" r="8275" b="40466"/>
          <a:stretch/>
        </p:blipFill>
        <p:spPr>
          <a:xfrm>
            <a:off x="9935836" y="2422000"/>
            <a:ext cx="1115568" cy="867648"/>
          </a:xfrm>
          <a:prstGeom prst="rect">
            <a:avLst/>
          </a:prstGeom>
        </p:spPr>
      </p:pic>
      <p:grpSp>
        <p:nvGrpSpPr>
          <p:cNvPr id="24" name="Google Shape;252;p4">
            <a:extLst>
              <a:ext uri="{FF2B5EF4-FFF2-40B4-BE49-F238E27FC236}">
                <a16:creationId xmlns:a16="http://schemas.microsoft.com/office/drawing/2014/main" id="{532519E6-F9FE-C94B-7CA3-37EF11D9E033}"/>
              </a:ext>
            </a:extLst>
          </p:cNvPr>
          <p:cNvGrpSpPr/>
          <p:nvPr/>
        </p:nvGrpSpPr>
        <p:grpSpPr>
          <a:xfrm>
            <a:off x="3541823" y="2000986"/>
            <a:ext cx="418718" cy="380422"/>
            <a:chOff x="427587" y="2066948"/>
            <a:chExt cx="912263" cy="828829"/>
          </a:xfrm>
        </p:grpSpPr>
        <p:sp>
          <p:nvSpPr>
            <p:cNvPr id="25" name="Google Shape;253;p4">
              <a:extLst>
                <a:ext uri="{FF2B5EF4-FFF2-40B4-BE49-F238E27FC236}">
                  <a16:creationId xmlns:a16="http://schemas.microsoft.com/office/drawing/2014/main" id="{C89289A8-7B91-0724-931C-9D7CA7E1A86C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4;p4">
              <a:extLst>
                <a:ext uri="{FF2B5EF4-FFF2-40B4-BE49-F238E27FC236}">
                  <a16:creationId xmlns:a16="http://schemas.microsoft.com/office/drawing/2014/main" id="{78974565-D99D-4B3B-5780-21E6EABD2D50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55;p4">
              <a:extLst>
                <a:ext uri="{FF2B5EF4-FFF2-40B4-BE49-F238E27FC236}">
                  <a16:creationId xmlns:a16="http://schemas.microsoft.com/office/drawing/2014/main" id="{084B42C1-2B05-7840-9D50-E9DCF6057D01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63;p4">
            <a:extLst>
              <a:ext uri="{FF2B5EF4-FFF2-40B4-BE49-F238E27FC236}">
                <a16:creationId xmlns:a16="http://schemas.microsoft.com/office/drawing/2014/main" id="{39E51562-3FE7-52BF-7164-46FB101D2BC0}"/>
              </a:ext>
            </a:extLst>
          </p:cNvPr>
          <p:cNvGrpSpPr/>
          <p:nvPr/>
        </p:nvGrpSpPr>
        <p:grpSpPr>
          <a:xfrm>
            <a:off x="5721116" y="2029442"/>
            <a:ext cx="418718" cy="380422"/>
            <a:chOff x="427587" y="2066948"/>
            <a:chExt cx="912263" cy="828829"/>
          </a:xfrm>
        </p:grpSpPr>
        <p:sp>
          <p:nvSpPr>
            <p:cNvPr id="29" name="Google Shape;264;p4">
              <a:extLst>
                <a:ext uri="{FF2B5EF4-FFF2-40B4-BE49-F238E27FC236}">
                  <a16:creationId xmlns:a16="http://schemas.microsoft.com/office/drawing/2014/main" id="{2A594C5D-28FD-CE1D-6B56-91F7A68486D6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265;p4">
              <a:extLst>
                <a:ext uri="{FF2B5EF4-FFF2-40B4-BE49-F238E27FC236}">
                  <a16:creationId xmlns:a16="http://schemas.microsoft.com/office/drawing/2014/main" id="{A06CF190-24DC-9956-FA4D-624D7824BB7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266;p4">
              <a:extLst>
                <a:ext uri="{FF2B5EF4-FFF2-40B4-BE49-F238E27FC236}">
                  <a16:creationId xmlns:a16="http://schemas.microsoft.com/office/drawing/2014/main" id="{78D24D77-D416-8C3C-2B24-9AEBBEA0F6BA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32;p4">
            <a:extLst>
              <a:ext uri="{FF2B5EF4-FFF2-40B4-BE49-F238E27FC236}">
                <a16:creationId xmlns:a16="http://schemas.microsoft.com/office/drawing/2014/main" id="{6BE9A2C9-B0AD-E32F-82B2-FA4B258827CE}"/>
              </a:ext>
            </a:extLst>
          </p:cNvPr>
          <p:cNvGrpSpPr/>
          <p:nvPr/>
        </p:nvGrpSpPr>
        <p:grpSpPr>
          <a:xfrm>
            <a:off x="8069476" y="1980676"/>
            <a:ext cx="418718" cy="380422"/>
            <a:chOff x="427587" y="2066948"/>
            <a:chExt cx="912263" cy="828829"/>
          </a:xfrm>
        </p:grpSpPr>
        <p:sp>
          <p:nvSpPr>
            <p:cNvPr id="33" name="Google Shape;233;p4">
              <a:extLst>
                <a:ext uri="{FF2B5EF4-FFF2-40B4-BE49-F238E27FC236}">
                  <a16:creationId xmlns:a16="http://schemas.microsoft.com/office/drawing/2014/main" id="{23C2ED47-9CEC-96C4-42BF-CB3F296068D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234;p4">
              <a:extLst>
                <a:ext uri="{FF2B5EF4-FFF2-40B4-BE49-F238E27FC236}">
                  <a16:creationId xmlns:a16="http://schemas.microsoft.com/office/drawing/2014/main" id="{ABBD8D57-5CEE-AB6E-B82D-3077669AED24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235;p4">
              <a:extLst>
                <a:ext uri="{FF2B5EF4-FFF2-40B4-BE49-F238E27FC236}">
                  <a16:creationId xmlns:a16="http://schemas.microsoft.com/office/drawing/2014/main" id="{87BBEB92-F1E9-07D0-2143-15E52AD20CC0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75;p4">
            <a:extLst>
              <a:ext uri="{FF2B5EF4-FFF2-40B4-BE49-F238E27FC236}">
                <a16:creationId xmlns:a16="http://schemas.microsoft.com/office/drawing/2014/main" id="{FAEEC214-D04A-C1F5-7840-9A401619B0F5}"/>
              </a:ext>
            </a:extLst>
          </p:cNvPr>
          <p:cNvGrpSpPr/>
          <p:nvPr/>
        </p:nvGrpSpPr>
        <p:grpSpPr>
          <a:xfrm>
            <a:off x="10253975" y="1981990"/>
            <a:ext cx="418718" cy="380422"/>
            <a:chOff x="427587" y="2066948"/>
            <a:chExt cx="912263" cy="828829"/>
          </a:xfrm>
        </p:grpSpPr>
        <p:sp>
          <p:nvSpPr>
            <p:cNvPr id="37" name="Google Shape;276;p4">
              <a:extLst>
                <a:ext uri="{FF2B5EF4-FFF2-40B4-BE49-F238E27FC236}">
                  <a16:creationId xmlns:a16="http://schemas.microsoft.com/office/drawing/2014/main" id="{6A3265DC-BE51-9EE4-180E-79B6720A8D9C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277;p4">
              <a:extLst>
                <a:ext uri="{FF2B5EF4-FFF2-40B4-BE49-F238E27FC236}">
                  <a16:creationId xmlns:a16="http://schemas.microsoft.com/office/drawing/2014/main" id="{5335BDDB-324F-79C8-E107-AE471183BC7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278;p4">
              <a:extLst>
                <a:ext uri="{FF2B5EF4-FFF2-40B4-BE49-F238E27FC236}">
                  <a16:creationId xmlns:a16="http://schemas.microsoft.com/office/drawing/2014/main" id="{14FCE2D9-E735-3C24-2813-524CD0359D7B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CA3DB7-ADF8-CE83-AAB3-405A14791C59}"/>
              </a:ext>
            </a:extLst>
          </p:cNvPr>
          <p:cNvCxnSpPr>
            <a:cxnSpLocks/>
            <a:stCxn id="46" idx="0"/>
            <a:endCxn id="43" idx="2"/>
          </p:cNvCxnSpPr>
          <p:nvPr/>
        </p:nvCxnSpPr>
        <p:spPr>
          <a:xfrm flipV="1">
            <a:off x="2490911" y="278970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DCF9989F-368A-21FC-1B9D-7FFDC8965FAA}"/>
              </a:ext>
            </a:extLst>
          </p:cNvPr>
          <p:cNvSpPr/>
          <p:nvPr/>
        </p:nvSpPr>
        <p:spPr>
          <a:xfrm>
            <a:off x="2610098" y="275674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C4E22FF-73CA-5DCA-3FEA-962F5F9A2D16}"/>
              </a:ext>
            </a:extLst>
          </p:cNvPr>
          <p:cNvCxnSpPr/>
          <p:nvPr/>
        </p:nvCxnSpPr>
        <p:spPr>
          <a:xfrm flipV="1">
            <a:off x="4766055" y="276684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D1D5B3E5-E7E0-A055-7767-343F7F2AA2CC}"/>
              </a:ext>
            </a:extLst>
          </p:cNvPr>
          <p:cNvSpPr/>
          <p:nvPr/>
        </p:nvSpPr>
        <p:spPr>
          <a:xfrm>
            <a:off x="4890322" y="273388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BDC7E75-6A86-CDD2-56F5-8D70C17A48D4}"/>
              </a:ext>
            </a:extLst>
          </p:cNvPr>
          <p:cNvCxnSpPr/>
          <p:nvPr/>
        </p:nvCxnSpPr>
        <p:spPr>
          <a:xfrm flipV="1">
            <a:off x="6998475" y="2762882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86D1052E-4938-59B1-4C4A-4049F95FDC54}"/>
              </a:ext>
            </a:extLst>
          </p:cNvPr>
          <p:cNvSpPr/>
          <p:nvPr/>
        </p:nvSpPr>
        <p:spPr>
          <a:xfrm>
            <a:off x="7122742" y="2729931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53B20EF-F564-5B69-B43A-AD101AC77231}"/>
              </a:ext>
            </a:extLst>
          </p:cNvPr>
          <p:cNvCxnSpPr/>
          <p:nvPr/>
        </p:nvCxnSpPr>
        <p:spPr>
          <a:xfrm flipV="1">
            <a:off x="9250493" y="277013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BC6BDB69-1186-49E6-DFA7-AFCE57F50D86}"/>
              </a:ext>
            </a:extLst>
          </p:cNvPr>
          <p:cNvSpPr/>
          <p:nvPr/>
        </p:nvSpPr>
        <p:spPr>
          <a:xfrm>
            <a:off x="9374760" y="273717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1B0B851-9EB8-EB70-32BF-703B1D0D710B}"/>
              </a:ext>
            </a:extLst>
          </p:cNvPr>
          <p:cNvSpPr/>
          <p:nvPr/>
        </p:nvSpPr>
        <p:spPr>
          <a:xfrm>
            <a:off x="668337" y="3922051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30BEFDF-4145-A4C3-697C-C0EDA362FECB}"/>
              </a:ext>
            </a:extLst>
          </p:cNvPr>
          <p:cNvCxnSpPr/>
          <p:nvPr/>
        </p:nvCxnSpPr>
        <p:spPr>
          <a:xfrm>
            <a:off x="2367835" y="3966071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1AA1E86-E878-2613-1DBD-EBF6A9C57342}"/>
              </a:ext>
            </a:extLst>
          </p:cNvPr>
          <p:cNvSpPr txBox="1"/>
          <p:nvPr/>
        </p:nvSpPr>
        <p:spPr>
          <a:xfrm>
            <a:off x="700526" y="4178742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개발환경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6CB5DA0-343D-A2BC-CCC5-B148DA6C2C53}"/>
              </a:ext>
            </a:extLst>
          </p:cNvPr>
          <p:cNvSpPr/>
          <p:nvPr/>
        </p:nvSpPr>
        <p:spPr>
          <a:xfrm>
            <a:off x="2573693" y="4117541"/>
            <a:ext cx="1608858" cy="495482"/>
          </a:xfrm>
          <a:prstGeom prst="roundRect">
            <a:avLst/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C1B1D41-289D-65CC-7C29-F7DD73BD05BE}"/>
              </a:ext>
            </a:extLst>
          </p:cNvPr>
          <p:cNvSpPr/>
          <p:nvPr/>
        </p:nvSpPr>
        <p:spPr>
          <a:xfrm>
            <a:off x="4919403" y="4117541"/>
            <a:ext cx="1608858" cy="495482"/>
          </a:xfrm>
          <a:prstGeom prst="roundRect">
            <a:avLst/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A08624D-4A71-3D14-C05C-438A4D269F7A}"/>
              </a:ext>
            </a:extLst>
          </p:cNvPr>
          <p:cNvSpPr/>
          <p:nvPr/>
        </p:nvSpPr>
        <p:spPr>
          <a:xfrm>
            <a:off x="7265113" y="4117541"/>
            <a:ext cx="1608858" cy="495482"/>
          </a:xfrm>
          <a:prstGeom prst="roundRect">
            <a:avLst/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86BF9C2-DE3E-1070-0D7B-4E6413B6DB3C}"/>
              </a:ext>
            </a:extLst>
          </p:cNvPr>
          <p:cNvSpPr/>
          <p:nvPr/>
        </p:nvSpPr>
        <p:spPr>
          <a:xfrm>
            <a:off x="9610823" y="4117541"/>
            <a:ext cx="1608858" cy="495482"/>
          </a:xfrm>
          <a:prstGeom prst="roundRect">
            <a:avLst/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EDD9A-9D9D-6E00-0049-CE80607A8C36}"/>
              </a:ext>
            </a:extLst>
          </p:cNvPr>
          <p:cNvSpPr txBox="1"/>
          <p:nvPr/>
        </p:nvSpPr>
        <p:spPr>
          <a:xfrm>
            <a:off x="2586000" y="4185525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Python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0F446A-B008-65E8-4D74-55328B965D9F}"/>
              </a:ext>
            </a:extLst>
          </p:cNvPr>
          <p:cNvSpPr txBox="1"/>
          <p:nvPr/>
        </p:nvSpPr>
        <p:spPr>
          <a:xfrm>
            <a:off x="4926347" y="4183386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err="1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Github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27D9F-1891-F1AA-D343-1527C70BFAA3}"/>
              </a:ext>
            </a:extLst>
          </p:cNvPr>
          <p:cNvSpPr txBox="1"/>
          <p:nvPr/>
        </p:nvSpPr>
        <p:spPr>
          <a:xfrm>
            <a:off x="7265113" y="4171770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Google Drive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A0C5D7-BB2A-6B35-4FFC-5EF44D1A4EA0}"/>
              </a:ext>
            </a:extLst>
          </p:cNvPr>
          <p:cNvSpPr txBox="1"/>
          <p:nvPr/>
        </p:nvSpPr>
        <p:spPr>
          <a:xfrm>
            <a:off x="9643757" y="4183386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Notion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6F19DDE-27F6-C640-318D-D41DF71D9075}"/>
              </a:ext>
            </a:extLst>
          </p:cNvPr>
          <p:cNvSpPr/>
          <p:nvPr/>
        </p:nvSpPr>
        <p:spPr>
          <a:xfrm>
            <a:off x="700526" y="5161940"/>
            <a:ext cx="10898422" cy="1179483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5E3870A-0A84-06D8-5B17-1683D764C26E}"/>
              </a:ext>
            </a:extLst>
          </p:cNvPr>
          <p:cNvCxnSpPr/>
          <p:nvPr/>
        </p:nvCxnSpPr>
        <p:spPr>
          <a:xfrm>
            <a:off x="2400024" y="5205960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CB711E91-1868-21A9-2C89-8A99F93A060A}"/>
              </a:ext>
            </a:extLst>
          </p:cNvPr>
          <p:cNvSpPr txBox="1"/>
          <p:nvPr/>
        </p:nvSpPr>
        <p:spPr>
          <a:xfrm>
            <a:off x="725453" y="5570774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및 </a:t>
            </a:r>
            <a:r>
              <a:rPr lang="en-US" altLang="ko-KR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API</a:t>
            </a:r>
            <a:endParaRPr lang="ko-KR" altLang="en-US" sz="1800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9FA4A9B6-D5A6-937B-D1FD-1EDDA81D3A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77" b="96680" l="0" r="97266">
                        <a14:foregroundMark x1="7184" y1="20421" x2="4883" y2="29297"/>
                        <a14:foregroundMark x1="7497" y1="19212" x2="7295" y2="19993"/>
                        <a14:foregroundMark x1="8984" y1="13477" x2="8636" y2="14821"/>
                        <a14:foregroundMark x1="5655" y1="18060" x2="5469" y2="91797"/>
                        <a14:foregroundMark x1="5664" y1="14648" x2="5661" y2="15703"/>
                        <a14:foregroundMark x1="12753" y1="95653" x2="15430" y2="97070"/>
                        <a14:foregroundMark x1="5469" y1="91797" x2="12446" y2="95491"/>
                        <a14:foregroundMark x1="15430" y1="97070" x2="43945" y2="98047"/>
                        <a14:foregroundMark x1="43945" y1="98047" x2="88281" y2="95117"/>
                        <a14:foregroundMark x1="90697" y1="88080" x2="99414" y2="62695"/>
                        <a14:foregroundMark x1="88281" y1="95117" x2="89017" y2="92973"/>
                        <a14:foregroundMark x1="90016" y1="14416" x2="89453" y2="11523"/>
                        <a14:foregroundMark x1="99414" y1="62695" x2="91135" y2="20163"/>
                        <a14:foregroundMark x1="10914" y1="13144" x2="4297" y2="13281"/>
                        <a14:foregroundMark x1="89453" y1="11523" x2="12866" y2="13104"/>
                        <a14:foregroundMark x1="21289" y1="3906" x2="21680" y2="18359"/>
                        <a14:foregroundMark x1="6055" y1="18750" x2="0" y2="72852"/>
                        <a14:foregroundMark x1="0" y1="72852" x2="3125" y2="86914"/>
                        <a14:foregroundMark x1="12541" y1="95137" x2="40625" y2="96680"/>
                        <a14:foregroundMark x1="5078" y1="94727" x2="12124" y2="95114"/>
                        <a14:foregroundMark x1="40625" y1="96680" x2="49023" y2="96484"/>
                        <a14:foregroundMark x1="93362" y1="90400" x2="96484" y2="90039"/>
                        <a14:foregroundMark x1="72852" y1="92773" x2="86919" y2="91146"/>
                        <a14:foregroundMark x1="83203" y1="47852" x2="83203" y2="47852"/>
                        <a14:foregroundMark x1="81836" y1="62500" x2="81836" y2="62500"/>
                        <a14:foregroundMark x1="67969" y1="78711" x2="67969" y2="78711"/>
                        <a14:foregroundMark x1="67383" y1="64258" x2="67383" y2="62891"/>
                        <a14:foregroundMark x1="69727" y1="48047" x2="69727" y2="48047"/>
                        <a14:foregroundMark x1="51563" y1="48438" x2="51563" y2="48438"/>
                        <a14:foregroundMark x1="31250" y1="49023" x2="31250" y2="49023"/>
                        <a14:foregroundMark x1="19141" y1="49023" x2="19141" y2="49023"/>
                        <a14:foregroundMark x1="20313" y1="64063" x2="20313" y2="64063"/>
                        <a14:foregroundMark x1="32813" y1="63672" x2="32813" y2="63672"/>
                        <a14:foregroundMark x1="35547" y1="78711" x2="35547" y2="78711"/>
                        <a14:foregroundMark x1="18555" y1="81445" x2="21094" y2="80469"/>
                        <a14:foregroundMark x1="51953" y1="79688" x2="51953" y2="79688"/>
                        <a14:foregroundMark x1="51367" y1="65039" x2="51367" y2="64453"/>
                        <a14:foregroundMark x1="80664" y1="977" x2="80664" y2="977"/>
                        <a14:foregroundMark x1="92188" y1="12500" x2="92188" y2="12500"/>
                        <a14:foregroundMark x1="95703" y1="20313" x2="97266" y2="84570"/>
                        <a14:foregroundMark x1="81445" y1="4297" x2="81445" y2="4297"/>
                        <a14:foregroundMark x1="79102" y1="21289" x2="79102" y2="21289"/>
                        <a14:foregroundMark x1="81250" y1="17773" x2="78906" y2="19141"/>
                        <a14:foregroundMark x1="22852" y1="18750" x2="19727" y2="20313"/>
                        <a14:foregroundMark x1="20313" y1="30664" x2="30078" y2="30469"/>
                        <a14:foregroundMark x1="19727" y1="47461" x2="20508" y2="47461"/>
                        <a14:foregroundMark x1="32813" y1="47852" x2="32813" y2="47852"/>
                        <a14:foregroundMark x1="33398" y1="46680" x2="34961" y2="49609"/>
                        <a14:foregroundMark x1="35352" y1="64648" x2="36328" y2="68164"/>
                        <a14:foregroundMark x1="19141" y1="64258" x2="20117" y2="65039"/>
                        <a14:foregroundMark x1="15234" y1="45703" x2="16602" y2="66992"/>
                        <a14:foregroundMark x1="16602" y1="66992" x2="30859" y2="84375"/>
                        <a14:foregroundMark x1="30859" y1="84375" x2="72070" y2="85156"/>
                        <a14:foregroundMark x1="72070" y1="85156" x2="81836" y2="79102"/>
                        <a14:foregroundMark x1="81836" y1="79102" x2="85742" y2="47266"/>
                        <a14:foregroundMark x1="85742" y1="47266" x2="12891" y2="43555"/>
                        <a14:foregroundMark x1="14844" y1="62891" x2="14844" y2="73633"/>
                        <a14:foregroundMark x1="14844" y1="73633" x2="28320" y2="88867"/>
                        <a14:foregroundMark x1="28320" y1="88867" x2="68945" y2="83008"/>
                        <a14:foregroundMark x1="68945" y1="83008" x2="58203" y2="67383"/>
                        <a14:foregroundMark x1="58203" y1="67383" x2="24219" y2="58203"/>
                        <a14:foregroundMark x1="24219" y1="58203" x2="16602" y2="61133"/>
                        <a14:foregroundMark x1="45703" y1="52930" x2="45117" y2="71875"/>
                        <a14:foregroundMark x1="45117" y1="71875" x2="69531" y2="72070"/>
                        <a14:foregroundMark x1="69531" y1="72070" x2="53906" y2="56055"/>
                        <a14:foregroundMark x1="53906" y1="56055" x2="44141" y2="59375"/>
                        <a14:foregroundMark x1="24219" y1="70508" x2="29102" y2="81445"/>
                        <a14:foregroundMark x1="29102" y1="81445" x2="60156" y2="77734"/>
                        <a14:foregroundMark x1="60156" y1="77734" x2="32813" y2="69336"/>
                        <a14:foregroundMark x1="32813" y1="69336" x2="29492" y2="72070"/>
                        <a14:foregroundMark x1="8203" y1="32422" x2="75000" y2="32813"/>
                        <a14:foregroundMark x1="75000" y1="32813" x2="89258" y2="32422"/>
                        <a14:backgroundMark x1="8789" y1="16992" x2="8789" y2="16992"/>
                        <a14:backgroundMark x1="8984" y1="16797" x2="11328" y2="16016"/>
                        <a14:backgroundMark x1="10547" y1="16016" x2="8008" y2="19531"/>
                        <a14:backgroundMark x1="88477" y1="15625" x2="92188" y2="19336"/>
                        <a14:backgroundMark x1="89063" y1="7617" x2="92969" y2="8789"/>
                        <a14:backgroundMark x1="93359" y1="8789" x2="89063" y2="7617"/>
                        <a14:backgroundMark x1="91602" y1="88867" x2="87891" y2="91992"/>
                        <a14:backgroundMark x1="11328" y1="92188" x2="7813" y2="880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4095" y="2559087"/>
            <a:ext cx="631556" cy="631556"/>
          </a:xfrm>
          <a:prstGeom prst="rect">
            <a:avLst/>
          </a:prstGeom>
        </p:spPr>
      </p:pic>
      <p:grpSp>
        <p:nvGrpSpPr>
          <p:cNvPr id="200" name="Google Shape;242;p4">
            <a:extLst>
              <a:ext uri="{FF2B5EF4-FFF2-40B4-BE49-F238E27FC236}">
                <a16:creationId xmlns:a16="http://schemas.microsoft.com/office/drawing/2014/main" id="{5680F613-249A-245A-37BC-544B205D0C46}"/>
              </a:ext>
            </a:extLst>
          </p:cNvPr>
          <p:cNvGrpSpPr/>
          <p:nvPr/>
        </p:nvGrpSpPr>
        <p:grpSpPr>
          <a:xfrm>
            <a:off x="454960" y="1417388"/>
            <a:ext cx="408282" cy="351966"/>
            <a:chOff x="450324" y="2128945"/>
            <a:chExt cx="889526" cy="766832"/>
          </a:xfrm>
        </p:grpSpPr>
        <p:sp>
          <p:nvSpPr>
            <p:cNvPr id="201" name="Google Shape;243;p4">
              <a:extLst>
                <a:ext uri="{FF2B5EF4-FFF2-40B4-BE49-F238E27FC236}">
                  <a16:creationId xmlns:a16="http://schemas.microsoft.com/office/drawing/2014/main" id="{8A2F52C2-DC40-6424-C0AD-52BAEE790F78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244;p4">
              <a:extLst>
                <a:ext uri="{FF2B5EF4-FFF2-40B4-BE49-F238E27FC236}">
                  <a16:creationId xmlns:a16="http://schemas.microsoft.com/office/drawing/2014/main" id="{D9CA4C21-14C7-91D5-012E-E827324F15FC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245;p4">
              <a:extLst>
                <a:ext uri="{FF2B5EF4-FFF2-40B4-BE49-F238E27FC236}">
                  <a16:creationId xmlns:a16="http://schemas.microsoft.com/office/drawing/2014/main" id="{06FD0398-2CB7-BA36-CF9F-F37FC317E63C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</a:rPr>
                <a:t>3</a:t>
              </a:r>
              <a:endParaRPr sz="1200" b="0" i="0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77004452-17BE-B944-CD4B-31E3C2C01630}"/>
              </a:ext>
            </a:extLst>
          </p:cNvPr>
          <p:cNvSpPr txBox="1"/>
          <p:nvPr/>
        </p:nvSpPr>
        <p:spPr>
          <a:xfrm>
            <a:off x="2573692" y="5355367"/>
            <a:ext cx="8093457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buSzPts val="1200"/>
            </a:pP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(1)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대전도시공사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친화 데이터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;</a:t>
            </a:r>
            <a:r>
              <a:rPr lang="ko-KR" altLang="en-US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오월드</a:t>
            </a:r>
            <a:r>
              <a:rPr lang="ko-KR" altLang="en-US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일자별 연령대별 날씨별 입장객현황</a:t>
            </a: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.csv </a:t>
            </a:r>
          </a:p>
          <a:p>
            <a:pPr>
              <a:lnSpc>
                <a:spcPct val="110000"/>
              </a:lnSpc>
              <a:buSzPts val="1200"/>
            </a:pPr>
            <a:r>
              <a:rPr lang="en-US" altLang="ko-KR" sz="1400" i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</a:t>
            </a:r>
            <a:r>
              <a:rPr lang="en-US" altLang="ko-KR" sz="1400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400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대전도시공사</a:t>
            </a:r>
            <a:r>
              <a:rPr lang="en-US" altLang="ko-KR" sz="1400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] (</a:t>
            </a:r>
            <a:r>
              <a:rPr lang="ko-KR" altLang="en-US" sz="1400" err="1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공공데이터포털</a:t>
            </a:r>
            <a:r>
              <a:rPr lang="ko-KR" altLang="en-US" sz="1400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개방</a:t>
            </a:r>
            <a:r>
              <a:rPr lang="en-US" altLang="ko-KR" sz="1400">
                <a:solidFill>
                  <a:srgbClr val="C8C8C8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endParaRPr lang="en-US" altLang="ko-KR" sz="1800" u="none" strike="noStrike" cap="none">
              <a:solidFill>
                <a:srgbClr val="C8C8C8"/>
              </a:solidFill>
              <a:latin typeface="HY견고딕" panose="02030600000101010101" pitchFamily="18" charset="-127"/>
              <a:ea typeface="HY견고딕" panose="02030600000101010101" pitchFamily="18" charset="-127"/>
              <a:sym typeface="Arial"/>
            </a:endParaRPr>
          </a:p>
          <a:p>
            <a:pPr marR="0"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altLang="ko-KR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(2)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API : Open-</a:t>
            </a:r>
            <a:r>
              <a:rPr lang="en-US" altLang="ko-KR" sz="140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Meteo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API, OpenAI Vision API(Web Search)</a:t>
            </a:r>
          </a:p>
        </p:txBody>
      </p:sp>
    </p:spTree>
    <p:extLst>
      <p:ext uri="{BB962C8B-B14F-4D97-AF65-F5344CB8AC3E}">
        <p14:creationId xmlns:p14="http://schemas.microsoft.com/office/powerpoint/2010/main" val="294900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E220C82E-D512-DDFF-B5BA-57AE34EC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">
            <a:extLst>
              <a:ext uri="{FF2B5EF4-FFF2-40B4-BE49-F238E27FC236}">
                <a16:creationId xmlns:a16="http://schemas.microsoft.com/office/drawing/2014/main" id="{3524EA3D-3E0F-5738-A554-364AD16F82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" y="-23531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61;p4">
            <a:extLst>
              <a:ext uri="{FF2B5EF4-FFF2-40B4-BE49-F238E27FC236}">
                <a16:creationId xmlns:a16="http://schemas.microsoft.com/office/drawing/2014/main" id="{04D5C419-0A4C-A3F3-AE58-38E728533806}"/>
              </a:ext>
            </a:extLst>
          </p:cNvPr>
          <p:cNvSpPr/>
          <p:nvPr/>
        </p:nvSpPr>
        <p:spPr>
          <a:xfrm>
            <a:off x="9444453" y="2165485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62;p4">
            <a:extLst>
              <a:ext uri="{FF2B5EF4-FFF2-40B4-BE49-F238E27FC236}">
                <a16:creationId xmlns:a16="http://schemas.microsoft.com/office/drawing/2014/main" id="{A29E4923-BF14-21B9-12BC-D789316422DD}"/>
              </a:ext>
            </a:extLst>
          </p:cNvPr>
          <p:cNvSpPr/>
          <p:nvPr/>
        </p:nvSpPr>
        <p:spPr>
          <a:xfrm>
            <a:off x="9444453" y="3348673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50;p4">
            <a:extLst>
              <a:ext uri="{FF2B5EF4-FFF2-40B4-BE49-F238E27FC236}">
                <a16:creationId xmlns:a16="http://schemas.microsoft.com/office/drawing/2014/main" id="{CDE523D1-D2F9-CA50-8A38-6C2EC735C1BF}"/>
              </a:ext>
            </a:extLst>
          </p:cNvPr>
          <p:cNvSpPr/>
          <p:nvPr/>
        </p:nvSpPr>
        <p:spPr>
          <a:xfrm>
            <a:off x="7216453" y="2122231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1;p4">
            <a:extLst>
              <a:ext uri="{FF2B5EF4-FFF2-40B4-BE49-F238E27FC236}">
                <a16:creationId xmlns:a16="http://schemas.microsoft.com/office/drawing/2014/main" id="{01E65178-B0AA-34D3-9D1A-7ED7E3055A14}"/>
              </a:ext>
            </a:extLst>
          </p:cNvPr>
          <p:cNvSpPr/>
          <p:nvPr/>
        </p:nvSpPr>
        <p:spPr>
          <a:xfrm>
            <a:off x="7216454" y="3339730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61;p4">
            <a:extLst>
              <a:ext uri="{FF2B5EF4-FFF2-40B4-BE49-F238E27FC236}">
                <a16:creationId xmlns:a16="http://schemas.microsoft.com/office/drawing/2014/main" id="{E113C9CE-4AEC-3A79-D335-CB9ABCF984BB}"/>
              </a:ext>
            </a:extLst>
          </p:cNvPr>
          <p:cNvSpPr/>
          <p:nvPr/>
        </p:nvSpPr>
        <p:spPr>
          <a:xfrm>
            <a:off x="4972531" y="2179420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62;p4">
            <a:extLst>
              <a:ext uri="{FF2B5EF4-FFF2-40B4-BE49-F238E27FC236}">
                <a16:creationId xmlns:a16="http://schemas.microsoft.com/office/drawing/2014/main" id="{CE2CCD8A-881B-5E19-4552-2292857DDE84}"/>
              </a:ext>
            </a:extLst>
          </p:cNvPr>
          <p:cNvSpPr/>
          <p:nvPr/>
        </p:nvSpPr>
        <p:spPr>
          <a:xfrm>
            <a:off x="4972531" y="3362608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0;p4">
            <a:extLst>
              <a:ext uri="{FF2B5EF4-FFF2-40B4-BE49-F238E27FC236}">
                <a16:creationId xmlns:a16="http://schemas.microsoft.com/office/drawing/2014/main" id="{23E2C756-E1DD-258F-F368-A825B6B8CB1D}"/>
              </a:ext>
            </a:extLst>
          </p:cNvPr>
          <p:cNvSpPr/>
          <p:nvPr/>
        </p:nvSpPr>
        <p:spPr>
          <a:xfrm>
            <a:off x="2734699" y="2155830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1;p4">
            <a:extLst>
              <a:ext uri="{FF2B5EF4-FFF2-40B4-BE49-F238E27FC236}">
                <a16:creationId xmlns:a16="http://schemas.microsoft.com/office/drawing/2014/main" id="{6429C005-45D1-095C-F4AF-63E97BD544E9}"/>
              </a:ext>
            </a:extLst>
          </p:cNvPr>
          <p:cNvSpPr/>
          <p:nvPr/>
        </p:nvSpPr>
        <p:spPr>
          <a:xfrm>
            <a:off x="2734700" y="3373329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61;p4">
            <a:extLst>
              <a:ext uri="{FF2B5EF4-FFF2-40B4-BE49-F238E27FC236}">
                <a16:creationId xmlns:a16="http://schemas.microsoft.com/office/drawing/2014/main" id="{E64AB2E3-74C0-8B59-E9E0-FAB7FE55921E}"/>
              </a:ext>
            </a:extLst>
          </p:cNvPr>
          <p:cNvSpPr/>
          <p:nvPr/>
        </p:nvSpPr>
        <p:spPr>
          <a:xfrm>
            <a:off x="425618" y="2175617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62;p4">
            <a:extLst>
              <a:ext uri="{FF2B5EF4-FFF2-40B4-BE49-F238E27FC236}">
                <a16:creationId xmlns:a16="http://schemas.microsoft.com/office/drawing/2014/main" id="{4FD2324D-D4EF-0307-2753-9E86CECD848C}"/>
              </a:ext>
            </a:extLst>
          </p:cNvPr>
          <p:cNvSpPr/>
          <p:nvPr/>
        </p:nvSpPr>
        <p:spPr>
          <a:xfrm>
            <a:off x="425618" y="3358805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2981C8FA-6401-C71D-3D2D-F05871150AA6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4">
            <a:extLst>
              <a:ext uri="{FF2B5EF4-FFF2-40B4-BE49-F238E27FC236}">
                <a16:creationId xmlns:a16="http://schemas.microsoft.com/office/drawing/2014/main" id="{AD1D86E2-21B4-B83A-ACDF-9FDBE1130A5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1" name="Google Shape;211;p4">
              <a:extLst>
                <a:ext uri="{FF2B5EF4-FFF2-40B4-BE49-F238E27FC236}">
                  <a16:creationId xmlns:a16="http://schemas.microsoft.com/office/drawing/2014/main" id="{03E7B1D8-EDA1-0541-6217-FF015F3B2D59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4">
              <a:extLst>
                <a:ext uri="{FF2B5EF4-FFF2-40B4-BE49-F238E27FC236}">
                  <a16:creationId xmlns:a16="http://schemas.microsoft.com/office/drawing/2014/main" id="{8140F996-36AE-5BE4-27BB-3D127261C36E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>
              <a:extLst>
                <a:ext uri="{FF2B5EF4-FFF2-40B4-BE49-F238E27FC236}">
                  <a16:creationId xmlns:a16="http://schemas.microsoft.com/office/drawing/2014/main" id="{5E562706-06D0-61B8-EAB0-B764B6B7DAE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4">
            <a:extLst>
              <a:ext uri="{FF2B5EF4-FFF2-40B4-BE49-F238E27FC236}">
                <a16:creationId xmlns:a16="http://schemas.microsoft.com/office/drawing/2014/main" id="{4C258E9A-44CE-71E1-8E90-EEEABC09C93F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>
            <a:extLst>
              <a:ext uri="{FF2B5EF4-FFF2-40B4-BE49-F238E27FC236}">
                <a16:creationId xmlns:a16="http://schemas.microsoft.com/office/drawing/2014/main" id="{A7D53CFA-39B9-0278-3E42-06C29CAB96C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>
            <a:extLst>
              <a:ext uri="{FF2B5EF4-FFF2-40B4-BE49-F238E27FC236}">
                <a16:creationId xmlns:a16="http://schemas.microsoft.com/office/drawing/2014/main" id="{7488984F-2B62-7803-2E2C-7587D14B5D25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>
            <a:extLst>
              <a:ext uri="{FF2B5EF4-FFF2-40B4-BE49-F238E27FC236}">
                <a16:creationId xmlns:a16="http://schemas.microsoft.com/office/drawing/2014/main" id="{0BB65EF1-50E4-FEB5-6D21-1AA5B6B536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>
            <a:extLst>
              <a:ext uri="{FF2B5EF4-FFF2-40B4-BE49-F238E27FC236}">
                <a16:creationId xmlns:a16="http://schemas.microsoft.com/office/drawing/2014/main" id="{24C3B2DE-9C08-B5DC-FD44-D8EB4AFE6A3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>
            <a:extLst>
              <a:ext uri="{FF2B5EF4-FFF2-40B4-BE49-F238E27FC236}">
                <a16:creationId xmlns:a16="http://schemas.microsoft.com/office/drawing/2014/main" id="{C81E240B-CA5E-A9B0-BB87-60FD53EC5E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>
            <a:extLst>
              <a:ext uri="{FF2B5EF4-FFF2-40B4-BE49-F238E27FC236}">
                <a16:creationId xmlns:a16="http://schemas.microsoft.com/office/drawing/2014/main" id="{B803A2CF-16EE-65A2-37F7-9E52B910670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>
            <a:extLst>
              <a:ext uri="{FF2B5EF4-FFF2-40B4-BE49-F238E27FC236}">
                <a16:creationId xmlns:a16="http://schemas.microsoft.com/office/drawing/2014/main" id="{C864F389-3E8D-3B0A-38F6-064CFA60C7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4">
            <a:extLst>
              <a:ext uri="{FF2B5EF4-FFF2-40B4-BE49-F238E27FC236}">
                <a16:creationId xmlns:a16="http://schemas.microsoft.com/office/drawing/2014/main" id="{4ADE5DED-B99D-3041-DFD8-134FFEE5AD01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83" name="Google Shape;283;p4" descr="EMB0000378c3f3d">
              <a:extLst>
                <a:ext uri="{FF2B5EF4-FFF2-40B4-BE49-F238E27FC236}">
                  <a16:creationId xmlns:a16="http://schemas.microsoft.com/office/drawing/2014/main" id="{9810A3F4-A90F-CF2E-94B1-24E87E7A03A7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4">
              <a:extLst>
                <a:ext uri="{FF2B5EF4-FFF2-40B4-BE49-F238E27FC236}">
                  <a16:creationId xmlns:a16="http://schemas.microsoft.com/office/drawing/2014/main" id="{17666E75-F011-0795-87D6-7174DF7C7BC0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oworld_reference.png">
            <a:extLst>
              <a:ext uri="{FF2B5EF4-FFF2-40B4-BE49-F238E27FC236}">
                <a16:creationId xmlns:a16="http://schemas.microsoft.com/office/drawing/2014/main" id="{1F5B729D-A5CD-3F35-545F-9D2A7ED074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179" b="58383" l="8581" r="17225">
                        <a14:foregroundMark x1="10938" y1="51391" x2="10938" y2="51391"/>
                        <a14:foregroundMark x1="10889" y1="50174" x2="10889" y2="50174"/>
                        <a14:foregroundMark x1="12939" y1="50609" x2="12939" y2="50609"/>
                        <a14:foregroundMark x1="13232" y1="51565" x2="13232" y2="51565"/>
                        <a14:foregroundMark x1="15088" y1="50870" x2="15088" y2="50870"/>
                        <a14:backgroundMark x1="11035" y1="51217" x2="11035" y2="51217"/>
                        <a14:backgroundMark x1="11035" y1="51304" x2="11035" y2="51304"/>
                        <a14:backgroundMark x1="10986" y1="50087" x2="10986" y2="50087"/>
                        <a14:backgroundMark x1="10986" y1="50348" x2="10986" y2="50348"/>
                        <a14:backgroundMark x1="12891" y1="50522" x2="12891" y2="50522"/>
                        <a14:backgroundMark x1="13135" y1="51739" x2="13135" y2="51739"/>
                        <a14:backgroundMark x1="15088" y1="51043" x2="15088" y2="51043"/>
                      </a14:backgroundRemoval>
                    </a14:imgEffect>
                  </a14:imgLayer>
                </a14:imgProps>
              </a:ext>
            </a:extLst>
          </a:blip>
          <a:srcRect l="7500" t="48029" r="81694" b="40466"/>
          <a:stretch/>
        </p:blipFill>
        <p:spPr>
          <a:xfrm>
            <a:off x="833181" y="2549818"/>
            <a:ext cx="1317523" cy="788990"/>
          </a:xfrm>
          <a:prstGeom prst="rect">
            <a:avLst/>
          </a:prstGeom>
        </p:spPr>
      </p:pic>
      <p:grpSp>
        <p:nvGrpSpPr>
          <p:cNvPr id="12" name="Google Shape;242;p4">
            <a:extLst>
              <a:ext uri="{FF2B5EF4-FFF2-40B4-BE49-F238E27FC236}">
                <a16:creationId xmlns:a16="http://schemas.microsoft.com/office/drawing/2014/main" id="{255325AB-55BF-841E-2130-C6C07D79B6A5}"/>
              </a:ext>
            </a:extLst>
          </p:cNvPr>
          <p:cNvGrpSpPr/>
          <p:nvPr/>
        </p:nvGrpSpPr>
        <p:grpSpPr>
          <a:xfrm>
            <a:off x="1260286" y="2035986"/>
            <a:ext cx="408282" cy="388046"/>
            <a:chOff x="450324" y="2128945"/>
            <a:chExt cx="889526" cy="845440"/>
          </a:xfrm>
        </p:grpSpPr>
        <p:sp>
          <p:nvSpPr>
            <p:cNvPr id="13" name="Google Shape;243;p4">
              <a:extLst>
                <a:ext uri="{FF2B5EF4-FFF2-40B4-BE49-F238E27FC236}">
                  <a16:creationId xmlns:a16="http://schemas.microsoft.com/office/drawing/2014/main" id="{0966F35C-2182-BDED-AC25-8C79B0D55F3F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4;p4">
              <a:extLst>
                <a:ext uri="{FF2B5EF4-FFF2-40B4-BE49-F238E27FC236}">
                  <a16:creationId xmlns:a16="http://schemas.microsoft.com/office/drawing/2014/main" id="{0A3D61D9-6A18-9DFB-2DEB-78FBB28A9029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245;p4">
              <a:extLst>
                <a:ext uri="{FF2B5EF4-FFF2-40B4-BE49-F238E27FC236}">
                  <a16:creationId xmlns:a16="http://schemas.microsoft.com/office/drawing/2014/main" id="{69312555-F0E8-4CAA-C9B0-66F7FBC634D8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Picture 1" descr="oworld_reference.png">
            <a:extLst>
              <a:ext uri="{FF2B5EF4-FFF2-40B4-BE49-F238E27FC236}">
                <a16:creationId xmlns:a16="http://schemas.microsoft.com/office/drawing/2014/main" id="{D35369FA-DA09-3CCD-F45B-C137792F3B3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7099" b="59159" l="46215" r="53535">
                        <a14:foregroundMark x1="49756" y1="52609" x2="49756" y2="52609"/>
                        <a14:foregroundMark x1="49756" y1="54870" x2="49756" y2="54870"/>
                        <a14:foregroundMark x1="49756" y1="57130" x2="49756" y2="57130"/>
                        <a14:foregroundMark x1="51709" y1="56870" x2="51709" y2="56870"/>
                        <a14:backgroundMark x1="48242" y1="52435" x2="48242" y2="52435"/>
                        <a14:backgroundMark x1="48828" y1="54783" x2="48828" y2="54783"/>
                        <a14:backgroundMark x1="48633" y1="56870" x2="48633" y2="56870"/>
                        <a14:backgroundMark x1="48926" y1="52261" x2="48926" y2="52261"/>
                        <a14:backgroundMark x1="51660" y1="55565" x2="51660" y2="55565"/>
                        <a14:backgroundMark x1="52637" y1="57739" x2="52637" y2="57739"/>
                        <a14:backgroundMark x1="49658" y1="52696" x2="49658" y2="52696"/>
                        <a14:backgroundMark x1="49658" y1="54870" x2="49658" y2="54870"/>
                        <a14:backgroundMark x1="49658" y1="57043" x2="49658" y2="57043"/>
                      </a14:backgroundRemoval>
                    </a14:imgEffect>
                  </a14:imgLayer>
                </a14:imgProps>
              </a:ext>
            </a:extLst>
          </a:blip>
          <a:srcRect l="45300" t="45591" r="45550" b="39333"/>
          <a:stretch/>
        </p:blipFill>
        <p:spPr>
          <a:xfrm>
            <a:off x="5439030" y="2363938"/>
            <a:ext cx="1115567" cy="1033862"/>
          </a:xfrm>
          <a:prstGeom prst="rect">
            <a:avLst/>
          </a:prstGeom>
        </p:spPr>
      </p:pic>
      <p:pic>
        <p:nvPicPr>
          <p:cNvPr id="20" name="Picture 1" descr="oworld_reference.png">
            <a:extLst>
              <a:ext uri="{FF2B5EF4-FFF2-40B4-BE49-F238E27FC236}">
                <a16:creationId xmlns:a16="http://schemas.microsoft.com/office/drawing/2014/main" id="{F7512FB9-8BCF-1F08-B8DA-DCE56C40C7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64525" r="73169">
                        <a14:backgroundMark x1="68799" y1="49826" x2="68799" y2="49826"/>
                        <a14:backgroundMark x1="68652" y1="56957" x2="68652" y2="56957"/>
                        <a14:backgroundMark x1="71582" y1="57043" x2="71582" y2="57043"/>
                        <a14:backgroundMark x1="65771" y1="56870" x2="65771" y2="56870"/>
                      </a14:backgroundRemoval>
                    </a14:imgEffect>
                  </a14:imgLayer>
                </a14:imgProps>
              </a:ext>
            </a:extLst>
          </a:blip>
          <a:srcRect l="63444" t="46882" r="25750" b="40466"/>
          <a:stretch/>
        </p:blipFill>
        <p:spPr>
          <a:xfrm>
            <a:off x="7684779" y="2431832"/>
            <a:ext cx="1317522" cy="867648"/>
          </a:xfrm>
          <a:prstGeom prst="rect">
            <a:avLst/>
          </a:prstGeom>
        </p:spPr>
      </p:pic>
      <p:pic>
        <p:nvPicPr>
          <p:cNvPr id="21" name="Picture 1" descr="oworld_reference.png">
            <a:extLst>
              <a:ext uri="{FF2B5EF4-FFF2-40B4-BE49-F238E27FC236}">
                <a16:creationId xmlns:a16="http://schemas.microsoft.com/office/drawing/2014/main" id="{8B77BEC7-BA5E-8515-410B-02A90AC0D50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83490" r="90810">
                        <a14:foregroundMark x1="87646" y1="53652" x2="87646" y2="53652"/>
                        <a14:foregroundMark x1="89404" y1="56957" x2="89404" y2="56957"/>
                        <a14:foregroundMark x1="90576" y1="57565" x2="90576" y2="57565"/>
                      </a14:backgroundRemoval>
                    </a14:imgEffect>
                  </a14:imgLayer>
                </a14:imgProps>
              </a:ext>
            </a:extLst>
          </a:blip>
          <a:srcRect l="82575" t="46882" r="8275" b="40466"/>
          <a:stretch/>
        </p:blipFill>
        <p:spPr>
          <a:xfrm>
            <a:off x="9935836" y="2422000"/>
            <a:ext cx="1115568" cy="867648"/>
          </a:xfrm>
          <a:prstGeom prst="rect">
            <a:avLst/>
          </a:prstGeom>
        </p:spPr>
      </p:pic>
      <p:grpSp>
        <p:nvGrpSpPr>
          <p:cNvPr id="24" name="Google Shape;252;p4">
            <a:extLst>
              <a:ext uri="{FF2B5EF4-FFF2-40B4-BE49-F238E27FC236}">
                <a16:creationId xmlns:a16="http://schemas.microsoft.com/office/drawing/2014/main" id="{E2261AD1-885F-A6A0-4289-BE542B9B6FB0}"/>
              </a:ext>
            </a:extLst>
          </p:cNvPr>
          <p:cNvGrpSpPr/>
          <p:nvPr/>
        </p:nvGrpSpPr>
        <p:grpSpPr>
          <a:xfrm>
            <a:off x="3541823" y="2000986"/>
            <a:ext cx="418718" cy="380422"/>
            <a:chOff x="427587" y="2066948"/>
            <a:chExt cx="912263" cy="828829"/>
          </a:xfrm>
        </p:grpSpPr>
        <p:sp>
          <p:nvSpPr>
            <p:cNvPr id="25" name="Google Shape;253;p4">
              <a:extLst>
                <a:ext uri="{FF2B5EF4-FFF2-40B4-BE49-F238E27FC236}">
                  <a16:creationId xmlns:a16="http://schemas.microsoft.com/office/drawing/2014/main" id="{40847C17-2F27-8CE5-A645-ECCE0B5BEF04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4;p4">
              <a:extLst>
                <a:ext uri="{FF2B5EF4-FFF2-40B4-BE49-F238E27FC236}">
                  <a16:creationId xmlns:a16="http://schemas.microsoft.com/office/drawing/2014/main" id="{152CA11E-1736-EDE0-5904-B6827DA6A78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55;p4">
              <a:extLst>
                <a:ext uri="{FF2B5EF4-FFF2-40B4-BE49-F238E27FC236}">
                  <a16:creationId xmlns:a16="http://schemas.microsoft.com/office/drawing/2014/main" id="{D0F59F99-D5FD-7290-C416-C8EBA10555A7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63;p4">
            <a:extLst>
              <a:ext uri="{FF2B5EF4-FFF2-40B4-BE49-F238E27FC236}">
                <a16:creationId xmlns:a16="http://schemas.microsoft.com/office/drawing/2014/main" id="{0A98322B-9DCC-39DF-F72F-4D4873642367}"/>
              </a:ext>
            </a:extLst>
          </p:cNvPr>
          <p:cNvGrpSpPr/>
          <p:nvPr/>
        </p:nvGrpSpPr>
        <p:grpSpPr>
          <a:xfrm>
            <a:off x="5721116" y="2029442"/>
            <a:ext cx="418718" cy="380422"/>
            <a:chOff x="427587" y="2066948"/>
            <a:chExt cx="912263" cy="828829"/>
          </a:xfrm>
        </p:grpSpPr>
        <p:sp>
          <p:nvSpPr>
            <p:cNvPr id="29" name="Google Shape;264;p4">
              <a:extLst>
                <a:ext uri="{FF2B5EF4-FFF2-40B4-BE49-F238E27FC236}">
                  <a16:creationId xmlns:a16="http://schemas.microsoft.com/office/drawing/2014/main" id="{929661DF-5C8E-1616-1E98-991FE23B330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265;p4">
              <a:extLst>
                <a:ext uri="{FF2B5EF4-FFF2-40B4-BE49-F238E27FC236}">
                  <a16:creationId xmlns:a16="http://schemas.microsoft.com/office/drawing/2014/main" id="{391592F9-E0AD-48F2-F61C-D9CA48D1F8F9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266;p4">
              <a:extLst>
                <a:ext uri="{FF2B5EF4-FFF2-40B4-BE49-F238E27FC236}">
                  <a16:creationId xmlns:a16="http://schemas.microsoft.com/office/drawing/2014/main" id="{EBFE58E4-098B-DF1B-42D7-DEA02879AEC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32;p4">
            <a:extLst>
              <a:ext uri="{FF2B5EF4-FFF2-40B4-BE49-F238E27FC236}">
                <a16:creationId xmlns:a16="http://schemas.microsoft.com/office/drawing/2014/main" id="{241E70DF-6ECF-CE49-C691-AB7E0B02874F}"/>
              </a:ext>
            </a:extLst>
          </p:cNvPr>
          <p:cNvGrpSpPr/>
          <p:nvPr/>
        </p:nvGrpSpPr>
        <p:grpSpPr>
          <a:xfrm>
            <a:off x="8069476" y="1980676"/>
            <a:ext cx="418718" cy="380422"/>
            <a:chOff x="427587" y="2066948"/>
            <a:chExt cx="912263" cy="828829"/>
          </a:xfrm>
        </p:grpSpPr>
        <p:sp>
          <p:nvSpPr>
            <p:cNvPr id="33" name="Google Shape;233;p4">
              <a:extLst>
                <a:ext uri="{FF2B5EF4-FFF2-40B4-BE49-F238E27FC236}">
                  <a16:creationId xmlns:a16="http://schemas.microsoft.com/office/drawing/2014/main" id="{FB463C7A-D7EC-0CA7-9605-F84D4EB19DB5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234;p4">
              <a:extLst>
                <a:ext uri="{FF2B5EF4-FFF2-40B4-BE49-F238E27FC236}">
                  <a16:creationId xmlns:a16="http://schemas.microsoft.com/office/drawing/2014/main" id="{B6CA79E7-CB09-532C-E53B-29AFEC4D9F8C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235;p4">
              <a:extLst>
                <a:ext uri="{FF2B5EF4-FFF2-40B4-BE49-F238E27FC236}">
                  <a16:creationId xmlns:a16="http://schemas.microsoft.com/office/drawing/2014/main" id="{57C1FFFA-EBA3-BC96-4F24-FBD8CA1A261C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75;p4">
            <a:extLst>
              <a:ext uri="{FF2B5EF4-FFF2-40B4-BE49-F238E27FC236}">
                <a16:creationId xmlns:a16="http://schemas.microsoft.com/office/drawing/2014/main" id="{EDB03D61-938D-7677-6392-1CA040912B3A}"/>
              </a:ext>
            </a:extLst>
          </p:cNvPr>
          <p:cNvGrpSpPr/>
          <p:nvPr/>
        </p:nvGrpSpPr>
        <p:grpSpPr>
          <a:xfrm>
            <a:off x="10253975" y="1981990"/>
            <a:ext cx="418718" cy="380422"/>
            <a:chOff x="427587" y="2066948"/>
            <a:chExt cx="912263" cy="828829"/>
          </a:xfrm>
        </p:grpSpPr>
        <p:sp>
          <p:nvSpPr>
            <p:cNvPr id="37" name="Google Shape;276;p4">
              <a:extLst>
                <a:ext uri="{FF2B5EF4-FFF2-40B4-BE49-F238E27FC236}">
                  <a16:creationId xmlns:a16="http://schemas.microsoft.com/office/drawing/2014/main" id="{254AD425-C0CE-05C4-4613-C8B54D0E51C1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277;p4">
              <a:extLst>
                <a:ext uri="{FF2B5EF4-FFF2-40B4-BE49-F238E27FC236}">
                  <a16:creationId xmlns:a16="http://schemas.microsoft.com/office/drawing/2014/main" id="{DBC5DF9A-F737-124B-2A4F-AD91206228B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278;p4">
              <a:extLst>
                <a:ext uri="{FF2B5EF4-FFF2-40B4-BE49-F238E27FC236}">
                  <a16:creationId xmlns:a16="http://schemas.microsoft.com/office/drawing/2014/main" id="{6AF9CAC1-E512-E6E4-E993-633BB86E8087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EA0A405-4228-3800-B19D-4E8E85468A31}"/>
              </a:ext>
            </a:extLst>
          </p:cNvPr>
          <p:cNvCxnSpPr>
            <a:cxnSpLocks/>
            <a:stCxn id="46" idx="0"/>
            <a:endCxn id="43" idx="2"/>
          </p:cNvCxnSpPr>
          <p:nvPr/>
        </p:nvCxnSpPr>
        <p:spPr>
          <a:xfrm flipV="1">
            <a:off x="2490911" y="278970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77376E46-5674-BE38-1EAE-7D3D38CB4CED}"/>
              </a:ext>
            </a:extLst>
          </p:cNvPr>
          <p:cNvSpPr/>
          <p:nvPr/>
        </p:nvSpPr>
        <p:spPr>
          <a:xfrm>
            <a:off x="2610098" y="275674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AE36E92-BFF3-FBCB-C718-2AE9EB8E742E}"/>
              </a:ext>
            </a:extLst>
          </p:cNvPr>
          <p:cNvCxnSpPr/>
          <p:nvPr/>
        </p:nvCxnSpPr>
        <p:spPr>
          <a:xfrm flipV="1">
            <a:off x="4766055" y="276684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C77E2C7C-EDB0-8691-686C-C6CCB7A7E684}"/>
              </a:ext>
            </a:extLst>
          </p:cNvPr>
          <p:cNvSpPr/>
          <p:nvPr/>
        </p:nvSpPr>
        <p:spPr>
          <a:xfrm>
            <a:off x="4890322" y="273388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AEBE48C-371C-6607-EDED-3893CAF76126}"/>
              </a:ext>
            </a:extLst>
          </p:cNvPr>
          <p:cNvCxnSpPr/>
          <p:nvPr/>
        </p:nvCxnSpPr>
        <p:spPr>
          <a:xfrm flipV="1">
            <a:off x="6998475" y="2762882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E66699AD-5793-E58E-FCDE-111EFECFD6AF}"/>
              </a:ext>
            </a:extLst>
          </p:cNvPr>
          <p:cNvSpPr/>
          <p:nvPr/>
        </p:nvSpPr>
        <p:spPr>
          <a:xfrm>
            <a:off x="7122742" y="2729931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C7C079F-D0DF-625C-8311-F05C83BFD84B}"/>
              </a:ext>
            </a:extLst>
          </p:cNvPr>
          <p:cNvCxnSpPr/>
          <p:nvPr/>
        </p:nvCxnSpPr>
        <p:spPr>
          <a:xfrm flipV="1">
            <a:off x="9250493" y="277013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C9CE87AC-5220-ED1F-4B7F-446F053B6E0C}"/>
              </a:ext>
            </a:extLst>
          </p:cNvPr>
          <p:cNvSpPr/>
          <p:nvPr/>
        </p:nvSpPr>
        <p:spPr>
          <a:xfrm>
            <a:off x="9374760" y="273717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63EA55C-8948-B3C1-6F06-093361887361}"/>
              </a:ext>
            </a:extLst>
          </p:cNvPr>
          <p:cNvSpPr/>
          <p:nvPr/>
        </p:nvSpPr>
        <p:spPr>
          <a:xfrm>
            <a:off x="443982" y="3588599"/>
            <a:ext cx="2470945" cy="1421063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ED366A-1C0E-0607-9F5F-C487AA0C782C}"/>
              </a:ext>
            </a:extLst>
          </p:cNvPr>
          <p:cNvSpPr txBox="1"/>
          <p:nvPr/>
        </p:nvSpPr>
        <p:spPr>
          <a:xfrm>
            <a:off x="804969" y="3612967"/>
            <a:ext cx="1649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</a:t>
            </a:r>
            <a:r>
              <a:rPr lang="ko-KR" altLang="en-US" err="1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전처리</a:t>
            </a:r>
            <a:endParaRPr lang="ko-KR" altLang="en-US">
              <a:solidFill>
                <a:srgbClr val="3378C8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9CD62B1-0005-CB38-8354-1FD59B193F51}"/>
              </a:ext>
            </a:extLst>
          </p:cNvPr>
          <p:cNvSpPr/>
          <p:nvPr/>
        </p:nvSpPr>
        <p:spPr>
          <a:xfrm>
            <a:off x="669853" y="5210284"/>
            <a:ext cx="10898422" cy="1136619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E5FF8502-6A32-8518-3130-0E92D776012C}"/>
              </a:ext>
            </a:extLst>
          </p:cNvPr>
          <p:cNvCxnSpPr/>
          <p:nvPr/>
        </p:nvCxnSpPr>
        <p:spPr>
          <a:xfrm>
            <a:off x="1835677" y="5254414"/>
            <a:ext cx="0" cy="1057713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7D0B2BE1-DE8D-A9DC-DB5F-0A9A28752AB1}"/>
              </a:ext>
            </a:extLst>
          </p:cNvPr>
          <p:cNvSpPr txBox="1"/>
          <p:nvPr/>
        </p:nvSpPr>
        <p:spPr>
          <a:xfrm>
            <a:off x="2022079" y="5231695"/>
            <a:ext cx="205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 및 협업 구조</a:t>
            </a:r>
          </a:p>
        </p:txBody>
      </p:sp>
      <p:sp>
        <p:nvSpPr>
          <p:cNvPr id="3" name="Google Shape;241;p4">
            <a:extLst>
              <a:ext uri="{FF2B5EF4-FFF2-40B4-BE49-F238E27FC236}">
                <a16:creationId xmlns:a16="http://schemas.microsoft.com/office/drawing/2014/main" id="{5FA26357-0C62-0FC2-6FCD-B043414C3521}"/>
              </a:ext>
            </a:extLst>
          </p:cNvPr>
          <p:cNvSpPr txBox="1"/>
          <p:nvPr/>
        </p:nvSpPr>
        <p:spPr>
          <a:xfrm>
            <a:off x="833181" y="1419846"/>
            <a:ext cx="428324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ko-KR" altLang="en-US" sz="1800" b="1" i="0" u="none" strike="noStrike" cap="none">
                <a:solidFill>
                  <a:srgbClr val="C9AB49"/>
                </a:solidFill>
                <a:latin typeface="Arial"/>
                <a:ea typeface="Arial"/>
                <a:cs typeface="Arial"/>
                <a:sym typeface="Arial"/>
              </a:rPr>
              <a:t>프로젝트 구조 </a:t>
            </a:r>
            <a:endParaRPr lang="ko-KR" altLang="en-US" sz="1200" b="0" i="0" u="none" strike="noStrike" cap="none">
              <a:solidFill>
                <a:srgbClr val="C9AB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40;p4">
            <a:extLst>
              <a:ext uri="{FF2B5EF4-FFF2-40B4-BE49-F238E27FC236}">
                <a16:creationId xmlns:a16="http://schemas.microsoft.com/office/drawing/2014/main" id="{1574552B-9209-1B5C-8EC2-8D73B70B1C7E}"/>
              </a:ext>
            </a:extLst>
          </p:cNvPr>
          <p:cNvSpPr/>
          <p:nvPr/>
        </p:nvSpPr>
        <p:spPr>
          <a:xfrm rot="5400000">
            <a:off x="-290568" y="1539662"/>
            <a:ext cx="743855" cy="15736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" name="Google Shape;242;p4">
            <a:extLst>
              <a:ext uri="{FF2B5EF4-FFF2-40B4-BE49-F238E27FC236}">
                <a16:creationId xmlns:a16="http://schemas.microsoft.com/office/drawing/2014/main" id="{37A73BEC-2C90-6B6D-F640-C3DC8187BC55}"/>
              </a:ext>
            </a:extLst>
          </p:cNvPr>
          <p:cNvGrpSpPr/>
          <p:nvPr/>
        </p:nvGrpSpPr>
        <p:grpSpPr>
          <a:xfrm>
            <a:off x="548045" y="3668242"/>
            <a:ext cx="251929" cy="217179"/>
            <a:chOff x="450324" y="2128945"/>
            <a:chExt cx="889526" cy="766832"/>
          </a:xfrm>
        </p:grpSpPr>
        <p:sp>
          <p:nvSpPr>
            <p:cNvPr id="40" name="Google Shape;243;p4">
              <a:extLst>
                <a:ext uri="{FF2B5EF4-FFF2-40B4-BE49-F238E27FC236}">
                  <a16:creationId xmlns:a16="http://schemas.microsoft.com/office/drawing/2014/main" id="{A446F019-767D-0D5D-A42E-02ECD9DEE760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" name="Google Shape;244;p4">
              <a:extLst>
                <a:ext uri="{FF2B5EF4-FFF2-40B4-BE49-F238E27FC236}">
                  <a16:creationId xmlns:a16="http://schemas.microsoft.com/office/drawing/2014/main" id="{52016CE8-405F-7631-E1D7-9F50F0A8343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" name="Google Shape;245;p4">
              <a:extLst>
                <a:ext uri="{FF2B5EF4-FFF2-40B4-BE49-F238E27FC236}">
                  <a16:creationId xmlns:a16="http://schemas.microsoft.com/office/drawing/2014/main" id="{E313C50D-1809-08C9-A6D8-40603871ABCE}"/>
                </a:ext>
              </a:extLst>
            </p:cNvPr>
            <p:cNvSpPr txBox="1"/>
            <p:nvPr/>
          </p:nvSpPr>
          <p:spPr>
            <a:xfrm>
              <a:off x="596389" y="2191170"/>
              <a:ext cx="557043" cy="652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A776704C-F031-F87B-0752-84CBB0A3108D}"/>
              </a:ext>
            </a:extLst>
          </p:cNvPr>
          <p:cNvSpPr txBox="1"/>
          <p:nvPr/>
        </p:nvSpPr>
        <p:spPr>
          <a:xfrm>
            <a:off x="535593" y="3946007"/>
            <a:ext cx="2066362" cy="54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EDA</a:t>
            </a:r>
          </a:p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Feature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선정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E1A070FD-15AE-1953-7694-56EF9CD273AC}"/>
              </a:ext>
            </a:extLst>
          </p:cNvPr>
          <p:cNvSpPr/>
          <p:nvPr/>
        </p:nvSpPr>
        <p:spPr>
          <a:xfrm>
            <a:off x="3312964" y="3588600"/>
            <a:ext cx="2470945" cy="1386366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ADE5547-3DDF-64ED-6A89-C7D72E936E7F}"/>
              </a:ext>
            </a:extLst>
          </p:cNvPr>
          <p:cNvSpPr txBox="1"/>
          <p:nvPr/>
        </p:nvSpPr>
        <p:spPr>
          <a:xfrm>
            <a:off x="3726413" y="3596654"/>
            <a:ext cx="1649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err="1">
                <a:solidFill>
                  <a:srgbClr val="C9AB49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머신러닝</a:t>
            </a:r>
            <a:endParaRPr lang="ko-KR" altLang="en-US">
              <a:solidFill>
                <a:srgbClr val="C9AB49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CE62DF2-F775-FBC8-B952-AD0B6ED6A2D9}"/>
              </a:ext>
            </a:extLst>
          </p:cNvPr>
          <p:cNvSpPr txBox="1"/>
          <p:nvPr/>
        </p:nvSpPr>
        <p:spPr>
          <a:xfrm>
            <a:off x="3435324" y="3948876"/>
            <a:ext cx="2210477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이용자 수 및 혼잡도 예측 모델 제작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8B78F43F-D9FD-0AFC-92E8-DF1407C02F0D}"/>
              </a:ext>
            </a:extLst>
          </p:cNvPr>
          <p:cNvSpPr/>
          <p:nvPr/>
        </p:nvSpPr>
        <p:spPr>
          <a:xfrm>
            <a:off x="6181946" y="3588599"/>
            <a:ext cx="2470945" cy="1345905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34009DD7-548D-714C-B122-E87C69C38194}"/>
              </a:ext>
            </a:extLst>
          </p:cNvPr>
          <p:cNvSpPr txBox="1"/>
          <p:nvPr/>
        </p:nvSpPr>
        <p:spPr>
          <a:xfrm>
            <a:off x="6584715" y="3612967"/>
            <a:ext cx="1649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3378C8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OpenAI API</a:t>
            </a:r>
            <a:endParaRPr lang="ko-KR" altLang="en-US" b="1">
              <a:solidFill>
                <a:srgbClr val="3378C8"/>
              </a:solidFill>
              <a:latin typeface="Ebrima" panose="02000000000000000000" pitchFamily="2" charset="0"/>
              <a:ea typeface="HY헤드라인M" panose="02030600000101010101" pitchFamily="18" charset="-127"/>
              <a:cs typeface="Ebrima" panose="02000000000000000000" pitchFamily="2" charset="0"/>
            </a:endParaRPr>
          </a:p>
        </p:txBody>
      </p:sp>
      <p:grpSp>
        <p:nvGrpSpPr>
          <p:cNvPr id="255" name="Google Shape;252;p4">
            <a:extLst>
              <a:ext uri="{FF2B5EF4-FFF2-40B4-BE49-F238E27FC236}">
                <a16:creationId xmlns:a16="http://schemas.microsoft.com/office/drawing/2014/main" id="{CEAE6836-FA43-E25D-764D-7DE97716D281}"/>
              </a:ext>
            </a:extLst>
          </p:cNvPr>
          <p:cNvGrpSpPr/>
          <p:nvPr/>
        </p:nvGrpSpPr>
        <p:grpSpPr>
          <a:xfrm>
            <a:off x="3465971" y="3650892"/>
            <a:ext cx="257137" cy="221669"/>
            <a:chOff x="450324" y="2128945"/>
            <a:chExt cx="889526" cy="766832"/>
          </a:xfrm>
        </p:grpSpPr>
        <p:sp>
          <p:nvSpPr>
            <p:cNvPr id="256" name="Google Shape;253;p4">
              <a:extLst>
                <a:ext uri="{FF2B5EF4-FFF2-40B4-BE49-F238E27FC236}">
                  <a16:creationId xmlns:a16="http://schemas.microsoft.com/office/drawing/2014/main" id="{111D9ECD-0834-716F-3F02-F18B7D258FC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8" name="Google Shape;255;p4">
              <a:extLst>
                <a:ext uri="{FF2B5EF4-FFF2-40B4-BE49-F238E27FC236}">
                  <a16:creationId xmlns:a16="http://schemas.microsoft.com/office/drawing/2014/main" id="{9E7879B0-CF5B-E912-BDD4-CC99A8E32DF8}"/>
                </a:ext>
              </a:extLst>
            </p:cNvPr>
            <p:cNvSpPr txBox="1"/>
            <p:nvPr/>
          </p:nvSpPr>
          <p:spPr>
            <a:xfrm>
              <a:off x="616566" y="2192801"/>
              <a:ext cx="557045" cy="63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4;p4">
              <a:extLst>
                <a:ext uri="{FF2B5EF4-FFF2-40B4-BE49-F238E27FC236}">
                  <a16:creationId xmlns:a16="http://schemas.microsoft.com/office/drawing/2014/main" id="{125B3450-83B2-8B0F-A009-E416BF893DEE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43" name="Google Shape;242;p4">
            <a:extLst>
              <a:ext uri="{FF2B5EF4-FFF2-40B4-BE49-F238E27FC236}">
                <a16:creationId xmlns:a16="http://schemas.microsoft.com/office/drawing/2014/main" id="{436D1422-ED88-B011-34CB-A26298D82DFD}"/>
              </a:ext>
            </a:extLst>
          </p:cNvPr>
          <p:cNvGrpSpPr/>
          <p:nvPr/>
        </p:nvGrpSpPr>
        <p:grpSpPr>
          <a:xfrm>
            <a:off x="6327791" y="3668242"/>
            <a:ext cx="251929" cy="217179"/>
            <a:chOff x="450324" y="2128945"/>
            <a:chExt cx="889526" cy="766832"/>
          </a:xfrm>
        </p:grpSpPr>
        <p:sp>
          <p:nvSpPr>
            <p:cNvPr id="244" name="Google Shape;243;p4">
              <a:extLst>
                <a:ext uri="{FF2B5EF4-FFF2-40B4-BE49-F238E27FC236}">
                  <a16:creationId xmlns:a16="http://schemas.microsoft.com/office/drawing/2014/main" id="{1B345246-622C-264D-4E49-8EA70B6AE5B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4;p4">
              <a:extLst>
                <a:ext uri="{FF2B5EF4-FFF2-40B4-BE49-F238E27FC236}">
                  <a16:creationId xmlns:a16="http://schemas.microsoft.com/office/drawing/2014/main" id="{DB33D94B-CB29-D443-5BA7-5299115095BA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245;p4">
              <a:extLst>
                <a:ext uri="{FF2B5EF4-FFF2-40B4-BE49-F238E27FC236}">
                  <a16:creationId xmlns:a16="http://schemas.microsoft.com/office/drawing/2014/main" id="{EB1B252B-C78F-AB5E-7493-ACC15126FB2C}"/>
                </a:ext>
              </a:extLst>
            </p:cNvPr>
            <p:cNvSpPr txBox="1"/>
            <p:nvPr/>
          </p:nvSpPr>
          <p:spPr>
            <a:xfrm>
              <a:off x="596389" y="2191170"/>
              <a:ext cx="557043" cy="570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sz="105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B9F06514-882A-6741-5237-6E5186F76A04}"/>
              </a:ext>
            </a:extLst>
          </p:cNvPr>
          <p:cNvSpPr txBox="1"/>
          <p:nvPr/>
        </p:nvSpPr>
        <p:spPr>
          <a:xfrm>
            <a:off x="6448083" y="3965470"/>
            <a:ext cx="206636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EDA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831B4B17-AD29-0B90-205B-C7EC9BFA7F54}"/>
              </a:ext>
            </a:extLst>
          </p:cNvPr>
          <p:cNvSpPr/>
          <p:nvPr/>
        </p:nvSpPr>
        <p:spPr>
          <a:xfrm>
            <a:off x="9050928" y="3588600"/>
            <a:ext cx="2470945" cy="1343980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9BC5BCF-2ACC-8010-D956-C2A39A3B4F2E}"/>
              </a:ext>
            </a:extLst>
          </p:cNvPr>
          <p:cNvSpPr txBox="1"/>
          <p:nvPr/>
        </p:nvSpPr>
        <p:spPr>
          <a:xfrm>
            <a:off x="9411915" y="3607055"/>
            <a:ext cx="1649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err="1">
                <a:solidFill>
                  <a:srgbClr val="C9AB49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Streamlit</a:t>
            </a:r>
            <a:r>
              <a:rPr lang="en-US" altLang="ko-KR" b="1">
                <a:solidFill>
                  <a:srgbClr val="C9AB49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UI</a:t>
            </a:r>
            <a:endParaRPr lang="ko-KR" altLang="en-US" b="1">
              <a:solidFill>
                <a:srgbClr val="C9AB49"/>
              </a:solidFill>
              <a:latin typeface="Ebrima" panose="02000000000000000000" pitchFamily="2" charset="0"/>
              <a:ea typeface="HY헤드라인M" panose="02030600000101010101" pitchFamily="18" charset="-127"/>
              <a:cs typeface="Ebrima" panose="02000000000000000000" pitchFamily="2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8ED182F8-BCE8-112F-CBBF-83FFD1F81E07}"/>
              </a:ext>
            </a:extLst>
          </p:cNvPr>
          <p:cNvSpPr txBox="1"/>
          <p:nvPr/>
        </p:nvSpPr>
        <p:spPr>
          <a:xfrm>
            <a:off x="9275283" y="3959558"/>
            <a:ext cx="2066362" cy="101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기상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·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예측 인원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·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혼잡도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·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이용자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Score · </a:t>
            </a:r>
            <a:r>
              <a:rPr lang="ko-KR" altLang="en-US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날씨 </a:t>
            </a:r>
            <a:r>
              <a:rPr lang="en-US" altLang="ko-KR" sz="14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Score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59" name="Google Shape;252;p4">
            <a:extLst>
              <a:ext uri="{FF2B5EF4-FFF2-40B4-BE49-F238E27FC236}">
                <a16:creationId xmlns:a16="http://schemas.microsoft.com/office/drawing/2014/main" id="{1EF9A40A-6535-BEFF-8A84-D20E87518290}"/>
              </a:ext>
            </a:extLst>
          </p:cNvPr>
          <p:cNvGrpSpPr/>
          <p:nvPr/>
        </p:nvGrpSpPr>
        <p:grpSpPr>
          <a:xfrm>
            <a:off x="9185666" y="3645661"/>
            <a:ext cx="257137" cy="221669"/>
            <a:chOff x="450324" y="2128945"/>
            <a:chExt cx="889526" cy="766832"/>
          </a:xfrm>
        </p:grpSpPr>
        <p:sp>
          <p:nvSpPr>
            <p:cNvPr id="260" name="Google Shape;253;p4">
              <a:extLst>
                <a:ext uri="{FF2B5EF4-FFF2-40B4-BE49-F238E27FC236}">
                  <a16:creationId xmlns:a16="http://schemas.microsoft.com/office/drawing/2014/main" id="{22639C05-1D76-A431-7E44-9B2A975F3EC9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1" name="Google Shape;255;p4">
              <a:extLst>
                <a:ext uri="{FF2B5EF4-FFF2-40B4-BE49-F238E27FC236}">
                  <a16:creationId xmlns:a16="http://schemas.microsoft.com/office/drawing/2014/main" id="{6CB55B9A-AA14-E145-C086-9021DC50B7EC}"/>
                </a:ext>
              </a:extLst>
            </p:cNvPr>
            <p:cNvSpPr txBox="1"/>
            <p:nvPr/>
          </p:nvSpPr>
          <p:spPr>
            <a:xfrm>
              <a:off x="616566" y="2192801"/>
              <a:ext cx="557045" cy="5589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sz="105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54;p4">
              <a:extLst>
                <a:ext uri="{FF2B5EF4-FFF2-40B4-BE49-F238E27FC236}">
                  <a16:creationId xmlns:a16="http://schemas.microsoft.com/office/drawing/2014/main" id="{311E8635-51CE-D3F3-4E84-571E68545A15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64" name="그림 263">
            <a:extLst>
              <a:ext uri="{FF2B5EF4-FFF2-40B4-BE49-F238E27FC236}">
                <a16:creationId xmlns:a16="http://schemas.microsoft.com/office/drawing/2014/main" id="{ACAF0711-8D85-0E97-460C-F8E488F645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910" y="5364573"/>
            <a:ext cx="845387" cy="845387"/>
          </a:xfrm>
          <a:prstGeom prst="rect">
            <a:avLst/>
          </a:prstGeom>
        </p:spPr>
      </p:pic>
      <p:pic>
        <p:nvPicPr>
          <p:cNvPr id="274" name="그림 273">
            <a:extLst>
              <a:ext uri="{FF2B5EF4-FFF2-40B4-BE49-F238E27FC236}">
                <a16:creationId xmlns:a16="http://schemas.microsoft.com/office/drawing/2014/main" id="{C295C196-6C0F-C6CA-8961-A4C72FCC37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77" b="96680" l="0" r="97266">
                        <a14:foregroundMark x1="7184" y1="20421" x2="4883" y2="29297"/>
                        <a14:foregroundMark x1="7497" y1="19212" x2="7295" y2="19993"/>
                        <a14:foregroundMark x1="8984" y1="13477" x2="8636" y2="14821"/>
                        <a14:foregroundMark x1="5655" y1="18060" x2="5469" y2="91797"/>
                        <a14:foregroundMark x1="5664" y1="14648" x2="5661" y2="15703"/>
                        <a14:foregroundMark x1="12753" y1="95653" x2="15430" y2="97070"/>
                        <a14:foregroundMark x1="5469" y1="91797" x2="12446" y2="95491"/>
                        <a14:foregroundMark x1="15430" y1="97070" x2="43945" y2="98047"/>
                        <a14:foregroundMark x1="43945" y1="98047" x2="88281" y2="95117"/>
                        <a14:foregroundMark x1="90697" y1="88080" x2="99414" y2="62695"/>
                        <a14:foregroundMark x1="88281" y1="95117" x2="89017" y2="92973"/>
                        <a14:foregroundMark x1="90016" y1="14416" x2="89453" y2="11523"/>
                        <a14:foregroundMark x1="99414" y1="62695" x2="91135" y2="20163"/>
                        <a14:foregroundMark x1="10914" y1="13144" x2="4297" y2="13281"/>
                        <a14:foregroundMark x1="89453" y1="11523" x2="12866" y2="13104"/>
                        <a14:foregroundMark x1="21289" y1="3906" x2="21680" y2="18359"/>
                        <a14:foregroundMark x1="6055" y1="18750" x2="0" y2="72852"/>
                        <a14:foregroundMark x1="0" y1="72852" x2="3125" y2="86914"/>
                        <a14:foregroundMark x1="12541" y1="95137" x2="40625" y2="96680"/>
                        <a14:foregroundMark x1="5078" y1="94727" x2="12124" y2="95114"/>
                        <a14:foregroundMark x1="40625" y1="96680" x2="49023" y2="96484"/>
                        <a14:foregroundMark x1="93362" y1="90400" x2="96484" y2="90039"/>
                        <a14:foregroundMark x1="72852" y1="92773" x2="86919" y2="91146"/>
                        <a14:foregroundMark x1="83203" y1="47852" x2="83203" y2="47852"/>
                        <a14:foregroundMark x1="81836" y1="62500" x2="81836" y2="62500"/>
                        <a14:foregroundMark x1="67969" y1="78711" x2="67969" y2="78711"/>
                        <a14:foregroundMark x1="67383" y1="64258" x2="67383" y2="62891"/>
                        <a14:foregroundMark x1="69727" y1="48047" x2="69727" y2="48047"/>
                        <a14:foregroundMark x1="51563" y1="48438" x2="51563" y2="48438"/>
                        <a14:foregroundMark x1="31250" y1="49023" x2="31250" y2="49023"/>
                        <a14:foregroundMark x1="19141" y1="49023" x2="19141" y2="49023"/>
                        <a14:foregroundMark x1="20313" y1="64063" x2="20313" y2="64063"/>
                        <a14:foregroundMark x1="32813" y1="63672" x2="32813" y2="63672"/>
                        <a14:foregroundMark x1="35547" y1="78711" x2="35547" y2="78711"/>
                        <a14:foregroundMark x1="18555" y1="81445" x2="21094" y2="80469"/>
                        <a14:foregroundMark x1="51953" y1="79688" x2="51953" y2="79688"/>
                        <a14:foregroundMark x1="51367" y1="65039" x2="51367" y2="64453"/>
                        <a14:foregroundMark x1="80664" y1="977" x2="80664" y2="977"/>
                        <a14:foregroundMark x1="92188" y1="12500" x2="92188" y2="12500"/>
                        <a14:foregroundMark x1="95703" y1="20313" x2="97266" y2="84570"/>
                        <a14:foregroundMark x1="81445" y1="4297" x2="81445" y2="4297"/>
                        <a14:foregroundMark x1="79102" y1="21289" x2="79102" y2="21289"/>
                        <a14:foregroundMark x1="81250" y1="17773" x2="78906" y2="19141"/>
                        <a14:foregroundMark x1="22852" y1="18750" x2="19727" y2="20313"/>
                        <a14:foregroundMark x1="20313" y1="30664" x2="30078" y2="30469"/>
                        <a14:foregroundMark x1="19727" y1="47461" x2="20508" y2="47461"/>
                        <a14:foregroundMark x1="32813" y1="47852" x2="32813" y2="47852"/>
                        <a14:foregroundMark x1="33398" y1="46680" x2="34961" y2="49609"/>
                        <a14:foregroundMark x1="35352" y1="64648" x2="36328" y2="68164"/>
                        <a14:foregroundMark x1="19141" y1="64258" x2="20117" y2="65039"/>
                        <a14:foregroundMark x1="15234" y1="45703" x2="16602" y2="66992"/>
                        <a14:foregroundMark x1="16602" y1="66992" x2="30859" y2="84375"/>
                        <a14:foregroundMark x1="30859" y1="84375" x2="72070" y2="85156"/>
                        <a14:foregroundMark x1="72070" y1="85156" x2="81836" y2="79102"/>
                        <a14:foregroundMark x1="81836" y1="79102" x2="85742" y2="47266"/>
                        <a14:foregroundMark x1="85742" y1="47266" x2="12891" y2="43555"/>
                        <a14:foregroundMark x1="14844" y1="62891" x2="14844" y2="73633"/>
                        <a14:foregroundMark x1="14844" y1="73633" x2="28320" y2="88867"/>
                        <a14:foregroundMark x1="28320" y1="88867" x2="68945" y2="83008"/>
                        <a14:foregroundMark x1="68945" y1="83008" x2="58203" y2="67383"/>
                        <a14:foregroundMark x1="58203" y1="67383" x2="24219" y2="58203"/>
                        <a14:foregroundMark x1="24219" y1="58203" x2="16602" y2="61133"/>
                        <a14:foregroundMark x1="45703" y1="52930" x2="45117" y2="71875"/>
                        <a14:foregroundMark x1="45117" y1="71875" x2="69531" y2="72070"/>
                        <a14:foregroundMark x1="69531" y1="72070" x2="53906" y2="56055"/>
                        <a14:foregroundMark x1="53906" y1="56055" x2="44141" y2="59375"/>
                        <a14:foregroundMark x1="24219" y1="70508" x2="29102" y2="81445"/>
                        <a14:foregroundMark x1="29102" y1="81445" x2="60156" y2="77734"/>
                        <a14:foregroundMark x1="60156" y1="77734" x2="32813" y2="69336"/>
                        <a14:foregroundMark x1="32813" y1="69336" x2="29492" y2="72070"/>
                        <a14:foregroundMark x1="8203" y1="32422" x2="75000" y2="32813"/>
                        <a14:foregroundMark x1="75000" y1="32813" x2="89258" y2="32422"/>
                        <a14:backgroundMark x1="8789" y1="16992" x2="8789" y2="16992"/>
                        <a14:backgroundMark x1="8984" y1="16797" x2="11328" y2="16016"/>
                        <a14:backgroundMark x1="10547" y1="16016" x2="8008" y2="19531"/>
                        <a14:backgroundMark x1="88477" y1="15625" x2="92188" y2="19336"/>
                        <a14:backgroundMark x1="89063" y1="7617" x2="92969" y2="8789"/>
                        <a14:backgroundMark x1="93359" y1="8789" x2="89063" y2="7617"/>
                        <a14:backgroundMark x1="91602" y1="88867" x2="87891" y2="91992"/>
                        <a14:backgroundMark x1="11328" y1="92188" x2="7813" y2="880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4095" y="2559087"/>
            <a:ext cx="631556" cy="631556"/>
          </a:xfrm>
          <a:prstGeom prst="rect">
            <a:avLst/>
          </a:prstGeom>
        </p:spPr>
      </p:pic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7DCC53BC-612E-673A-75D0-6EB79A13056B}"/>
              </a:ext>
            </a:extLst>
          </p:cNvPr>
          <p:cNvCxnSpPr/>
          <p:nvPr/>
        </p:nvCxnSpPr>
        <p:spPr>
          <a:xfrm>
            <a:off x="2734699" y="4299130"/>
            <a:ext cx="7293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04D31C5A-CB44-1185-36D1-E2B4C5C74173}"/>
              </a:ext>
            </a:extLst>
          </p:cNvPr>
          <p:cNvCxnSpPr/>
          <p:nvPr/>
        </p:nvCxnSpPr>
        <p:spPr>
          <a:xfrm>
            <a:off x="5632115" y="4299130"/>
            <a:ext cx="7293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04B4E0DE-78E7-E487-5299-60368D89000E}"/>
              </a:ext>
            </a:extLst>
          </p:cNvPr>
          <p:cNvCxnSpPr/>
          <p:nvPr/>
        </p:nvCxnSpPr>
        <p:spPr>
          <a:xfrm>
            <a:off x="8514445" y="4299130"/>
            <a:ext cx="7293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9" name="Google Shape;252;p4">
            <a:extLst>
              <a:ext uri="{FF2B5EF4-FFF2-40B4-BE49-F238E27FC236}">
                <a16:creationId xmlns:a16="http://schemas.microsoft.com/office/drawing/2014/main" id="{40DAA956-98B9-5A03-04C0-18591E402BBF}"/>
              </a:ext>
            </a:extLst>
          </p:cNvPr>
          <p:cNvGrpSpPr/>
          <p:nvPr/>
        </p:nvGrpSpPr>
        <p:grpSpPr>
          <a:xfrm>
            <a:off x="454959" y="1415908"/>
            <a:ext cx="408282" cy="351966"/>
            <a:chOff x="450324" y="2128945"/>
            <a:chExt cx="889526" cy="766832"/>
          </a:xfrm>
        </p:grpSpPr>
        <p:sp>
          <p:nvSpPr>
            <p:cNvPr id="280" name="Google Shape;253;p4">
              <a:extLst>
                <a:ext uri="{FF2B5EF4-FFF2-40B4-BE49-F238E27FC236}">
                  <a16:creationId xmlns:a16="http://schemas.microsoft.com/office/drawing/2014/main" id="{E235A2E7-B024-BD31-CD3A-C1809873B037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1" name="Google Shape;254;p4">
              <a:extLst>
                <a:ext uri="{FF2B5EF4-FFF2-40B4-BE49-F238E27FC236}">
                  <a16:creationId xmlns:a16="http://schemas.microsoft.com/office/drawing/2014/main" id="{71017081-9BEA-7ADE-68E9-CADFA3F56E84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5" name="Google Shape;255;p4">
              <a:extLst>
                <a:ext uri="{FF2B5EF4-FFF2-40B4-BE49-F238E27FC236}">
                  <a16:creationId xmlns:a16="http://schemas.microsoft.com/office/drawing/2014/main" id="{6742ED3F-C771-C216-989F-F1C4E3A71410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TextBox 286">
            <a:extLst>
              <a:ext uri="{FF2B5EF4-FFF2-40B4-BE49-F238E27FC236}">
                <a16:creationId xmlns:a16="http://schemas.microsoft.com/office/drawing/2014/main" id="{F328DFE2-3225-8424-7DA9-80A3D31BF541}"/>
              </a:ext>
            </a:extLst>
          </p:cNvPr>
          <p:cNvSpPr txBox="1"/>
          <p:nvPr/>
        </p:nvSpPr>
        <p:spPr>
          <a:xfrm>
            <a:off x="2261572" y="5601027"/>
            <a:ext cx="9057517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Char char="-"/>
            </a:pPr>
            <a:r>
              <a:rPr lang="ko-KR" altLang="en-US" sz="1400" i="0" u="none" strike="noStrike" cap="none">
                <a:solidFill>
                  <a:srgbClr val="2C7A4B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데이터 </a:t>
            </a:r>
            <a:r>
              <a:rPr lang="ko-KR" altLang="en-US" sz="1400" i="0" u="none" strike="noStrike" cap="none" err="1">
                <a:solidFill>
                  <a:srgbClr val="2C7A4B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전처리</a:t>
            </a:r>
            <a:r>
              <a:rPr lang="ko-KR" altLang="en-US" sz="1400" i="0" u="none" strike="noStrike" cap="none">
                <a:solidFill>
                  <a:srgbClr val="2C7A4B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 그룹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, </a:t>
            </a:r>
            <a:r>
              <a:rPr lang="en-US" altLang="ko-KR" sz="1400" i="0" u="none" strike="noStrike" cap="none">
                <a:solidFill>
                  <a:srgbClr val="2F3C7E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ML </a:t>
            </a:r>
            <a:r>
              <a:rPr lang="ko-KR" altLang="en-US" sz="1400" i="0" u="none" strike="noStrike" cap="none">
                <a:solidFill>
                  <a:srgbClr val="2F3C7E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그룹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, </a:t>
            </a:r>
            <a:r>
              <a:rPr lang="en-US" altLang="ko-KR" sz="1400" i="0" u="none" strike="noStrike" cap="none">
                <a:solidFill>
                  <a:srgbClr val="6D3E91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AI </a:t>
            </a:r>
            <a:r>
              <a:rPr lang="ko-KR" altLang="en-US" sz="1400" i="0" u="none" strike="noStrike" cap="none">
                <a:solidFill>
                  <a:srgbClr val="6D3E91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모델 그룹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, </a:t>
            </a:r>
            <a:r>
              <a:rPr lang="en-US" altLang="ko-KR" sz="1400" i="0" u="none" strike="noStrike" cap="none">
                <a:solidFill>
                  <a:srgbClr val="C2703D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UI </a:t>
            </a:r>
            <a:r>
              <a:rPr lang="ko-KR" altLang="en-US" sz="1400" i="0" u="none" strike="noStrike" cap="none">
                <a:solidFill>
                  <a:srgbClr val="C2703D"/>
                </a:solidFill>
                <a:highlight>
                  <a:srgbClr val="FFFF00"/>
                </a:highlight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그룹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의 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4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개의 그룹으로 역할을 분담</a:t>
            </a:r>
            <a:endParaRPr lang="en-US" altLang="ko-KR" sz="1400" i="0" u="none" strike="noStrike" cap="none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  <a:sym typeface="Arial"/>
            </a:endParaRPr>
          </a:p>
          <a:p>
            <a:pPr marL="171450" marR="0" lvl="0" indent="-17145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Char char="-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입출력 데이터를 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csv, JSON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형식으로 통일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/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sym typeface="Arial"/>
              </a:rPr>
              <a:t>연계 → 파이프라인 간 호환성과 통합 테스트 효율 확보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26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D1EE1DDB-75EC-C31A-08B1-B432442D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">
            <a:extLst>
              <a:ext uri="{FF2B5EF4-FFF2-40B4-BE49-F238E27FC236}">
                <a16:creationId xmlns:a16="http://schemas.microsoft.com/office/drawing/2014/main" id="{320F33EC-5E15-A724-78C8-5A3DAFA513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" y="-23531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61;p4">
            <a:extLst>
              <a:ext uri="{FF2B5EF4-FFF2-40B4-BE49-F238E27FC236}">
                <a16:creationId xmlns:a16="http://schemas.microsoft.com/office/drawing/2014/main" id="{87143069-5D50-79F7-4E90-E5BF92ECCD3D}"/>
              </a:ext>
            </a:extLst>
          </p:cNvPr>
          <p:cNvSpPr/>
          <p:nvPr/>
        </p:nvSpPr>
        <p:spPr>
          <a:xfrm>
            <a:off x="9444453" y="2165485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62;p4">
            <a:extLst>
              <a:ext uri="{FF2B5EF4-FFF2-40B4-BE49-F238E27FC236}">
                <a16:creationId xmlns:a16="http://schemas.microsoft.com/office/drawing/2014/main" id="{F1E67ED2-B6E4-046A-32E2-76439C9DD77A}"/>
              </a:ext>
            </a:extLst>
          </p:cNvPr>
          <p:cNvSpPr/>
          <p:nvPr/>
        </p:nvSpPr>
        <p:spPr>
          <a:xfrm>
            <a:off x="9444453" y="3348673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50;p4">
            <a:extLst>
              <a:ext uri="{FF2B5EF4-FFF2-40B4-BE49-F238E27FC236}">
                <a16:creationId xmlns:a16="http://schemas.microsoft.com/office/drawing/2014/main" id="{A0901EC2-A103-E858-093F-8B14828272B1}"/>
              </a:ext>
            </a:extLst>
          </p:cNvPr>
          <p:cNvSpPr/>
          <p:nvPr/>
        </p:nvSpPr>
        <p:spPr>
          <a:xfrm>
            <a:off x="7216453" y="2122231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1;p4">
            <a:extLst>
              <a:ext uri="{FF2B5EF4-FFF2-40B4-BE49-F238E27FC236}">
                <a16:creationId xmlns:a16="http://schemas.microsoft.com/office/drawing/2014/main" id="{7B106DB6-5157-AF69-E994-C930AD8FD49A}"/>
              </a:ext>
            </a:extLst>
          </p:cNvPr>
          <p:cNvSpPr/>
          <p:nvPr/>
        </p:nvSpPr>
        <p:spPr>
          <a:xfrm>
            <a:off x="7216454" y="3339730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61;p4">
            <a:extLst>
              <a:ext uri="{FF2B5EF4-FFF2-40B4-BE49-F238E27FC236}">
                <a16:creationId xmlns:a16="http://schemas.microsoft.com/office/drawing/2014/main" id="{30462049-44D5-55C0-F535-FC7A45F54296}"/>
              </a:ext>
            </a:extLst>
          </p:cNvPr>
          <p:cNvSpPr/>
          <p:nvPr/>
        </p:nvSpPr>
        <p:spPr>
          <a:xfrm>
            <a:off x="4972531" y="2179420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62;p4">
            <a:extLst>
              <a:ext uri="{FF2B5EF4-FFF2-40B4-BE49-F238E27FC236}">
                <a16:creationId xmlns:a16="http://schemas.microsoft.com/office/drawing/2014/main" id="{2DB106A4-E545-1119-9A9D-2EF432289B94}"/>
              </a:ext>
            </a:extLst>
          </p:cNvPr>
          <p:cNvSpPr/>
          <p:nvPr/>
        </p:nvSpPr>
        <p:spPr>
          <a:xfrm>
            <a:off x="4972531" y="3362608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0;p4">
            <a:extLst>
              <a:ext uri="{FF2B5EF4-FFF2-40B4-BE49-F238E27FC236}">
                <a16:creationId xmlns:a16="http://schemas.microsoft.com/office/drawing/2014/main" id="{8A7D87EB-9241-BFEE-6180-17431178931F}"/>
              </a:ext>
            </a:extLst>
          </p:cNvPr>
          <p:cNvSpPr/>
          <p:nvPr/>
        </p:nvSpPr>
        <p:spPr>
          <a:xfrm>
            <a:off x="2734699" y="2155830"/>
            <a:ext cx="2122307" cy="126774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1;p4">
            <a:extLst>
              <a:ext uri="{FF2B5EF4-FFF2-40B4-BE49-F238E27FC236}">
                <a16:creationId xmlns:a16="http://schemas.microsoft.com/office/drawing/2014/main" id="{019FA7D0-DF17-B7E4-035B-0402AA53A294}"/>
              </a:ext>
            </a:extLst>
          </p:cNvPr>
          <p:cNvSpPr/>
          <p:nvPr/>
        </p:nvSpPr>
        <p:spPr>
          <a:xfrm>
            <a:off x="2734700" y="3373329"/>
            <a:ext cx="2122306" cy="50241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61;p4">
            <a:extLst>
              <a:ext uri="{FF2B5EF4-FFF2-40B4-BE49-F238E27FC236}">
                <a16:creationId xmlns:a16="http://schemas.microsoft.com/office/drawing/2014/main" id="{59791B50-1A65-80C6-5DC9-0D5885E7451B}"/>
              </a:ext>
            </a:extLst>
          </p:cNvPr>
          <p:cNvSpPr/>
          <p:nvPr/>
        </p:nvSpPr>
        <p:spPr>
          <a:xfrm>
            <a:off x="425618" y="2175617"/>
            <a:ext cx="2122307" cy="123201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62;p4">
            <a:extLst>
              <a:ext uri="{FF2B5EF4-FFF2-40B4-BE49-F238E27FC236}">
                <a16:creationId xmlns:a16="http://schemas.microsoft.com/office/drawing/2014/main" id="{40FAE707-9BAF-66E1-353C-0060E36F5616}"/>
              </a:ext>
            </a:extLst>
          </p:cNvPr>
          <p:cNvSpPr/>
          <p:nvPr/>
        </p:nvSpPr>
        <p:spPr>
          <a:xfrm>
            <a:off x="425618" y="3358805"/>
            <a:ext cx="2122306" cy="48826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4A79B913-8D4D-C143-647F-D680E0A7C4D5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4">
            <a:extLst>
              <a:ext uri="{FF2B5EF4-FFF2-40B4-BE49-F238E27FC236}">
                <a16:creationId xmlns:a16="http://schemas.microsoft.com/office/drawing/2014/main" id="{ABAE8F23-BCDF-3435-0B57-09589F333A20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1" name="Google Shape;211;p4">
              <a:extLst>
                <a:ext uri="{FF2B5EF4-FFF2-40B4-BE49-F238E27FC236}">
                  <a16:creationId xmlns:a16="http://schemas.microsoft.com/office/drawing/2014/main" id="{1733BE86-F339-9BED-1EB1-EF586C7BFB94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4">
              <a:extLst>
                <a:ext uri="{FF2B5EF4-FFF2-40B4-BE49-F238E27FC236}">
                  <a16:creationId xmlns:a16="http://schemas.microsoft.com/office/drawing/2014/main" id="{3B0AA9C6-6C19-CF07-11D7-68BB71007EB1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>
              <a:extLst>
                <a:ext uri="{FF2B5EF4-FFF2-40B4-BE49-F238E27FC236}">
                  <a16:creationId xmlns:a16="http://schemas.microsoft.com/office/drawing/2014/main" id="{64E036F1-4243-4B53-94E3-7E30AFA65FF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4" name="Google Shape;214;p4">
            <a:extLst>
              <a:ext uri="{FF2B5EF4-FFF2-40B4-BE49-F238E27FC236}">
                <a16:creationId xmlns:a16="http://schemas.microsoft.com/office/drawing/2014/main" id="{C703FF54-0BA0-C6A5-7311-DCDC0CCEC7DE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>
            <a:extLst>
              <a:ext uri="{FF2B5EF4-FFF2-40B4-BE49-F238E27FC236}">
                <a16:creationId xmlns:a16="http://schemas.microsoft.com/office/drawing/2014/main" id="{BA2E6C68-BA0A-40BA-0EB6-EF3F459D469F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>
            <a:extLst>
              <a:ext uri="{FF2B5EF4-FFF2-40B4-BE49-F238E27FC236}">
                <a16:creationId xmlns:a16="http://schemas.microsoft.com/office/drawing/2014/main" id="{891C8D26-DA48-192E-20B5-CC9C51341C5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>
            <a:extLst>
              <a:ext uri="{FF2B5EF4-FFF2-40B4-BE49-F238E27FC236}">
                <a16:creationId xmlns:a16="http://schemas.microsoft.com/office/drawing/2014/main" id="{4BCA6564-9EA4-5F9F-8BF2-847093273A7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>
            <a:extLst>
              <a:ext uri="{FF2B5EF4-FFF2-40B4-BE49-F238E27FC236}">
                <a16:creationId xmlns:a16="http://schemas.microsoft.com/office/drawing/2014/main" id="{399F7FB7-06A4-2C20-3B17-BBA6135572A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>
            <a:extLst>
              <a:ext uri="{FF2B5EF4-FFF2-40B4-BE49-F238E27FC236}">
                <a16:creationId xmlns:a16="http://schemas.microsoft.com/office/drawing/2014/main" id="{B865F144-9110-F976-79DA-8342D7B2D22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>
            <a:extLst>
              <a:ext uri="{FF2B5EF4-FFF2-40B4-BE49-F238E27FC236}">
                <a16:creationId xmlns:a16="http://schemas.microsoft.com/office/drawing/2014/main" id="{6D273B55-6F33-3093-31B5-405A1587FB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">
            <a:extLst>
              <a:ext uri="{FF2B5EF4-FFF2-40B4-BE49-F238E27FC236}">
                <a16:creationId xmlns:a16="http://schemas.microsoft.com/office/drawing/2014/main" id="{33E6D9F5-B70C-1E59-68B5-8E07CEA647E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">
            <a:extLst>
              <a:ext uri="{FF2B5EF4-FFF2-40B4-BE49-F238E27FC236}">
                <a16:creationId xmlns:a16="http://schemas.microsoft.com/office/drawing/2014/main" id="{9FE878D9-06DB-19FF-5866-BF24C0D417A7}"/>
              </a:ext>
            </a:extLst>
          </p:cNvPr>
          <p:cNvSpPr txBox="1"/>
          <p:nvPr/>
        </p:nvSpPr>
        <p:spPr>
          <a:xfrm>
            <a:off x="833181" y="1419846"/>
            <a:ext cx="428324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i="0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 및 기대효과</a:t>
            </a:r>
            <a:endParaRPr sz="1400" b="0" i="0" strike="noStrike" cap="none">
              <a:solidFill>
                <a:srgbClr val="000000"/>
              </a:solidFill>
              <a:ea typeface="HY헤드라인M" panose="02030600000101010101" pitchFamily="18" charset="-127"/>
              <a:sym typeface="Arial"/>
            </a:endParaRPr>
          </a:p>
        </p:txBody>
      </p:sp>
      <p:grpSp>
        <p:nvGrpSpPr>
          <p:cNvPr id="242" name="Google Shape;242;p4">
            <a:extLst>
              <a:ext uri="{FF2B5EF4-FFF2-40B4-BE49-F238E27FC236}">
                <a16:creationId xmlns:a16="http://schemas.microsoft.com/office/drawing/2014/main" id="{4CB94DD1-FCD1-7EB1-D775-C426C49C2177}"/>
              </a:ext>
            </a:extLst>
          </p:cNvPr>
          <p:cNvGrpSpPr/>
          <p:nvPr/>
        </p:nvGrpSpPr>
        <p:grpSpPr>
          <a:xfrm>
            <a:off x="454960" y="1417388"/>
            <a:ext cx="408282" cy="351966"/>
            <a:chOff x="450324" y="2128945"/>
            <a:chExt cx="889526" cy="766832"/>
          </a:xfrm>
        </p:grpSpPr>
        <p:sp>
          <p:nvSpPr>
            <p:cNvPr id="243" name="Google Shape;243;p4">
              <a:extLst>
                <a:ext uri="{FF2B5EF4-FFF2-40B4-BE49-F238E27FC236}">
                  <a16:creationId xmlns:a16="http://schemas.microsoft.com/office/drawing/2014/main" id="{4ABB20CB-7949-2958-DAC2-409FE8687E10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4" name="Google Shape;244;p4">
              <a:extLst>
                <a:ext uri="{FF2B5EF4-FFF2-40B4-BE49-F238E27FC236}">
                  <a16:creationId xmlns:a16="http://schemas.microsoft.com/office/drawing/2014/main" id="{1F1C7661-CFC9-A26F-568B-73851FBF328F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5;p4">
              <a:extLst>
                <a:ext uri="{FF2B5EF4-FFF2-40B4-BE49-F238E27FC236}">
                  <a16:creationId xmlns:a16="http://schemas.microsoft.com/office/drawing/2014/main" id="{B899D51D-9232-02DE-2DD8-D72DEB1A77C8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altLang="ko-KR" sz="1600" b="0" i="0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4">
            <a:extLst>
              <a:ext uri="{FF2B5EF4-FFF2-40B4-BE49-F238E27FC236}">
                <a16:creationId xmlns:a16="http://schemas.microsoft.com/office/drawing/2014/main" id="{6160F7CF-E358-2321-5E06-BB91C26E30C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83" name="Google Shape;283;p4" descr="EMB0000378c3f3d">
              <a:extLst>
                <a:ext uri="{FF2B5EF4-FFF2-40B4-BE49-F238E27FC236}">
                  <a16:creationId xmlns:a16="http://schemas.microsoft.com/office/drawing/2014/main" id="{96DF3DC2-F876-608A-11D0-45F97A9096D3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4">
              <a:extLst>
                <a:ext uri="{FF2B5EF4-FFF2-40B4-BE49-F238E27FC236}">
                  <a16:creationId xmlns:a16="http://schemas.microsoft.com/office/drawing/2014/main" id="{9B75B135-D4AD-F04F-90AA-18669ACCC269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oworld_reference.png">
            <a:extLst>
              <a:ext uri="{FF2B5EF4-FFF2-40B4-BE49-F238E27FC236}">
                <a16:creationId xmlns:a16="http://schemas.microsoft.com/office/drawing/2014/main" id="{DDC33FD2-0569-FA5B-545E-E21326321C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179" b="58383" l="8581" r="17225">
                        <a14:foregroundMark x1="10938" y1="51391" x2="10938" y2="51391"/>
                        <a14:foregroundMark x1="10889" y1="50174" x2="10889" y2="50174"/>
                        <a14:foregroundMark x1="12939" y1="50609" x2="12939" y2="50609"/>
                        <a14:foregroundMark x1="13232" y1="51565" x2="13232" y2="51565"/>
                        <a14:foregroundMark x1="15088" y1="50870" x2="15088" y2="50870"/>
                        <a14:backgroundMark x1="11035" y1="51217" x2="11035" y2="51217"/>
                        <a14:backgroundMark x1="11035" y1="51304" x2="11035" y2="51304"/>
                        <a14:backgroundMark x1="10986" y1="50087" x2="10986" y2="50087"/>
                        <a14:backgroundMark x1="10986" y1="50348" x2="10986" y2="50348"/>
                        <a14:backgroundMark x1="12891" y1="50522" x2="12891" y2="50522"/>
                        <a14:backgroundMark x1="13135" y1="51739" x2="13135" y2="51739"/>
                        <a14:backgroundMark x1="15088" y1="51043" x2="15088" y2="51043"/>
                      </a14:backgroundRemoval>
                    </a14:imgEffect>
                  </a14:imgLayer>
                </a14:imgProps>
              </a:ext>
            </a:extLst>
          </a:blip>
          <a:srcRect l="7500" t="48029" r="81694" b="40466"/>
          <a:stretch/>
        </p:blipFill>
        <p:spPr>
          <a:xfrm>
            <a:off x="833181" y="2549818"/>
            <a:ext cx="1317523" cy="788990"/>
          </a:xfrm>
          <a:prstGeom prst="rect">
            <a:avLst/>
          </a:prstGeom>
        </p:spPr>
      </p:pic>
      <p:sp>
        <p:nvSpPr>
          <p:cNvPr id="8" name="Google Shape;240;p4">
            <a:extLst>
              <a:ext uri="{FF2B5EF4-FFF2-40B4-BE49-F238E27FC236}">
                <a16:creationId xmlns:a16="http://schemas.microsoft.com/office/drawing/2014/main" id="{99D3DA9D-0804-D564-12D4-A2EE28E49AFD}"/>
              </a:ext>
            </a:extLst>
          </p:cNvPr>
          <p:cNvSpPr/>
          <p:nvPr/>
        </p:nvSpPr>
        <p:spPr>
          <a:xfrm rot="5400000">
            <a:off x="-290568" y="1539662"/>
            <a:ext cx="743855" cy="157361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" name="Google Shape;242;p4">
            <a:extLst>
              <a:ext uri="{FF2B5EF4-FFF2-40B4-BE49-F238E27FC236}">
                <a16:creationId xmlns:a16="http://schemas.microsoft.com/office/drawing/2014/main" id="{D6E63BBB-0F07-14F0-702A-75FF828EA7F5}"/>
              </a:ext>
            </a:extLst>
          </p:cNvPr>
          <p:cNvGrpSpPr/>
          <p:nvPr/>
        </p:nvGrpSpPr>
        <p:grpSpPr>
          <a:xfrm>
            <a:off x="1260286" y="2035986"/>
            <a:ext cx="408282" cy="388046"/>
            <a:chOff x="450324" y="2128945"/>
            <a:chExt cx="889526" cy="845440"/>
          </a:xfrm>
        </p:grpSpPr>
        <p:sp>
          <p:nvSpPr>
            <p:cNvPr id="13" name="Google Shape;243;p4">
              <a:extLst>
                <a:ext uri="{FF2B5EF4-FFF2-40B4-BE49-F238E27FC236}">
                  <a16:creationId xmlns:a16="http://schemas.microsoft.com/office/drawing/2014/main" id="{82B582D2-8D62-31AB-5ED0-CE76EB993870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4;p4">
              <a:extLst>
                <a:ext uri="{FF2B5EF4-FFF2-40B4-BE49-F238E27FC236}">
                  <a16:creationId xmlns:a16="http://schemas.microsoft.com/office/drawing/2014/main" id="{E2573796-C2F1-9F33-9057-85A82A1DB07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245;p4">
              <a:extLst>
                <a:ext uri="{FF2B5EF4-FFF2-40B4-BE49-F238E27FC236}">
                  <a16:creationId xmlns:a16="http://schemas.microsoft.com/office/drawing/2014/main" id="{69304EC6-11BE-452A-A24D-77B4F302B29B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Picture 1" descr="oworld_reference.png">
            <a:extLst>
              <a:ext uri="{FF2B5EF4-FFF2-40B4-BE49-F238E27FC236}">
                <a16:creationId xmlns:a16="http://schemas.microsoft.com/office/drawing/2014/main" id="{6B38565D-29F8-6A63-E62D-7630A742AB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7099" b="59159" l="46215" r="53535">
                        <a14:foregroundMark x1="49756" y1="52609" x2="49756" y2="52609"/>
                        <a14:foregroundMark x1="49756" y1="54870" x2="49756" y2="54870"/>
                        <a14:foregroundMark x1="49756" y1="57130" x2="49756" y2="57130"/>
                        <a14:foregroundMark x1="51709" y1="56870" x2="51709" y2="56870"/>
                        <a14:backgroundMark x1="48242" y1="52435" x2="48242" y2="52435"/>
                        <a14:backgroundMark x1="48828" y1="54783" x2="48828" y2="54783"/>
                        <a14:backgroundMark x1="48633" y1="56870" x2="48633" y2="56870"/>
                        <a14:backgroundMark x1="48926" y1="52261" x2="48926" y2="52261"/>
                        <a14:backgroundMark x1="51660" y1="55565" x2="51660" y2="55565"/>
                        <a14:backgroundMark x1="52637" y1="57739" x2="52637" y2="57739"/>
                        <a14:backgroundMark x1="49658" y1="52696" x2="49658" y2="52696"/>
                        <a14:backgroundMark x1="49658" y1="54870" x2="49658" y2="54870"/>
                        <a14:backgroundMark x1="49658" y1="57043" x2="49658" y2="57043"/>
                      </a14:backgroundRemoval>
                    </a14:imgEffect>
                  </a14:imgLayer>
                </a14:imgProps>
              </a:ext>
            </a:extLst>
          </a:blip>
          <a:srcRect l="45300" t="45591" r="45550" b="39333"/>
          <a:stretch/>
        </p:blipFill>
        <p:spPr>
          <a:xfrm>
            <a:off x="5439030" y="2363938"/>
            <a:ext cx="1115567" cy="1033862"/>
          </a:xfrm>
          <a:prstGeom prst="rect">
            <a:avLst/>
          </a:prstGeom>
        </p:spPr>
      </p:pic>
      <p:pic>
        <p:nvPicPr>
          <p:cNvPr id="20" name="Picture 1" descr="oworld_reference.png">
            <a:extLst>
              <a:ext uri="{FF2B5EF4-FFF2-40B4-BE49-F238E27FC236}">
                <a16:creationId xmlns:a16="http://schemas.microsoft.com/office/drawing/2014/main" id="{299034FF-DA30-502D-EBD6-72067EC47F8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64525" r="73169">
                        <a14:backgroundMark x1="68799" y1="49826" x2="68799" y2="49826"/>
                        <a14:backgroundMark x1="68652" y1="56957" x2="68652" y2="56957"/>
                        <a14:backgroundMark x1="71582" y1="57043" x2="71582" y2="57043"/>
                        <a14:backgroundMark x1="65771" y1="56870" x2="65771" y2="56870"/>
                      </a14:backgroundRemoval>
                    </a14:imgEffect>
                  </a14:imgLayer>
                </a14:imgProps>
              </a:ext>
            </a:extLst>
          </a:blip>
          <a:srcRect l="63444" t="46882" r="25750" b="40466"/>
          <a:stretch/>
        </p:blipFill>
        <p:spPr>
          <a:xfrm>
            <a:off x="7684779" y="2431832"/>
            <a:ext cx="1317522" cy="867648"/>
          </a:xfrm>
          <a:prstGeom prst="rect">
            <a:avLst/>
          </a:prstGeom>
        </p:spPr>
      </p:pic>
      <p:pic>
        <p:nvPicPr>
          <p:cNvPr id="21" name="Picture 1" descr="oworld_reference.png">
            <a:extLst>
              <a:ext uri="{FF2B5EF4-FFF2-40B4-BE49-F238E27FC236}">
                <a16:creationId xmlns:a16="http://schemas.microsoft.com/office/drawing/2014/main" id="{3888647E-5D0A-E337-64EB-33EE5FC042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147" b="58269" l="83490" r="90810">
                        <a14:foregroundMark x1="87646" y1="53652" x2="87646" y2="53652"/>
                        <a14:foregroundMark x1="89404" y1="56957" x2="89404" y2="56957"/>
                        <a14:foregroundMark x1="90576" y1="57565" x2="90576" y2="57565"/>
                      </a14:backgroundRemoval>
                    </a14:imgEffect>
                  </a14:imgLayer>
                </a14:imgProps>
              </a:ext>
            </a:extLst>
          </a:blip>
          <a:srcRect l="82575" t="46882" r="8275" b="40466"/>
          <a:stretch/>
        </p:blipFill>
        <p:spPr>
          <a:xfrm>
            <a:off x="9935836" y="2422000"/>
            <a:ext cx="1115568" cy="867648"/>
          </a:xfrm>
          <a:prstGeom prst="rect">
            <a:avLst/>
          </a:prstGeom>
        </p:spPr>
      </p:pic>
      <p:grpSp>
        <p:nvGrpSpPr>
          <p:cNvPr id="24" name="Google Shape;252;p4">
            <a:extLst>
              <a:ext uri="{FF2B5EF4-FFF2-40B4-BE49-F238E27FC236}">
                <a16:creationId xmlns:a16="http://schemas.microsoft.com/office/drawing/2014/main" id="{7A528366-0D0A-6C60-3C50-0335FE997674}"/>
              </a:ext>
            </a:extLst>
          </p:cNvPr>
          <p:cNvGrpSpPr/>
          <p:nvPr/>
        </p:nvGrpSpPr>
        <p:grpSpPr>
          <a:xfrm>
            <a:off x="3541823" y="2000986"/>
            <a:ext cx="418718" cy="380422"/>
            <a:chOff x="427587" y="2066948"/>
            <a:chExt cx="912263" cy="828829"/>
          </a:xfrm>
        </p:grpSpPr>
        <p:sp>
          <p:nvSpPr>
            <p:cNvPr id="25" name="Google Shape;253;p4">
              <a:extLst>
                <a:ext uri="{FF2B5EF4-FFF2-40B4-BE49-F238E27FC236}">
                  <a16:creationId xmlns:a16="http://schemas.microsoft.com/office/drawing/2014/main" id="{8D43958C-45F3-1D16-7FA1-880D075C4E48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4;p4">
              <a:extLst>
                <a:ext uri="{FF2B5EF4-FFF2-40B4-BE49-F238E27FC236}">
                  <a16:creationId xmlns:a16="http://schemas.microsoft.com/office/drawing/2014/main" id="{33224D80-061F-9DDB-930C-D821B2FFCB14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255;p4">
              <a:extLst>
                <a:ext uri="{FF2B5EF4-FFF2-40B4-BE49-F238E27FC236}">
                  <a16:creationId xmlns:a16="http://schemas.microsoft.com/office/drawing/2014/main" id="{B2996A71-7C29-398D-3ECF-8BB44F61D85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63;p4">
            <a:extLst>
              <a:ext uri="{FF2B5EF4-FFF2-40B4-BE49-F238E27FC236}">
                <a16:creationId xmlns:a16="http://schemas.microsoft.com/office/drawing/2014/main" id="{2E5A5D32-815E-A9C8-24EA-1CF0A371D00C}"/>
              </a:ext>
            </a:extLst>
          </p:cNvPr>
          <p:cNvGrpSpPr/>
          <p:nvPr/>
        </p:nvGrpSpPr>
        <p:grpSpPr>
          <a:xfrm>
            <a:off x="5721116" y="2029442"/>
            <a:ext cx="418718" cy="380422"/>
            <a:chOff x="427587" y="2066948"/>
            <a:chExt cx="912263" cy="828829"/>
          </a:xfrm>
        </p:grpSpPr>
        <p:sp>
          <p:nvSpPr>
            <p:cNvPr id="29" name="Google Shape;264;p4">
              <a:extLst>
                <a:ext uri="{FF2B5EF4-FFF2-40B4-BE49-F238E27FC236}">
                  <a16:creationId xmlns:a16="http://schemas.microsoft.com/office/drawing/2014/main" id="{C9AE298E-0B1C-2A71-8058-3412CA9BD9DF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265;p4">
              <a:extLst>
                <a:ext uri="{FF2B5EF4-FFF2-40B4-BE49-F238E27FC236}">
                  <a16:creationId xmlns:a16="http://schemas.microsoft.com/office/drawing/2014/main" id="{9440428E-D42C-AC79-00A5-D0233FB8B28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" name="Google Shape;266;p4">
              <a:extLst>
                <a:ext uri="{FF2B5EF4-FFF2-40B4-BE49-F238E27FC236}">
                  <a16:creationId xmlns:a16="http://schemas.microsoft.com/office/drawing/2014/main" id="{64528CC9-6138-38A0-FDFD-1BC946E2CB36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32;p4">
            <a:extLst>
              <a:ext uri="{FF2B5EF4-FFF2-40B4-BE49-F238E27FC236}">
                <a16:creationId xmlns:a16="http://schemas.microsoft.com/office/drawing/2014/main" id="{70AD6C95-7E6C-A7C5-27AD-7FC1BE16678D}"/>
              </a:ext>
            </a:extLst>
          </p:cNvPr>
          <p:cNvGrpSpPr/>
          <p:nvPr/>
        </p:nvGrpSpPr>
        <p:grpSpPr>
          <a:xfrm>
            <a:off x="8069476" y="1980676"/>
            <a:ext cx="418718" cy="380422"/>
            <a:chOff x="427587" y="2066948"/>
            <a:chExt cx="912263" cy="828829"/>
          </a:xfrm>
        </p:grpSpPr>
        <p:sp>
          <p:nvSpPr>
            <p:cNvPr id="33" name="Google Shape;233;p4">
              <a:extLst>
                <a:ext uri="{FF2B5EF4-FFF2-40B4-BE49-F238E27FC236}">
                  <a16:creationId xmlns:a16="http://schemas.microsoft.com/office/drawing/2014/main" id="{5881F61E-0367-FF60-464F-0353DBC2FCE3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234;p4">
              <a:extLst>
                <a:ext uri="{FF2B5EF4-FFF2-40B4-BE49-F238E27FC236}">
                  <a16:creationId xmlns:a16="http://schemas.microsoft.com/office/drawing/2014/main" id="{7A2B5E0A-F7BD-A690-1987-F3023468F678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235;p4">
              <a:extLst>
                <a:ext uri="{FF2B5EF4-FFF2-40B4-BE49-F238E27FC236}">
                  <a16:creationId xmlns:a16="http://schemas.microsoft.com/office/drawing/2014/main" id="{4DB7C7B9-AF14-B6E3-898D-7CD60C6584CD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275;p4">
            <a:extLst>
              <a:ext uri="{FF2B5EF4-FFF2-40B4-BE49-F238E27FC236}">
                <a16:creationId xmlns:a16="http://schemas.microsoft.com/office/drawing/2014/main" id="{CACCD42E-BED6-7DA2-20C9-4A2AC55080AA}"/>
              </a:ext>
            </a:extLst>
          </p:cNvPr>
          <p:cNvGrpSpPr/>
          <p:nvPr/>
        </p:nvGrpSpPr>
        <p:grpSpPr>
          <a:xfrm>
            <a:off x="10253975" y="1981990"/>
            <a:ext cx="418718" cy="380422"/>
            <a:chOff x="427587" y="2066948"/>
            <a:chExt cx="912263" cy="828829"/>
          </a:xfrm>
        </p:grpSpPr>
        <p:sp>
          <p:nvSpPr>
            <p:cNvPr id="37" name="Google Shape;276;p4">
              <a:extLst>
                <a:ext uri="{FF2B5EF4-FFF2-40B4-BE49-F238E27FC236}">
                  <a16:creationId xmlns:a16="http://schemas.microsoft.com/office/drawing/2014/main" id="{9AFC7EAC-E460-ADCB-1E0B-4624F841A1B4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" name="Google Shape;277;p4">
              <a:extLst>
                <a:ext uri="{FF2B5EF4-FFF2-40B4-BE49-F238E27FC236}">
                  <a16:creationId xmlns:a16="http://schemas.microsoft.com/office/drawing/2014/main" id="{7C4F5745-49C9-FE78-2C19-3CB1BFD1457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278;p4">
              <a:extLst>
                <a:ext uri="{FF2B5EF4-FFF2-40B4-BE49-F238E27FC236}">
                  <a16:creationId xmlns:a16="http://schemas.microsoft.com/office/drawing/2014/main" id="{32EBDD23-80D6-ADC8-15C0-0F2738D57087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5ED255-E3C4-3D16-8238-0C45FA9583CF}"/>
              </a:ext>
            </a:extLst>
          </p:cNvPr>
          <p:cNvCxnSpPr>
            <a:cxnSpLocks/>
            <a:stCxn id="46" idx="0"/>
            <a:endCxn id="43" idx="2"/>
          </p:cNvCxnSpPr>
          <p:nvPr/>
        </p:nvCxnSpPr>
        <p:spPr>
          <a:xfrm flipV="1">
            <a:off x="2490911" y="278970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482099F8-4451-F086-DB8B-7610E837AAFD}"/>
              </a:ext>
            </a:extLst>
          </p:cNvPr>
          <p:cNvSpPr/>
          <p:nvPr/>
        </p:nvSpPr>
        <p:spPr>
          <a:xfrm>
            <a:off x="2610098" y="275674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D704872-9D3A-89B2-B353-1AE72270A9AD}"/>
              </a:ext>
            </a:extLst>
          </p:cNvPr>
          <p:cNvCxnSpPr/>
          <p:nvPr/>
        </p:nvCxnSpPr>
        <p:spPr>
          <a:xfrm flipV="1">
            <a:off x="4766055" y="276684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513014EB-8331-1F4C-77C7-B7A199B594B4}"/>
              </a:ext>
            </a:extLst>
          </p:cNvPr>
          <p:cNvSpPr/>
          <p:nvPr/>
        </p:nvSpPr>
        <p:spPr>
          <a:xfrm>
            <a:off x="4890322" y="273388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0E83B6-6F8C-3A71-382C-66B48FAC87F9}"/>
              </a:ext>
            </a:extLst>
          </p:cNvPr>
          <p:cNvCxnSpPr/>
          <p:nvPr/>
        </p:nvCxnSpPr>
        <p:spPr>
          <a:xfrm flipV="1">
            <a:off x="6998475" y="2762882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60D7CB7C-6267-01A7-1534-21DC65AC25EB}"/>
              </a:ext>
            </a:extLst>
          </p:cNvPr>
          <p:cNvSpPr/>
          <p:nvPr/>
        </p:nvSpPr>
        <p:spPr>
          <a:xfrm>
            <a:off x="7122742" y="2729931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E4C6CA8-C965-C153-BB4F-ECCF737A5341}"/>
              </a:ext>
            </a:extLst>
          </p:cNvPr>
          <p:cNvCxnSpPr/>
          <p:nvPr/>
        </p:nvCxnSpPr>
        <p:spPr>
          <a:xfrm flipV="1">
            <a:off x="9250493" y="2770130"/>
            <a:ext cx="300802" cy="1924"/>
          </a:xfrm>
          <a:prstGeom prst="line">
            <a:avLst/>
          </a:prstGeom>
          <a:ln w="19050">
            <a:solidFill>
              <a:srgbClr val="5C9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4DA4A5C6-2915-25D2-FE0E-5CAFFB00C51E}"/>
              </a:ext>
            </a:extLst>
          </p:cNvPr>
          <p:cNvSpPr/>
          <p:nvPr/>
        </p:nvSpPr>
        <p:spPr>
          <a:xfrm>
            <a:off x="9374760" y="2737179"/>
            <a:ext cx="72000" cy="72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5C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765786B-B08E-34E3-6AAA-6C90E2C42102}"/>
              </a:ext>
            </a:extLst>
          </p:cNvPr>
          <p:cNvSpPr/>
          <p:nvPr/>
        </p:nvSpPr>
        <p:spPr>
          <a:xfrm>
            <a:off x="668337" y="358638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1BA5656-6FD4-35E9-BD67-391D2459AE3C}"/>
              </a:ext>
            </a:extLst>
          </p:cNvPr>
          <p:cNvCxnSpPr/>
          <p:nvPr/>
        </p:nvCxnSpPr>
        <p:spPr>
          <a:xfrm>
            <a:off x="1696508" y="363040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51B6F0F-C2E0-BE3F-1429-6C8DBACE07C3}"/>
              </a:ext>
            </a:extLst>
          </p:cNvPr>
          <p:cNvSpPr txBox="1"/>
          <p:nvPr/>
        </p:nvSpPr>
        <p:spPr>
          <a:xfrm>
            <a:off x="1785303" y="3608227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기대 효과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D5FF03-71D5-8653-047B-752BEA46DB1C}"/>
              </a:ext>
            </a:extLst>
          </p:cNvPr>
          <p:cNvSpPr txBox="1"/>
          <p:nvPr/>
        </p:nvSpPr>
        <p:spPr>
          <a:xfrm>
            <a:off x="1921739" y="3931785"/>
            <a:ext cx="9548870" cy="54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예측 혼잡도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/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최적 방문일 제공으로 이용객의 대기시간과 불편 감소</a:t>
            </a:r>
            <a:endParaRPr lang="en-US" altLang="ko-KR" sz="1400" i="0" u="none" strike="noStrike" cap="none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  <a:sym typeface="Malgun Gothic"/>
            </a:endParaRPr>
          </a:p>
          <a:p>
            <a:pPr marR="0"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방문 수요가 특정 날짜에 몰리는 현상을 완화 → 테마파크 운영 효율 ↑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 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94F43ED3-AF78-0C37-15A3-DC173FBCB43F}"/>
              </a:ext>
            </a:extLst>
          </p:cNvPr>
          <p:cNvSpPr/>
          <p:nvPr/>
        </p:nvSpPr>
        <p:spPr>
          <a:xfrm>
            <a:off x="688718" y="4643174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6BC8DB4E-D98B-C7C7-A206-180E44DEA6AF}"/>
              </a:ext>
            </a:extLst>
          </p:cNvPr>
          <p:cNvCxnSpPr/>
          <p:nvPr/>
        </p:nvCxnSpPr>
        <p:spPr>
          <a:xfrm>
            <a:off x="1716889" y="4687194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9181B719-3FFC-0067-6D0C-FA8C49DBAD9C}"/>
              </a:ext>
            </a:extLst>
          </p:cNvPr>
          <p:cNvSpPr txBox="1"/>
          <p:nvPr/>
        </p:nvSpPr>
        <p:spPr>
          <a:xfrm>
            <a:off x="1785303" y="4664585"/>
            <a:ext cx="254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C9AB49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비즈니스 실무 활용성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DE87F0B-676F-5505-F083-BA990D5D761C}"/>
              </a:ext>
            </a:extLst>
          </p:cNvPr>
          <p:cNvSpPr txBox="1"/>
          <p:nvPr/>
        </p:nvSpPr>
        <p:spPr>
          <a:xfrm>
            <a:off x="1921739" y="4988143"/>
            <a:ext cx="9548870" cy="546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운영 기관 입장에서 비수기 예측 및 방문 유도 프로모션 및 이벤트 계획</a:t>
            </a:r>
            <a:endParaRPr lang="en-US" altLang="ko-KR" sz="1400" i="0" u="none" strike="noStrike" cap="none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  <a:sym typeface="Malgun Gothic"/>
            </a:endParaRPr>
          </a:p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  <a:cs typeface="Malgun Gothic"/>
                <a:sym typeface="Malgun Gothic"/>
              </a:rPr>
              <a:t>∙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안전 인력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/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시설 배치 최적화 등 데이터 기반 의사결정에 활용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01D99958-7280-83CA-6DAC-FE0324E58FBF}"/>
              </a:ext>
            </a:extLst>
          </p:cNvPr>
          <p:cNvSpPr/>
          <p:nvPr/>
        </p:nvSpPr>
        <p:spPr>
          <a:xfrm>
            <a:off x="688718" y="5650897"/>
            <a:ext cx="10898422" cy="896281"/>
          </a:xfrm>
          <a:prstGeom prst="roundRect">
            <a:avLst/>
          </a:prstGeom>
          <a:solidFill>
            <a:srgbClr val="F5F8F6"/>
          </a:solidFill>
          <a:ln>
            <a:solidFill>
              <a:srgbClr val="F5F8F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BA4C2F2C-963E-66FD-EA3D-110BA31A4970}"/>
              </a:ext>
            </a:extLst>
          </p:cNvPr>
          <p:cNvCxnSpPr/>
          <p:nvPr/>
        </p:nvCxnSpPr>
        <p:spPr>
          <a:xfrm>
            <a:off x="1716889" y="5694917"/>
            <a:ext cx="0" cy="794675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BC3FB77E-F72E-1BE6-3F88-FC75C8DF573F}"/>
              </a:ext>
            </a:extLst>
          </p:cNvPr>
          <p:cNvSpPr txBox="1"/>
          <p:nvPr/>
        </p:nvSpPr>
        <p:spPr>
          <a:xfrm>
            <a:off x="1785303" y="5672308"/>
            <a:ext cx="16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3378C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확장 가능성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72D8B7C-C468-639C-6075-B17B107F117A}"/>
              </a:ext>
            </a:extLst>
          </p:cNvPr>
          <p:cNvSpPr txBox="1"/>
          <p:nvPr/>
        </p:nvSpPr>
        <p:spPr>
          <a:xfrm>
            <a:off x="1921739" y="5995866"/>
            <a:ext cx="9548870" cy="54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수집되는 데이터가 축적될 수록 예측 정확도를 지속적으로 개선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Both"/>
            </a:pP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향후 실시간 혼잡도 모니터링</a:t>
            </a:r>
            <a:r>
              <a:rPr lang="en-US" altLang="ko-KR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400" i="0" u="none" strike="noStrike" cap="none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  <a:sym typeface="Malgun Gothic"/>
              </a:rPr>
              <a:t>놀이기구 및 전시장 별 혼잡도 등으로 서비스를 고도화</a:t>
            </a:r>
            <a:endParaRPr lang="en-US" altLang="ko-KR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349D4729-EEAC-B783-CF79-F78F42E751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77" b="96680" l="0" r="97266">
                        <a14:foregroundMark x1="7184" y1="20421" x2="4883" y2="29297"/>
                        <a14:foregroundMark x1="7497" y1="19212" x2="7295" y2="19993"/>
                        <a14:foregroundMark x1="8984" y1="13477" x2="8636" y2="14821"/>
                        <a14:foregroundMark x1="5655" y1="18060" x2="5469" y2="91797"/>
                        <a14:foregroundMark x1="5664" y1="14648" x2="5661" y2="15703"/>
                        <a14:foregroundMark x1="12753" y1="95653" x2="15430" y2="97070"/>
                        <a14:foregroundMark x1="5469" y1="91797" x2="12446" y2="95491"/>
                        <a14:foregroundMark x1="15430" y1="97070" x2="43945" y2="98047"/>
                        <a14:foregroundMark x1="43945" y1="98047" x2="88281" y2="95117"/>
                        <a14:foregroundMark x1="90697" y1="88080" x2="99414" y2="62695"/>
                        <a14:foregroundMark x1="88281" y1="95117" x2="89017" y2="92973"/>
                        <a14:foregroundMark x1="90016" y1="14416" x2="89453" y2="11523"/>
                        <a14:foregroundMark x1="99414" y1="62695" x2="91135" y2="20163"/>
                        <a14:foregroundMark x1="10914" y1="13144" x2="4297" y2="13281"/>
                        <a14:foregroundMark x1="89453" y1="11523" x2="12866" y2="13104"/>
                        <a14:foregroundMark x1="21289" y1="3906" x2="21680" y2="18359"/>
                        <a14:foregroundMark x1="6055" y1="18750" x2="0" y2="72852"/>
                        <a14:foregroundMark x1="0" y1="72852" x2="3125" y2="86914"/>
                        <a14:foregroundMark x1="12541" y1="95137" x2="40625" y2="96680"/>
                        <a14:foregroundMark x1="5078" y1="94727" x2="12124" y2="95114"/>
                        <a14:foregroundMark x1="40625" y1="96680" x2="49023" y2="96484"/>
                        <a14:foregroundMark x1="93362" y1="90400" x2="96484" y2="90039"/>
                        <a14:foregroundMark x1="72852" y1="92773" x2="86919" y2="91146"/>
                        <a14:foregroundMark x1="83203" y1="47852" x2="83203" y2="47852"/>
                        <a14:foregroundMark x1="81836" y1="62500" x2="81836" y2="62500"/>
                        <a14:foregroundMark x1="67969" y1="78711" x2="67969" y2="78711"/>
                        <a14:foregroundMark x1="67383" y1="64258" x2="67383" y2="62891"/>
                        <a14:foregroundMark x1="69727" y1="48047" x2="69727" y2="48047"/>
                        <a14:foregroundMark x1="51563" y1="48438" x2="51563" y2="48438"/>
                        <a14:foregroundMark x1="31250" y1="49023" x2="31250" y2="49023"/>
                        <a14:foregroundMark x1="19141" y1="49023" x2="19141" y2="49023"/>
                        <a14:foregroundMark x1="20313" y1="64063" x2="20313" y2="64063"/>
                        <a14:foregroundMark x1="32813" y1="63672" x2="32813" y2="63672"/>
                        <a14:foregroundMark x1="35547" y1="78711" x2="35547" y2="78711"/>
                        <a14:foregroundMark x1="18555" y1="81445" x2="21094" y2="80469"/>
                        <a14:foregroundMark x1="51953" y1="79688" x2="51953" y2="79688"/>
                        <a14:foregroundMark x1="51367" y1="65039" x2="51367" y2="64453"/>
                        <a14:foregroundMark x1="80664" y1="977" x2="80664" y2="977"/>
                        <a14:foregroundMark x1="92188" y1="12500" x2="92188" y2="12500"/>
                        <a14:foregroundMark x1="95703" y1="20313" x2="97266" y2="84570"/>
                        <a14:foregroundMark x1="81445" y1="4297" x2="81445" y2="4297"/>
                        <a14:foregroundMark x1="79102" y1="21289" x2="79102" y2="21289"/>
                        <a14:foregroundMark x1="81250" y1="17773" x2="78906" y2="19141"/>
                        <a14:foregroundMark x1="22852" y1="18750" x2="19727" y2="20313"/>
                        <a14:foregroundMark x1="20313" y1="30664" x2="30078" y2="30469"/>
                        <a14:foregroundMark x1="19727" y1="47461" x2="20508" y2="47461"/>
                        <a14:foregroundMark x1="32813" y1="47852" x2="32813" y2="47852"/>
                        <a14:foregroundMark x1="33398" y1="46680" x2="34961" y2="49609"/>
                        <a14:foregroundMark x1="35352" y1="64648" x2="36328" y2="68164"/>
                        <a14:foregroundMark x1="19141" y1="64258" x2="20117" y2="65039"/>
                        <a14:foregroundMark x1="15234" y1="45703" x2="16602" y2="66992"/>
                        <a14:foregroundMark x1="16602" y1="66992" x2="30859" y2="84375"/>
                        <a14:foregroundMark x1="30859" y1="84375" x2="72070" y2="85156"/>
                        <a14:foregroundMark x1="72070" y1="85156" x2="81836" y2="79102"/>
                        <a14:foregroundMark x1="81836" y1="79102" x2="85742" y2="47266"/>
                        <a14:foregroundMark x1="85742" y1="47266" x2="12891" y2="43555"/>
                        <a14:foregroundMark x1="14844" y1="62891" x2="14844" y2="73633"/>
                        <a14:foregroundMark x1="14844" y1="73633" x2="28320" y2="88867"/>
                        <a14:foregroundMark x1="28320" y1="88867" x2="68945" y2="83008"/>
                        <a14:foregroundMark x1="68945" y1="83008" x2="58203" y2="67383"/>
                        <a14:foregroundMark x1="58203" y1="67383" x2="24219" y2="58203"/>
                        <a14:foregroundMark x1="24219" y1="58203" x2="16602" y2="61133"/>
                        <a14:foregroundMark x1="45703" y1="52930" x2="45117" y2="71875"/>
                        <a14:foregroundMark x1="45117" y1="71875" x2="69531" y2="72070"/>
                        <a14:foregroundMark x1="69531" y1="72070" x2="53906" y2="56055"/>
                        <a14:foregroundMark x1="53906" y1="56055" x2="44141" y2="59375"/>
                        <a14:foregroundMark x1="24219" y1="70508" x2="29102" y2="81445"/>
                        <a14:foregroundMark x1="29102" y1="81445" x2="60156" y2="77734"/>
                        <a14:foregroundMark x1="60156" y1="77734" x2="32813" y2="69336"/>
                        <a14:foregroundMark x1="32813" y1="69336" x2="29492" y2="72070"/>
                        <a14:foregroundMark x1="8203" y1="32422" x2="75000" y2="32813"/>
                        <a14:foregroundMark x1="75000" y1="32813" x2="89258" y2="32422"/>
                        <a14:backgroundMark x1="8789" y1="16992" x2="8789" y2="16992"/>
                        <a14:backgroundMark x1="8984" y1="16797" x2="11328" y2="16016"/>
                        <a14:backgroundMark x1="10547" y1="16016" x2="8008" y2="19531"/>
                        <a14:backgroundMark x1="88477" y1="15625" x2="92188" y2="19336"/>
                        <a14:backgroundMark x1="89063" y1="7617" x2="92969" y2="8789"/>
                        <a14:backgroundMark x1="93359" y1="8789" x2="89063" y2="7617"/>
                        <a14:backgroundMark x1="91602" y1="88867" x2="87891" y2="91992"/>
                        <a14:backgroundMark x1="11328" y1="92188" x2="7813" y2="880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4095" y="2559087"/>
            <a:ext cx="631556" cy="631556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83AA2AA0-7B97-3CC8-503F-730490A92A80}"/>
              </a:ext>
            </a:extLst>
          </p:cNvPr>
          <p:cNvSpPr/>
          <p:nvPr/>
        </p:nvSpPr>
        <p:spPr>
          <a:xfrm>
            <a:off x="822744" y="3673813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410F82-904D-C61D-5439-6CED04346DE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5020" y="3808695"/>
            <a:ext cx="451664" cy="451664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CB3507AC-7637-49FC-E119-FC2E3F0E3243}"/>
              </a:ext>
            </a:extLst>
          </p:cNvPr>
          <p:cNvSpPr/>
          <p:nvPr/>
        </p:nvSpPr>
        <p:spPr>
          <a:xfrm>
            <a:off x="814360" y="5773750"/>
            <a:ext cx="749578" cy="749578"/>
          </a:xfrm>
          <a:prstGeom prst="ellipse">
            <a:avLst/>
          </a:prstGeom>
          <a:solidFill>
            <a:srgbClr val="E4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4894E96E-D81C-971D-2638-E2ED933D9CE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8829" y="5877485"/>
            <a:ext cx="555116" cy="555116"/>
          </a:xfrm>
          <a:prstGeom prst="rect">
            <a:avLst/>
          </a:prstGeom>
        </p:spPr>
      </p:pic>
      <p:sp>
        <p:nvSpPr>
          <p:cNvPr id="51" name="타원 50">
            <a:extLst>
              <a:ext uri="{FF2B5EF4-FFF2-40B4-BE49-F238E27FC236}">
                <a16:creationId xmlns:a16="http://schemas.microsoft.com/office/drawing/2014/main" id="{5E234C83-57E5-E9EA-0FD2-74417B7E368F}"/>
              </a:ext>
            </a:extLst>
          </p:cNvPr>
          <p:cNvSpPr/>
          <p:nvPr/>
        </p:nvSpPr>
        <p:spPr>
          <a:xfrm>
            <a:off x="822135" y="4732291"/>
            <a:ext cx="749578" cy="749578"/>
          </a:xfrm>
          <a:prstGeom prst="ellipse">
            <a:avLst/>
          </a:prstGeom>
          <a:solidFill>
            <a:srgbClr val="F7E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35B1BEC6-6138-148D-1C83-E0B205451FB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9138" y="4824499"/>
            <a:ext cx="535572" cy="53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04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21F2630F-6C32-84D2-C85E-51A7314E3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">
            <a:extLst>
              <a:ext uri="{FF2B5EF4-FFF2-40B4-BE49-F238E27FC236}">
                <a16:creationId xmlns:a16="http://schemas.microsoft.com/office/drawing/2014/main" id="{75CA6B93-0C29-6D43-CB5C-6758752D35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Shape 63">
            <a:extLst>
              <a:ext uri="{FF2B5EF4-FFF2-40B4-BE49-F238E27FC236}">
                <a16:creationId xmlns:a16="http://schemas.microsoft.com/office/drawing/2014/main" id="{40310E84-D879-8441-C3BB-DC605EFD309F}"/>
              </a:ext>
            </a:extLst>
          </p:cNvPr>
          <p:cNvSpPr/>
          <p:nvPr/>
        </p:nvSpPr>
        <p:spPr>
          <a:xfrm>
            <a:off x="3394819" y="1914407"/>
            <a:ext cx="2660904" cy="4482753"/>
          </a:xfrm>
          <a:prstGeom prst="roundRect">
            <a:avLst>
              <a:gd name="adj" fmla="val 3727"/>
            </a:avLst>
          </a:prstGeom>
          <a:solidFill>
            <a:srgbClr val="E2F3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64">
            <a:extLst>
              <a:ext uri="{FF2B5EF4-FFF2-40B4-BE49-F238E27FC236}">
                <a16:creationId xmlns:a16="http://schemas.microsoft.com/office/drawing/2014/main" id="{81266D05-A963-7755-FC38-816207EE5A40}"/>
              </a:ext>
            </a:extLst>
          </p:cNvPr>
          <p:cNvSpPr/>
          <p:nvPr/>
        </p:nvSpPr>
        <p:spPr>
          <a:xfrm>
            <a:off x="3571113" y="2081442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65">
            <a:extLst>
              <a:ext uri="{FF2B5EF4-FFF2-40B4-BE49-F238E27FC236}">
                <a16:creationId xmlns:a16="http://schemas.microsoft.com/office/drawing/2014/main" id="{76B482E1-E718-7887-2354-9C878854F089}"/>
              </a:ext>
            </a:extLst>
          </p:cNvPr>
          <p:cNvSpPr/>
          <p:nvPr/>
        </p:nvSpPr>
        <p:spPr>
          <a:xfrm>
            <a:off x="3571113" y="20814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염</a:t>
            </a:r>
            <a:endParaRPr lang="en-US" sz="1800"/>
          </a:p>
        </p:txBody>
      </p:sp>
      <p:sp>
        <p:nvSpPr>
          <p:cNvPr id="57" name="Text 66">
            <a:extLst>
              <a:ext uri="{FF2B5EF4-FFF2-40B4-BE49-F238E27FC236}">
                <a16:creationId xmlns:a16="http://schemas.microsoft.com/office/drawing/2014/main" id="{88F7EB67-B602-A949-0B59-25E2A278A5F9}"/>
              </a:ext>
            </a:extLst>
          </p:cNvPr>
          <p:cNvSpPr/>
          <p:nvPr/>
        </p:nvSpPr>
        <p:spPr>
          <a:xfrm>
            <a:off x="4119753" y="205401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염원영</a:t>
            </a:r>
            <a:endParaRPr lang="en-US" sz="1500"/>
          </a:p>
        </p:txBody>
      </p:sp>
      <p:sp>
        <p:nvSpPr>
          <p:cNvPr id="58" name="Shape 67">
            <a:extLst>
              <a:ext uri="{FF2B5EF4-FFF2-40B4-BE49-F238E27FC236}">
                <a16:creationId xmlns:a16="http://schemas.microsoft.com/office/drawing/2014/main" id="{749302D7-5667-2F43-080D-4CCF2B9E6F3E}"/>
              </a:ext>
            </a:extLst>
          </p:cNvPr>
          <p:cNvSpPr/>
          <p:nvPr/>
        </p:nvSpPr>
        <p:spPr>
          <a:xfrm>
            <a:off x="4119753" y="2337474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68">
            <a:extLst>
              <a:ext uri="{FF2B5EF4-FFF2-40B4-BE49-F238E27FC236}">
                <a16:creationId xmlns:a16="http://schemas.microsoft.com/office/drawing/2014/main" id="{C7A17DF6-B17C-1101-E1CE-C92E6ED73075}"/>
              </a:ext>
            </a:extLst>
          </p:cNvPr>
          <p:cNvSpPr/>
          <p:nvPr/>
        </p:nvSpPr>
        <p:spPr>
          <a:xfrm>
            <a:off x="4119753" y="233747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60" name="Shape 69">
            <a:extLst>
              <a:ext uri="{FF2B5EF4-FFF2-40B4-BE49-F238E27FC236}">
                <a16:creationId xmlns:a16="http://schemas.microsoft.com/office/drawing/2014/main" id="{A25AC903-9DBC-09E8-A6D5-4A8389B717B3}"/>
              </a:ext>
            </a:extLst>
          </p:cNvPr>
          <p:cNvSpPr/>
          <p:nvPr/>
        </p:nvSpPr>
        <p:spPr>
          <a:xfrm>
            <a:off x="3589401" y="2703234"/>
            <a:ext cx="2295144" cy="0"/>
          </a:xfrm>
          <a:prstGeom prst="line">
            <a:avLst/>
          </a:prstGeom>
          <a:noFill/>
          <a:ln w="9525">
            <a:solidFill>
              <a:srgbClr val="2C7A4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70">
            <a:extLst>
              <a:ext uri="{FF2B5EF4-FFF2-40B4-BE49-F238E27FC236}">
                <a16:creationId xmlns:a16="http://schemas.microsoft.com/office/drawing/2014/main" id="{FF15895B-D367-F627-D4A6-8E9EF568BFB7}"/>
              </a:ext>
            </a:extLst>
          </p:cNvPr>
          <p:cNvSpPr/>
          <p:nvPr/>
        </p:nvSpPr>
        <p:spPr>
          <a:xfrm>
            <a:off x="3589401" y="2794673"/>
            <a:ext cx="2295144" cy="347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시각화 자료 구축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방문객 증감 트렌드 및 데이터 간 상관관계를 직관적으로 파악할 수 있는 시각화 자료 제작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데이터 가중치 보정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전처리 과정에서 발생하는 데이터 불균형을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SMOTE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기법을 통해 보정하고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전반적인 데이터 정비 방향성 검토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방문객 패턴 심층 분석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단순 요일별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/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휴일별 이용객 편차를 넘어 샌드위치 데이 등 변칙적 방문 패턴을 다각도로 탐색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웹크롤링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&amp;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외부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활용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대전광역시청 및 공공데이터 오픈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데이터를 활용하여 상관관계 조사</a:t>
            </a:r>
          </a:p>
        </p:txBody>
      </p:sp>
      <p:sp>
        <p:nvSpPr>
          <p:cNvPr id="36" name="Shape 47">
            <a:extLst>
              <a:ext uri="{FF2B5EF4-FFF2-40B4-BE49-F238E27FC236}">
                <a16:creationId xmlns:a16="http://schemas.microsoft.com/office/drawing/2014/main" id="{6B34C331-C6E3-DE49-0AD4-CD47C82DCCBE}"/>
              </a:ext>
            </a:extLst>
          </p:cNvPr>
          <p:cNvSpPr/>
          <p:nvPr/>
        </p:nvSpPr>
        <p:spPr>
          <a:xfrm>
            <a:off x="583329" y="1889454"/>
            <a:ext cx="2660904" cy="4482754"/>
          </a:xfrm>
          <a:prstGeom prst="roundRect">
            <a:avLst>
              <a:gd name="adj" fmla="val 3727"/>
            </a:avLst>
          </a:prstGeom>
          <a:solidFill>
            <a:srgbClr val="E2F3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48">
            <a:extLst>
              <a:ext uri="{FF2B5EF4-FFF2-40B4-BE49-F238E27FC236}">
                <a16:creationId xmlns:a16="http://schemas.microsoft.com/office/drawing/2014/main" id="{7BD3FEE3-344B-CB77-FCE2-6FAD32877BFC}"/>
              </a:ext>
            </a:extLst>
          </p:cNvPr>
          <p:cNvSpPr/>
          <p:nvPr/>
        </p:nvSpPr>
        <p:spPr>
          <a:xfrm>
            <a:off x="715627" y="2065905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49">
            <a:extLst>
              <a:ext uri="{FF2B5EF4-FFF2-40B4-BE49-F238E27FC236}">
                <a16:creationId xmlns:a16="http://schemas.microsoft.com/office/drawing/2014/main" id="{06BA5902-A08D-2F2C-26E8-9D9F748FCB66}"/>
              </a:ext>
            </a:extLst>
          </p:cNvPr>
          <p:cNvSpPr/>
          <p:nvPr/>
        </p:nvSpPr>
        <p:spPr>
          <a:xfrm>
            <a:off x="715627" y="20659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</a:t>
            </a:r>
            <a:endParaRPr lang="en-US" sz="1800"/>
          </a:p>
        </p:txBody>
      </p:sp>
      <p:sp>
        <p:nvSpPr>
          <p:cNvPr id="39" name="Text 50">
            <a:extLst>
              <a:ext uri="{FF2B5EF4-FFF2-40B4-BE49-F238E27FC236}">
                <a16:creationId xmlns:a16="http://schemas.microsoft.com/office/drawing/2014/main" id="{7DE891B7-A65C-3E08-F7A6-8BF8A35A7BFA}"/>
              </a:ext>
            </a:extLst>
          </p:cNvPr>
          <p:cNvSpPr/>
          <p:nvPr/>
        </p:nvSpPr>
        <p:spPr>
          <a:xfrm>
            <a:off x="1264267" y="2038473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배소윤</a:t>
            </a:r>
            <a:endParaRPr lang="en-US" sz="1500"/>
          </a:p>
        </p:txBody>
      </p:sp>
      <p:sp>
        <p:nvSpPr>
          <p:cNvPr id="40" name="Shape 51">
            <a:extLst>
              <a:ext uri="{FF2B5EF4-FFF2-40B4-BE49-F238E27FC236}">
                <a16:creationId xmlns:a16="http://schemas.microsoft.com/office/drawing/2014/main" id="{682FB2E1-758C-BC4E-B438-F5AE28AE068B}"/>
              </a:ext>
            </a:extLst>
          </p:cNvPr>
          <p:cNvSpPr/>
          <p:nvPr/>
        </p:nvSpPr>
        <p:spPr>
          <a:xfrm>
            <a:off x="1264267" y="2321937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52">
            <a:extLst>
              <a:ext uri="{FF2B5EF4-FFF2-40B4-BE49-F238E27FC236}">
                <a16:creationId xmlns:a16="http://schemas.microsoft.com/office/drawing/2014/main" id="{59A74D88-CE0B-92D4-74C5-7F31F34A098B}"/>
              </a:ext>
            </a:extLst>
          </p:cNvPr>
          <p:cNvSpPr/>
          <p:nvPr/>
        </p:nvSpPr>
        <p:spPr>
          <a:xfrm>
            <a:off x="1264267" y="2321937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42" name="Shape 53">
            <a:extLst>
              <a:ext uri="{FF2B5EF4-FFF2-40B4-BE49-F238E27FC236}">
                <a16:creationId xmlns:a16="http://schemas.microsoft.com/office/drawing/2014/main" id="{76EAF84B-240D-6961-EDFF-808CA3D95AC6}"/>
              </a:ext>
            </a:extLst>
          </p:cNvPr>
          <p:cNvSpPr/>
          <p:nvPr/>
        </p:nvSpPr>
        <p:spPr>
          <a:xfrm>
            <a:off x="733915" y="2687697"/>
            <a:ext cx="2295144" cy="0"/>
          </a:xfrm>
          <a:prstGeom prst="line">
            <a:avLst/>
          </a:prstGeom>
          <a:noFill/>
          <a:ln w="9525">
            <a:solidFill>
              <a:srgbClr val="2C7A4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7322BC8C-6718-8E8B-5E41-ADCAA8457A19}"/>
              </a:ext>
            </a:extLst>
          </p:cNvPr>
          <p:cNvSpPr/>
          <p:nvPr/>
        </p:nvSpPr>
        <p:spPr>
          <a:xfrm>
            <a:off x="2077247" y="2051840"/>
            <a:ext cx="992959" cy="1945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159E03ED-B536-D332-FA56-F580CBAEA0AA}"/>
              </a:ext>
            </a:extLst>
          </p:cNvPr>
          <p:cNvSpPr/>
          <p:nvPr/>
        </p:nvSpPr>
        <p:spPr>
          <a:xfrm>
            <a:off x="2104644" y="2052697"/>
            <a:ext cx="9475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DOCUMENTARIAN</a:t>
            </a:r>
            <a:endParaRPr lang="en-US" sz="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0" name="Google Shape;290;p5">
            <a:extLst>
              <a:ext uri="{FF2B5EF4-FFF2-40B4-BE49-F238E27FC236}">
                <a16:creationId xmlns:a16="http://schemas.microsoft.com/office/drawing/2014/main" id="{7DF728E4-CA1B-7470-B00F-FEC50142DB68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1" name="Google Shape;291;p5">
            <a:extLst>
              <a:ext uri="{FF2B5EF4-FFF2-40B4-BE49-F238E27FC236}">
                <a16:creationId xmlns:a16="http://schemas.microsoft.com/office/drawing/2014/main" id="{DCE0D28D-409D-41C5-3B42-89CCD215345B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92" name="Google Shape;292;p5">
              <a:extLst>
                <a:ext uri="{FF2B5EF4-FFF2-40B4-BE49-F238E27FC236}">
                  <a16:creationId xmlns:a16="http://schemas.microsoft.com/office/drawing/2014/main" id="{75260CD0-78A9-5800-8F82-4764644D22B7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3" name="Google Shape;293;p5">
              <a:extLst>
                <a:ext uri="{FF2B5EF4-FFF2-40B4-BE49-F238E27FC236}">
                  <a16:creationId xmlns:a16="http://schemas.microsoft.com/office/drawing/2014/main" id="{5F6AFC7D-938A-C972-01DF-D77C85D7224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">
              <a:extLst>
                <a:ext uri="{FF2B5EF4-FFF2-40B4-BE49-F238E27FC236}">
                  <a16:creationId xmlns:a16="http://schemas.microsoft.com/office/drawing/2014/main" id="{A9FC03C7-7818-0BB5-6DFC-6C08C390B769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5" name="Google Shape;295;p5">
            <a:extLst>
              <a:ext uri="{FF2B5EF4-FFF2-40B4-BE49-F238E27FC236}">
                <a16:creationId xmlns:a16="http://schemas.microsoft.com/office/drawing/2014/main" id="{2C40E77F-C8ED-64B4-0E92-2770FB4D23CF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">
            <a:extLst>
              <a:ext uri="{FF2B5EF4-FFF2-40B4-BE49-F238E27FC236}">
                <a16:creationId xmlns:a16="http://schemas.microsoft.com/office/drawing/2014/main" id="{4837EE69-E957-8311-5AA4-7979EAFF243C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>
            <a:extLst>
              <a:ext uri="{FF2B5EF4-FFF2-40B4-BE49-F238E27FC236}">
                <a16:creationId xmlns:a16="http://schemas.microsoft.com/office/drawing/2014/main" id="{99BD288E-D88D-50C0-C5C4-CBFF7C2546E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5">
            <a:extLst>
              <a:ext uri="{FF2B5EF4-FFF2-40B4-BE49-F238E27FC236}">
                <a16:creationId xmlns:a16="http://schemas.microsoft.com/office/drawing/2014/main" id="{BDD405E8-D66F-A914-E8EC-2AB0CF006E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5">
            <a:extLst>
              <a:ext uri="{FF2B5EF4-FFF2-40B4-BE49-F238E27FC236}">
                <a16:creationId xmlns:a16="http://schemas.microsoft.com/office/drawing/2014/main" id="{DBB51F19-1052-B428-F4CE-F0644FA2D67A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7" name="Google Shape;307;p5" descr="EMB0000378c3f3d">
              <a:extLst>
                <a:ext uri="{FF2B5EF4-FFF2-40B4-BE49-F238E27FC236}">
                  <a16:creationId xmlns:a16="http://schemas.microsoft.com/office/drawing/2014/main" id="{70D6FDA5-806B-BFCD-75FF-D2A89FB507B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5">
              <a:extLst>
                <a:ext uri="{FF2B5EF4-FFF2-40B4-BE49-F238E27FC236}">
                  <a16:creationId xmlns:a16="http://schemas.microsoft.com/office/drawing/2014/main" id="{E055D127-4431-1036-3F96-3479E6D0571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9" name="Google Shape;309;p5">
            <a:extLst>
              <a:ext uri="{FF2B5EF4-FFF2-40B4-BE49-F238E27FC236}">
                <a16:creationId xmlns:a16="http://schemas.microsoft.com/office/drawing/2014/main" id="{9968DC97-7603-98EA-DD68-EA2B795094B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Text 4">
            <a:extLst>
              <a:ext uri="{FF2B5EF4-FFF2-40B4-BE49-F238E27FC236}">
                <a16:creationId xmlns:a16="http://schemas.microsoft.com/office/drawing/2014/main" id="{3FBD4EDB-F610-C7C2-B2F1-7F1934A1C38E}"/>
              </a:ext>
            </a:extLst>
          </p:cNvPr>
          <p:cNvSpPr/>
          <p:nvPr/>
        </p:nvSpPr>
        <p:spPr>
          <a:xfrm>
            <a:off x="559524" y="14274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티익스프레스</a:t>
            </a:r>
            <a:r>
              <a:rPr lang="en-US" sz="130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프로젝트 “줄서기 싫어요 (Zero Waiting)”</a:t>
            </a:r>
            <a:endParaRPr lang="en-US" sz="1300"/>
          </a:p>
        </p:txBody>
      </p:sp>
      <p:sp>
        <p:nvSpPr>
          <p:cNvPr id="265" name="Text 22">
            <a:extLst>
              <a:ext uri="{FF2B5EF4-FFF2-40B4-BE49-F238E27FC236}">
                <a16:creationId xmlns:a16="http://schemas.microsoft.com/office/drawing/2014/main" id="{F08E4FC5-F0A3-BF34-9173-5C3D0756614D}"/>
              </a:ext>
            </a:extLst>
          </p:cNvPr>
          <p:cNvSpPr/>
          <p:nvPr/>
        </p:nvSpPr>
        <p:spPr>
          <a:xfrm>
            <a:off x="724771" y="2783166"/>
            <a:ext cx="2295144" cy="3485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특성 융합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방문객의 실제 심리를 반영하여 유사한 특성 데이터 융합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파생 변수 추출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EDA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통한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nextdayoff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와 같은 파생 변수를 정의</a:t>
            </a:r>
            <a:endParaRPr lang="en-US" altLang="ko-KR" sz="950" b="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이상치 및 결측치 정제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결측치와 특정 공휴일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어린이날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)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의 이상치를 정제하여 모델 학습 왜곡 방지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상관관계 검증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대전 소규모 축제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행사 데이터와 실제 방문객 수 간의 통계적 상관관계를 조사하여 외생 변수의 유효성 검토 </a:t>
            </a: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A12FCCDE-47CF-4F01-14D8-A42CD152CD5D}"/>
              </a:ext>
            </a:extLst>
          </p:cNvPr>
          <p:cNvSpPr/>
          <p:nvPr/>
        </p:nvSpPr>
        <p:spPr>
          <a:xfrm>
            <a:off x="6272621" y="1914869"/>
            <a:ext cx="2660904" cy="4482757"/>
          </a:xfrm>
          <a:prstGeom prst="roundRect">
            <a:avLst>
              <a:gd name="adj" fmla="val 3727"/>
            </a:avLst>
          </a:prstGeom>
          <a:solidFill>
            <a:srgbClr val="E4E8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1193FD2E-43C6-DCC2-7EAC-BABBCF94982A}"/>
              </a:ext>
            </a:extLst>
          </p:cNvPr>
          <p:cNvSpPr/>
          <p:nvPr/>
        </p:nvSpPr>
        <p:spPr>
          <a:xfrm>
            <a:off x="6432004" y="206590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49712490-BA6C-2C33-2897-4E20902C6926}"/>
              </a:ext>
            </a:extLst>
          </p:cNvPr>
          <p:cNvSpPr/>
          <p:nvPr/>
        </p:nvSpPr>
        <p:spPr>
          <a:xfrm>
            <a:off x="6432004" y="2065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</a:t>
            </a:r>
            <a:endParaRPr lang="en-US" sz="180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F86B9EE1-B7CA-D375-A1D6-FA1C5A53B617}"/>
              </a:ext>
            </a:extLst>
          </p:cNvPr>
          <p:cNvSpPr/>
          <p:nvPr/>
        </p:nvSpPr>
        <p:spPr>
          <a:xfrm>
            <a:off x="6980644" y="20384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1500"/>
          </a:p>
        </p:txBody>
      </p:sp>
      <p:sp>
        <p:nvSpPr>
          <p:cNvPr id="7" name="Shape 17">
            <a:extLst>
              <a:ext uri="{FF2B5EF4-FFF2-40B4-BE49-F238E27FC236}">
                <a16:creationId xmlns:a16="http://schemas.microsoft.com/office/drawing/2014/main" id="{F538CF01-0C51-58AC-E17D-C393F2B108DE}"/>
              </a:ext>
            </a:extLst>
          </p:cNvPr>
          <p:cNvSpPr/>
          <p:nvPr/>
        </p:nvSpPr>
        <p:spPr>
          <a:xfrm>
            <a:off x="6980644" y="2321936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7F3FEC5E-8767-2C97-5378-7360F2DE0870}"/>
              </a:ext>
            </a:extLst>
          </p:cNvPr>
          <p:cNvSpPr/>
          <p:nvPr/>
        </p:nvSpPr>
        <p:spPr>
          <a:xfrm>
            <a:off x="6980644" y="2321936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/>
          </a:p>
        </p:txBody>
      </p:sp>
      <p:sp>
        <p:nvSpPr>
          <p:cNvPr id="9" name="Shape 19">
            <a:extLst>
              <a:ext uri="{FF2B5EF4-FFF2-40B4-BE49-F238E27FC236}">
                <a16:creationId xmlns:a16="http://schemas.microsoft.com/office/drawing/2014/main" id="{8AC87AE5-918E-C617-8C87-E82D699916E6}"/>
              </a:ext>
            </a:extLst>
          </p:cNvPr>
          <p:cNvSpPr/>
          <p:nvPr/>
        </p:nvSpPr>
        <p:spPr>
          <a:xfrm>
            <a:off x="8247741" y="2038472"/>
            <a:ext cx="515983" cy="20116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429CA326-2B8E-E773-DB71-39A5B46DE422}"/>
              </a:ext>
            </a:extLst>
          </p:cNvPr>
          <p:cNvSpPr/>
          <p:nvPr/>
        </p:nvSpPr>
        <p:spPr>
          <a:xfrm>
            <a:off x="8276044" y="2038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r>
              <a:rPr lang="en-US" altLang="ko-KR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800"/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70B1FD69-C309-7000-3BBE-1E47EEA22C32}"/>
              </a:ext>
            </a:extLst>
          </p:cNvPr>
          <p:cNvSpPr/>
          <p:nvPr/>
        </p:nvSpPr>
        <p:spPr>
          <a:xfrm>
            <a:off x="6450292" y="2687696"/>
            <a:ext cx="2295144" cy="0"/>
          </a:xfrm>
          <a:prstGeom prst="line">
            <a:avLst/>
          </a:prstGeom>
          <a:noFill/>
          <a:ln w="9525">
            <a:solidFill>
              <a:srgbClr val="2F3C7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A4708C06-2007-B642-0E0E-89D4B4029AFD}"/>
              </a:ext>
            </a:extLst>
          </p:cNvPr>
          <p:cNvSpPr/>
          <p:nvPr/>
        </p:nvSpPr>
        <p:spPr>
          <a:xfrm>
            <a:off x="6450292" y="2779135"/>
            <a:ext cx="2295144" cy="3489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 구성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 추이 그래프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선택 날짜 지표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6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종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 카드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 영역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모델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결정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12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가지 </a:t>
            </a:r>
            <a:r>
              <a:rPr lang="en-US" altLang="ko-KR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regression </a:t>
            </a:r>
            <a:r>
              <a:rPr lang="ko-KR" altLang="en-US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모델의 </a:t>
            </a:r>
            <a:r>
              <a:rPr lang="en-US" altLang="ko-KR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MAE, RMSE, R² </a:t>
            </a:r>
            <a:r>
              <a:rPr lang="ko-KR" altLang="en-US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값을 비교하여 최적의 모델 선정</a:t>
            </a:r>
            <a:endParaRPr lang="ko-KR" altLang="en-US" sz="950" b="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파라미터 튜닝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Optuna Framework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이용한 모델의 하이퍼파라미터 최적화</a:t>
            </a:r>
            <a:endParaRPr lang="ko-KR" altLang="en-US" sz="95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입출력 데이터 관리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학습으로 받는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feature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와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OpenAI API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통해 받는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feature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의 데이터 통일 및 관리</a:t>
            </a:r>
          </a:p>
        </p:txBody>
      </p:sp>
      <p:sp>
        <p:nvSpPr>
          <p:cNvPr id="21" name="Shape 39">
            <a:extLst>
              <a:ext uri="{FF2B5EF4-FFF2-40B4-BE49-F238E27FC236}">
                <a16:creationId xmlns:a16="http://schemas.microsoft.com/office/drawing/2014/main" id="{0E7AEA5E-71E1-FF19-EC05-950C2051007B}"/>
              </a:ext>
            </a:extLst>
          </p:cNvPr>
          <p:cNvSpPr/>
          <p:nvPr/>
        </p:nvSpPr>
        <p:spPr>
          <a:xfrm>
            <a:off x="9128107" y="1914869"/>
            <a:ext cx="2660904" cy="4482754"/>
          </a:xfrm>
          <a:prstGeom prst="roundRect">
            <a:avLst>
              <a:gd name="adj" fmla="val 3727"/>
            </a:avLst>
          </a:prstGeom>
          <a:solidFill>
            <a:srgbClr val="E4E8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40">
            <a:extLst>
              <a:ext uri="{FF2B5EF4-FFF2-40B4-BE49-F238E27FC236}">
                <a16:creationId xmlns:a16="http://schemas.microsoft.com/office/drawing/2014/main" id="{6BB8F12F-D391-1B8C-CE65-5016A5FDD26F}"/>
              </a:ext>
            </a:extLst>
          </p:cNvPr>
          <p:cNvSpPr/>
          <p:nvPr/>
        </p:nvSpPr>
        <p:spPr>
          <a:xfrm>
            <a:off x="9292699" y="2069935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41">
            <a:extLst>
              <a:ext uri="{FF2B5EF4-FFF2-40B4-BE49-F238E27FC236}">
                <a16:creationId xmlns:a16="http://schemas.microsoft.com/office/drawing/2014/main" id="{D1CCC119-8019-D87D-FBCB-23B43708B447}"/>
              </a:ext>
            </a:extLst>
          </p:cNvPr>
          <p:cNvSpPr/>
          <p:nvPr/>
        </p:nvSpPr>
        <p:spPr>
          <a:xfrm>
            <a:off x="9292699" y="20699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</a:t>
            </a:r>
            <a:endParaRPr lang="en-US" sz="1800"/>
          </a:p>
        </p:txBody>
      </p:sp>
      <p:sp>
        <p:nvSpPr>
          <p:cNvPr id="24" name="Text 42">
            <a:extLst>
              <a:ext uri="{FF2B5EF4-FFF2-40B4-BE49-F238E27FC236}">
                <a16:creationId xmlns:a16="http://schemas.microsoft.com/office/drawing/2014/main" id="{4A484A08-0828-D7DC-3107-8D258105F534}"/>
              </a:ext>
            </a:extLst>
          </p:cNvPr>
          <p:cNvSpPr/>
          <p:nvPr/>
        </p:nvSpPr>
        <p:spPr>
          <a:xfrm>
            <a:off x="9841339" y="2042503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김태욱</a:t>
            </a:r>
            <a:endParaRPr lang="en-US" sz="1500"/>
          </a:p>
        </p:txBody>
      </p:sp>
      <p:sp>
        <p:nvSpPr>
          <p:cNvPr id="25" name="Shape 43">
            <a:extLst>
              <a:ext uri="{FF2B5EF4-FFF2-40B4-BE49-F238E27FC236}">
                <a16:creationId xmlns:a16="http://schemas.microsoft.com/office/drawing/2014/main" id="{1BD1729E-D700-0D29-062B-D59D8472F2D3}"/>
              </a:ext>
            </a:extLst>
          </p:cNvPr>
          <p:cNvSpPr/>
          <p:nvPr/>
        </p:nvSpPr>
        <p:spPr>
          <a:xfrm>
            <a:off x="9841339" y="2325967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44">
            <a:extLst>
              <a:ext uri="{FF2B5EF4-FFF2-40B4-BE49-F238E27FC236}">
                <a16:creationId xmlns:a16="http://schemas.microsoft.com/office/drawing/2014/main" id="{E1E44A79-A53A-1A1B-BF46-B6526A4EE768}"/>
              </a:ext>
            </a:extLst>
          </p:cNvPr>
          <p:cNvSpPr/>
          <p:nvPr/>
        </p:nvSpPr>
        <p:spPr>
          <a:xfrm>
            <a:off x="9841339" y="2325967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6051A6B4-C212-18F0-2A8A-36FEEA763C2F}"/>
              </a:ext>
            </a:extLst>
          </p:cNvPr>
          <p:cNvSpPr/>
          <p:nvPr/>
        </p:nvSpPr>
        <p:spPr>
          <a:xfrm>
            <a:off x="9310987" y="2691727"/>
            <a:ext cx="2295144" cy="0"/>
          </a:xfrm>
          <a:prstGeom prst="line">
            <a:avLst/>
          </a:prstGeom>
          <a:noFill/>
          <a:ln w="9525">
            <a:solidFill>
              <a:srgbClr val="2F3C7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46">
            <a:extLst>
              <a:ext uri="{FF2B5EF4-FFF2-40B4-BE49-F238E27FC236}">
                <a16:creationId xmlns:a16="http://schemas.microsoft.com/office/drawing/2014/main" id="{91BFD1C8-78D0-F7B8-936C-D1D11A127EE1}"/>
              </a:ext>
            </a:extLst>
          </p:cNvPr>
          <p:cNvSpPr/>
          <p:nvPr/>
        </p:nvSpPr>
        <p:spPr>
          <a:xfrm>
            <a:off x="9310987" y="2783167"/>
            <a:ext cx="2295144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8000"/>
              </a:lnSpc>
              <a:buNone/>
            </a:pPr>
            <a:r>
              <a:rPr lang="en-US" sz="950">
                <a:solidFill>
                  <a:srgbClr val="3A3F4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Calibri" pitchFamily="34" charset="-120"/>
              </a:rPr>
              <a:t>혼잡도 Classification 모델 탐색(K-means → CatBoost) · f1-score 기반 성능 최적화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64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0FD85857-6B55-591B-260A-9B8B68C3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">
            <a:extLst>
              <a:ext uri="{FF2B5EF4-FFF2-40B4-BE49-F238E27FC236}">
                <a16:creationId xmlns:a16="http://schemas.microsoft.com/office/drawing/2014/main" id="{9E4FDE0B-BB16-BADE-9CE2-2D9159EF73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">
            <a:extLst>
              <a:ext uri="{FF2B5EF4-FFF2-40B4-BE49-F238E27FC236}">
                <a16:creationId xmlns:a16="http://schemas.microsoft.com/office/drawing/2014/main" id="{3FC96EFB-7429-5085-82C3-7EDCB169CA0F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1" name="Google Shape;291;p5">
            <a:extLst>
              <a:ext uri="{FF2B5EF4-FFF2-40B4-BE49-F238E27FC236}">
                <a16:creationId xmlns:a16="http://schemas.microsoft.com/office/drawing/2014/main" id="{6E7E9416-9ED7-4EC3-A62C-776E6274ABA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92" name="Google Shape;292;p5">
              <a:extLst>
                <a:ext uri="{FF2B5EF4-FFF2-40B4-BE49-F238E27FC236}">
                  <a16:creationId xmlns:a16="http://schemas.microsoft.com/office/drawing/2014/main" id="{B3597A8E-37A0-1431-0B58-99B981DBEDD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3" name="Google Shape;293;p5">
              <a:extLst>
                <a:ext uri="{FF2B5EF4-FFF2-40B4-BE49-F238E27FC236}">
                  <a16:creationId xmlns:a16="http://schemas.microsoft.com/office/drawing/2014/main" id="{5E95B467-3798-B6FB-191E-4AC90270CE72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">
              <a:extLst>
                <a:ext uri="{FF2B5EF4-FFF2-40B4-BE49-F238E27FC236}">
                  <a16:creationId xmlns:a16="http://schemas.microsoft.com/office/drawing/2014/main" id="{971D36BB-4E60-AF0F-5499-8CFD2DB007B8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5" name="Google Shape;295;p5">
            <a:extLst>
              <a:ext uri="{FF2B5EF4-FFF2-40B4-BE49-F238E27FC236}">
                <a16:creationId xmlns:a16="http://schemas.microsoft.com/office/drawing/2014/main" id="{A045C0B2-8B7A-DDE5-33D1-57E8D0A216C0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">
            <a:extLst>
              <a:ext uri="{FF2B5EF4-FFF2-40B4-BE49-F238E27FC236}">
                <a16:creationId xmlns:a16="http://schemas.microsoft.com/office/drawing/2014/main" id="{387BF431-B418-3A00-278D-B7CA04986357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>
            <a:extLst>
              <a:ext uri="{FF2B5EF4-FFF2-40B4-BE49-F238E27FC236}">
                <a16:creationId xmlns:a16="http://schemas.microsoft.com/office/drawing/2014/main" id="{2EA68F7E-3491-D536-AEEB-2E02C555A6D8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5">
            <a:extLst>
              <a:ext uri="{FF2B5EF4-FFF2-40B4-BE49-F238E27FC236}">
                <a16:creationId xmlns:a16="http://schemas.microsoft.com/office/drawing/2014/main" id="{71570294-891C-7BD6-230B-AFD5412215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5">
            <a:extLst>
              <a:ext uri="{FF2B5EF4-FFF2-40B4-BE49-F238E27FC236}">
                <a16:creationId xmlns:a16="http://schemas.microsoft.com/office/drawing/2014/main" id="{A94B5327-8EE7-3860-63F2-2CBFE08A6D22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7" name="Google Shape;307;p5" descr="EMB0000378c3f3d">
              <a:extLst>
                <a:ext uri="{FF2B5EF4-FFF2-40B4-BE49-F238E27FC236}">
                  <a16:creationId xmlns:a16="http://schemas.microsoft.com/office/drawing/2014/main" id="{E05C5C04-54EE-4342-0C02-B105C584061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5">
              <a:extLst>
                <a:ext uri="{FF2B5EF4-FFF2-40B4-BE49-F238E27FC236}">
                  <a16:creationId xmlns:a16="http://schemas.microsoft.com/office/drawing/2014/main" id="{28727128-6A83-3B3F-2605-5B7EE3FFF32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9" name="Google Shape;309;p5">
            <a:extLst>
              <a:ext uri="{FF2B5EF4-FFF2-40B4-BE49-F238E27FC236}">
                <a16:creationId xmlns:a16="http://schemas.microsoft.com/office/drawing/2014/main" id="{2556554F-3ABC-F544-0DCF-9F19B69AA16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23">
            <a:extLst>
              <a:ext uri="{FF2B5EF4-FFF2-40B4-BE49-F238E27FC236}">
                <a16:creationId xmlns:a16="http://schemas.microsoft.com/office/drawing/2014/main" id="{52E36A22-40D1-305D-9209-B3636A104D97}"/>
              </a:ext>
            </a:extLst>
          </p:cNvPr>
          <p:cNvSpPr/>
          <p:nvPr/>
        </p:nvSpPr>
        <p:spPr>
          <a:xfrm>
            <a:off x="558437" y="1905344"/>
            <a:ext cx="2660904" cy="4482756"/>
          </a:xfrm>
          <a:prstGeom prst="roundRect">
            <a:avLst>
              <a:gd name="adj" fmla="val 3727"/>
            </a:avLst>
          </a:prstGeom>
          <a:solidFill>
            <a:srgbClr val="EFE6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24">
            <a:extLst>
              <a:ext uri="{FF2B5EF4-FFF2-40B4-BE49-F238E27FC236}">
                <a16:creationId xmlns:a16="http://schemas.microsoft.com/office/drawing/2014/main" id="{9D0C0F8B-A190-D950-31B5-370AB2E17DDA}"/>
              </a:ext>
            </a:extLst>
          </p:cNvPr>
          <p:cNvSpPr/>
          <p:nvPr/>
        </p:nvSpPr>
        <p:spPr>
          <a:xfrm>
            <a:off x="723029" y="2069936"/>
            <a:ext cx="457200" cy="457200"/>
          </a:xfrm>
          <a:prstGeom prst="ellipse">
            <a:avLst/>
          </a:prstGeom>
          <a:solidFill>
            <a:srgbClr val="6D3E9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B4E144EC-8838-B998-19CB-D36F429CFF2A}"/>
              </a:ext>
            </a:extLst>
          </p:cNvPr>
          <p:cNvSpPr/>
          <p:nvPr/>
        </p:nvSpPr>
        <p:spPr>
          <a:xfrm>
            <a:off x="723029" y="206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</a:t>
            </a:r>
            <a:endParaRPr lang="en-US" sz="1800"/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E063FCF9-7432-87A4-E06D-6B3A477B96DE}"/>
              </a:ext>
            </a:extLst>
          </p:cNvPr>
          <p:cNvSpPr/>
          <p:nvPr/>
        </p:nvSpPr>
        <p:spPr>
          <a:xfrm>
            <a:off x="1271669" y="20425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고을희</a:t>
            </a:r>
            <a:endParaRPr lang="en-US" sz="1500"/>
          </a:p>
        </p:txBody>
      </p:sp>
      <p:sp>
        <p:nvSpPr>
          <p:cNvPr id="16" name="Shape 27">
            <a:extLst>
              <a:ext uri="{FF2B5EF4-FFF2-40B4-BE49-F238E27FC236}">
                <a16:creationId xmlns:a16="http://schemas.microsoft.com/office/drawing/2014/main" id="{48BA34E1-9CC8-2225-5DD5-15C3DA184FEA}"/>
              </a:ext>
            </a:extLst>
          </p:cNvPr>
          <p:cNvSpPr/>
          <p:nvPr/>
        </p:nvSpPr>
        <p:spPr>
          <a:xfrm>
            <a:off x="1271669" y="2325968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6D3E9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8895582B-792A-B644-7B22-FAADA09C25B7}"/>
              </a:ext>
            </a:extLst>
          </p:cNvPr>
          <p:cNvSpPr/>
          <p:nvPr/>
        </p:nvSpPr>
        <p:spPr>
          <a:xfrm>
            <a:off x="1271669" y="2325968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18" name="Shape 29">
            <a:extLst>
              <a:ext uri="{FF2B5EF4-FFF2-40B4-BE49-F238E27FC236}">
                <a16:creationId xmlns:a16="http://schemas.microsoft.com/office/drawing/2014/main" id="{8E76913C-25A7-20E6-06F8-D36B6873D064}"/>
              </a:ext>
            </a:extLst>
          </p:cNvPr>
          <p:cNvSpPr/>
          <p:nvPr/>
        </p:nvSpPr>
        <p:spPr>
          <a:xfrm>
            <a:off x="741317" y="2691728"/>
            <a:ext cx="2295144" cy="0"/>
          </a:xfrm>
          <a:prstGeom prst="line">
            <a:avLst/>
          </a:prstGeom>
          <a:noFill/>
          <a:ln w="9525">
            <a:solidFill>
              <a:srgbClr val="6D3E9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30">
            <a:extLst>
              <a:ext uri="{FF2B5EF4-FFF2-40B4-BE49-F238E27FC236}">
                <a16:creationId xmlns:a16="http://schemas.microsoft.com/office/drawing/2014/main" id="{7B86AECC-32FD-9AD2-9DF4-5DC6BEEEDA22}"/>
              </a:ext>
            </a:extLst>
          </p:cNvPr>
          <p:cNvSpPr/>
          <p:nvPr/>
        </p:nvSpPr>
        <p:spPr>
          <a:xfrm>
            <a:off x="741317" y="2783167"/>
            <a:ext cx="2295144" cy="350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Web Search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Built-in-tools </a:t>
            </a:r>
            <a:r>
              <a:rPr lang="ko-KR" altLang="en-US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중 </a:t>
            </a:r>
            <a:r>
              <a:rPr lang="en-US" altLang="ko-KR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Web search</a:t>
            </a:r>
            <a:r>
              <a:rPr lang="ko-KR" altLang="en-US" sz="95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이용하여 대전 오월드 공지사항 수집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데이터 요약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공지사항 데이터를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AI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활용하여 요약하여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UI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그룹에 전달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날씨 데이터 수집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Open-Meteo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활용한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14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일 날씨 데이터 수집</a:t>
            </a:r>
            <a:endParaRPr lang="ko-KR" altLang="en-US" sz="95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토큰 최적화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Search Budget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에 한도를 설정하여 불필요한 토큰 사용 최소화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환각 탐지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텍스트 기반 데이터만 수집하도록 설계하여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AI Hallucination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방지</a:t>
            </a:r>
            <a:endParaRPr lang="en-US" altLang="ko-KR" sz="95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0E465C94-0E60-1E72-62B7-98E50AA84DC0}"/>
              </a:ext>
            </a:extLst>
          </p:cNvPr>
          <p:cNvSpPr/>
          <p:nvPr/>
        </p:nvSpPr>
        <p:spPr>
          <a:xfrm>
            <a:off x="6266035" y="1914867"/>
            <a:ext cx="2660904" cy="4482755"/>
          </a:xfrm>
          <a:prstGeom prst="roundRect">
            <a:avLst>
              <a:gd name="adj" fmla="val 3727"/>
            </a:avLst>
          </a:prstGeom>
          <a:solidFill>
            <a:srgbClr val="FBEBD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32">
            <a:extLst>
              <a:ext uri="{FF2B5EF4-FFF2-40B4-BE49-F238E27FC236}">
                <a16:creationId xmlns:a16="http://schemas.microsoft.com/office/drawing/2014/main" id="{CF51785E-55AA-C9FD-3058-9CF02E19271F}"/>
              </a:ext>
            </a:extLst>
          </p:cNvPr>
          <p:cNvSpPr/>
          <p:nvPr/>
        </p:nvSpPr>
        <p:spPr>
          <a:xfrm>
            <a:off x="6430627" y="2069935"/>
            <a:ext cx="457200" cy="457200"/>
          </a:xfrm>
          <a:prstGeom prst="ellipse">
            <a:avLst/>
          </a:prstGeom>
          <a:solidFill>
            <a:srgbClr val="C27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33">
            <a:extLst>
              <a:ext uri="{FF2B5EF4-FFF2-40B4-BE49-F238E27FC236}">
                <a16:creationId xmlns:a16="http://schemas.microsoft.com/office/drawing/2014/main" id="{6C42FF40-991F-58C5-4C63-FDAB756BA688}"/>
              </a:ext>
            </a:extLst>
          </p:cNvPr>
          <p:cNvSpPr/>
          <p:nvPr/>
        </p:nvSpPr>
        <p:spPr>
          <a:xfrm>
            <a:off x="6430627" y="20699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</a:t>
            </a:r>
            <a:endParaRPr lang="en-US" sz="1800"/>
          </a:p>
        </p:txBody>
      </p:sp>
      <p:sp>
        <p:nvSpPr>
          <p:cNvPr id="23" name="Text 34">
            <a:extLst>
              <a:ext uri="{FF2B5EF4-FFF2-40B4-BE49-F238E27FC236}">
                <a16:creationId xmlns:a16="http://schemas.microsoft.com/office/drawing/2014/main" id="{C4B2B1B2-F16C-A741-6D43-1CEB129CE5D2}"/>
              </a:ext>
            </a:extLst>
          </p:cNvPr>
          <p:cNvSpPr/>
          <p:nvPr/>
        </p:nvSpPr>
        <p:spPr>
          <a:xfrm>
            <a:off x="6979267" y="2042503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구경섭</a:t>
            </a:r>
            <a:endParaRPr lang="en-US" sz="1500"/>
          </a:p>
        </p:txBody>
      </p:sp>
      <p:sp>
        <p:nvSpPr>
          <p:cNvPr id="24" name="Shape 35">
            <a:extLst>
              <a:ext uri="{FF2B5EF4-FFF2-40B4-BE49-F238E27FC236}">
                <a16:creationId xmlns:a16="http://schemas.microsoft.com/office/drawing/2014/main" id="{B4024CB7-4515-08EF-8745-1BDFA8FA18E3}"/>
              </a:ext>
            </a:extLst>
          </p:cNvPr>
          <p:cNvSpPr/>
          <p:nvPr/>
        </p:nvSpPr>
        <p:spPr>
          <a:xfrm>
            <a:off x="6979267" y="2325967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C27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36">
            <a:extLst>
              <a:ext uri="{FF2B5EF4-FFF2-40B4-BE49-F238E27FC236}">
                <a16:creationId xmlns:a16="http://schemas.microsoft.com/office/drawing/2014/main" id="{2813ED3B-AA7B-B02C-1632-3D3FFE9F1747}"/>
              </a:ext>
            </a:extLst>
          </p:cNvPr>
          <p:cNvSpPr/>
          <p:nvPr/>
        </p:nvSpPr>
        <p:spPr>
          <a:xfrm>
            <a:off x="6979267" y="2325967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26" name="Shape 37">
            <a:extLst>
              <a:ext uri="{FF2B5EF4-FFF2-40B4-BE49-F238E27FC236}">
                <a16:creationId xmlns:a16="http://schemas.microsoft.com/office/drawing/2014/main" id="{D6DFB019-FF65-3C9B-A359-C15BBCC666D5}"/>
              </a:ext>
            </a:extLst>
          </p:cNvPr>
          <p:cNvSpPr/>
          <p:nvPr/>
        </p:nvSpPr>
        <p:spPr>
          <a:xfrm>
            <a:off x="6448915" y="2691727"/>
            <a:ext cx="2295144" cy="0"/>
          </a:xfrm>
          <a:prstGeom prst="line">
            <a:avLst/>
          </a:prstGeom>
          <a:noFill/>
          <a:ln w="9525">
            <a:solidFill>
              <a:srgbClr val="C2703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38">
            <a:extLst>
              <a:ext uri="{FF2B5EF4-FFF2-40B4-BE49-F238E27FC236}">
                <a16:creationId xmlns:a16="http://schemas.microsoft.com/office/drawing/2014/main" id="{B86E269A-5E19-1C73-CF2A-2A512BC5EDAA}"/>
              </a:ext>
            </a:extLst>
          </p:cNvPr>
          <p:cNvSpPr/>
          <p:nvPr/>
        </p:nvSpPr>
        <p:spPr>
          <a:xfrm>
            <a:off x="6448915" y="2783166"/>
            <a:ext cx="2295144" cy="3500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데이터 연동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build_ui_payload()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로 날씨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·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방문객 예측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·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혼잡도 데이터를 수신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UI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스키마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변환 받아온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 payload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ROW_COLUMNS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으로 정규화</a:t>
            </a:r>
          </a:p>
          <a:p>
            <a:pPr marL="85725" indent="-85725">
              <a:lnSpc>
                <a:spcPct val="130000"/>
              </a:lnSpc>
              <a:spcBef>
                <a:spcPts val="0"/>
              </a:spcBef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중복 방지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예측 호출의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include_notice=False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설정 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       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→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api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중복 호출 방지 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변수명 및 형식 통일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endParaRPr lang="ko-KR" altLang="en-US" sz="950" b="1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</a:pP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  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temperature → temp,   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</a:pP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   predicted_visitors → pred_visitors,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</a:pP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   congestion 0/1/2 →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여유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/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보통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/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950" b="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  <p:sp>
        <p:nvSpPr>
          <p:cNvPr id="260" name="Text 4">
            <a:extLst>
              <a:ext uri="{FF2B5EF4-FFF2-40B4-BE49-F238E27FC236}">
                <a16:creationId xmlns:a16="http://schemas.microsoft.com/office/drawing/2014/main" id="{552D796F-42A9-DBEE-E7EA-98254C69799D}"/>
              </a:ext>
            </a:extLst>
          </p:cNvPr>
          <p:cNvSpPr/>
          <p:nvPr/>
        </p:nvSpPr>
        <p:spPr>
          <a:xfrm>
            <a:off x="559524" y="14274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티익스프레스</a:t>
            </a:r>
            <a:r>
              <a:rPr lang="en-US" sz="130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프로젝트 “줄서기 싫어요 (Zero Waiting)”</a:t>
            </a:r>
            <a:endParaRPr lang="en-US" sz="1300"/>
          </a:p>
        </p:txBody>
      </p:sp>
      <p:sp>
        <p:nvSpPr>
          <p:cNvPr id="264" name="Shape 71">
            <a:extLst>
              <a:ext uri="{FF2B5EF4-FFF2-40B4-BE49-F238E27FC236}">
                <a16:creationId xmlns:a16="http://schemas.microsoft.com/office/drawing/2014/main" id="{4ED51C68-71F5-4C73-24B0-38F94033779D}"/>
              </a:ext>
            </a:extLst>
          </p:cNvPr>
          <p:cNvSpPr/>
          <p:nvPr/>
        </p:nvSpPr>
        <p:spPr>
          <a:xfrm>
            <a:off x="3422251" y="1916849"/>
            <a:ext cx="2660904" cy="4482753"/>
          </a:xfrm>
          <a:prstGeom prst="roundRect">
            <a:avLst>
              <a:gd name="adj" fmla="val 3727"/>
            </a:avLst>
          </a:prstGeom>
          <a:solidFill>
            <a:srgbClr val="EFE6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72">
            <a:extLst>
              <a:ext uri="{FF2B5EF4-FFF2-40B4-BE49-F238E27FC236}">
                <a16:creationId xmlns:a16="http://schemas.microsoft.com/office/drawing/2014/main" id="{2829D9A0-C80A-AA26-7A45-C5FEF5DD107C}"/>
              </a:ext>
            </a:extLst>
          </p:cNvPr>
          <p:cNvSpPr/>
          <p:nvPr/>
        </p:nvSpPr>
        <p:spPr>
          <a:xfrm>
            <a:off x="3586843" y="2081442"/>
            <a:ext cx="457200" cy="457200"/>
          </a:xfrm>
          <a:prstGeom prst="ellipse">
            <a:avLst/>
          </a:prstGeom>
          <a:solidFill>
            <a:srgbClr val="6D3E9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6" name="Text 73">
            <a:extLst>
              <a:ext uri="{FF2B5EF4-FFF2-40B4-BE49-F238E27FC236}">
                <a16:creationId xmlns:a16="http://schemas.microsoft.com/office/drawing/2014/main" id="{7DD062C1-738E-F136-CD69-B2A846950A31}"/>
              </a:ext>
            </a:extLst>
          </p:cNvPr>
          <p:cNvSpPr/>
          <p:nvPr/>
        </p:nvSpPr>
        <p:spPr>
          <a:xfrm>
            <a:off x="3586843" y="20814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</a:t>
            </a:r>
            <a:endParaRPr lang="en-US" sz="1800"/>
          </a:p>
        </p:txBody>
      </p:sp>
      <p:sp>
        <p:nvSpPr>
          <p:cNvPr id="269" name="Text 74">
            <a:extLst>
              <a:ext uri="{FF2B5EF4-FFF2-40B4-BE49-F238E27FC236}">
                <a16:creationId xmlns:a16="http://schemas.microsoft.com/office/drawing/2014/main" id="{83AA45BE-D53C-7F6D-DB5A-3F76983CD5EE}"/>
              </a:ext>
            </a:extLst>
          </p:cNvPr>
          <p:cNvSpPr/>
          <p:nvPr/>
        </p:nvSpPr>
        <p:spPr>
          <a:xfrm>
            <a:off x="4135483" y="205401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조용찬</a:t>
            </a:r>
            <a:endParaRPr lang="en-US" sz="1500"/>
          </a:p>
        </p:txBody>
      </p:sp>
      <p:sp>
        <p:nvSpPr>
          <p:cNvPr id="270" name="Shape 75">
            <a:extLst>
              <a:ext uri="{FF2B5EF4-FFF2-40B4-BE49-F238E27FC236}">
                <a16:creationId xmlns:a16="http://schemas.microsoft.com/office/drawing/2014/main" id="{84874939-7040-2F0E-52D3-809192AD4610}"/>
              </a:ext>
            </a:extLst>
          </p:cNvPr>
          <p:cNvSpPr/>
          <p:nvPr/>
        </p:nvSpPr>
        <p:spPr>
          <a:xfrm>
            <a:off x="4135483" y="2337474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6D3E9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1" name="Text 76">
            <a:extLst>
              <a:ext uri="{FF2B5EF4-FFF2-40B4-BE49-F238E27FC236}">
                <a16:creationId xmlns:a16="http://schemas.microsoft.com/office/drawing/2014/main" id="{BA733828-1B48-DD83-F255-AAAD1D68D4FB}"/>
              </a:ext>
            </a:extLst>
          </p:cNvPr>
          <p:cNvSpPr/>
          <p:nvPr/>
        </p:nvSpPr>
        <p:spPr>
          <a:xfrm>
            <a:off x="4135483" y="233747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272" name="Shape 77">
            <a:extLst>
              <a:ext uri="{FF2B5EF4-FFF2-40B4-BE49-F238E27FC236}">
                <a16:creationId xmlns:a16="http://schemas.microsoft.com/office/drawing/2014/main" id="{5C626B3D-4FE6-343B-633A-5A2FD2F06045}"/>
              </a:ext>
            </a:extLst>
          </p:cNvPr>
          <p:cNvSpPr/>
          <p:nvPr/>
        </p:nvSpPr>
        <p:spPr>
          <a:xfrm>
            <a:off x="3605131" y="2703234"/>
            <a:ext cx="2295144" cy="0"/>
          </a:xfrm>
          <a:prstGeom prst="line">
            <a:avLst/>
          </a:prstGeom>
          <a:noFill/>
          <a:ln w="9525">
            <a:solidFill>
              <a:srgbClr val="6D3E9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" name="Text 78">
            <a:extLst>
              <a:ext uri="{FF2B5EF4-FFF2-40B4-BE49-F238E27FC236}">
                <a16:creationId xmlns:a16="http://schemas.microsoft.com/office/drawing/2014/main" id="{AF9904F7-9B35-F6C6-D26E-5ED8AC1C4059}"/>
              </a:ext>
            </a:extLst>
          </p:cNvPr>
          <p:cNvSpPr/>
          <p:nvPr/>
        </p:nvSpPr>
        <p:spPr>
          <a:xfrm>
            <a:off x="3605131" y="2794673"/>
            <a:ext cx="2295144" cy="348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Custom tools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 모델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API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검색 등 함수를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custom tools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를 이용한 파이프라인 구축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endParaRPr lang="ko-KR" altLang="en-US" sz="95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OpenAI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연계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Custom tools pipeline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을 통한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AI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모델 설계</a:t>
            </a:r>
            <a:endParaRPr lang="en-US" altLang="ko-KR" sz="950" b="1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입출력 데이터 관리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 모델의 입출력 데이터 구조 명확화 및 타 그룹과 소통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호환성 검증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Streamlit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을 이용한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UI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구현 간 데이터 전송 호환성 검증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파이프라인 구현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AI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모델의 입력부터 출력까지 전체적인 파이프라인 관리 및 구현</a:t>
            </a:r>
            <a:endParaRPr lang="en-US" altLang="ko-KR" sz="95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  <p:sp>
        <p:nvSpPr>
          <p:cNvPr id="274" name="Shape 55">
            <a:extLst>
              <a:ext uri="{FF2B5EF4-FFF2-40B4-BE49-F238E27FC236}">
                <a16:creationId xmlns:a16="http://schemas.microsoft.com/office/drawing/2014/main" id="{A7EC7A87-1369-EF26-E23C-75CBE75562FE}"/>
              </a:ext>
            </a:extLst>
          </p:cNvPr>
          <p:cNvSpPr/>
          <p:nvPr/>
        </p:nvSpPr>
        <p:spPr>
          <a:xfrm>
            <a:off x="9140871" y="1916849"/>
            <a:ext cx="2660904" cy="4482754"/>
          </a:xfrm>
          <a:prstGeom prst="roundRect">
            <a:avLst>
              <a:gd name="adj" fmla="val 3727"/>
            </a:avLst>
          </a:prstGeom>
          <a:solidFill>
            <a:srgbClr val="FBEBD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56">
            <a:extLst>
              <a:ext uri="{FF2B5EF4-FFF2-40B4-BE49-F238E27FC236}">
                <a16:creationId xmlns:a16="http://schemas.microsoft.com/office/drawing/2014/main" id="{817A8E4C-42CB-AA38-82D7-0D2B6F5A08BF}"/>
              </a:ext>
            </a:extLst>
          </p:cNvPr>
          <p:cNvSpPr/>
          <p:nvPr/>
        </p:nvSpPr>
        <p:spPr>
          <a:xfrm>
            <a:off x="9305463" y="2081441"/>
            <a:ext cx="457200" cy="457200"/>
          </a:xfrm>
          <a:prstGeom prst="ellipse">
            <a:avLst/>
          </a:prstGeom>
          <a:solidFill>
            <a:srgbClr val="C27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6" name="Text 57">
            <a:extLst>
              <a:ext uri="{FF2B5EF4-FFF2-40B4-BE49-F238E27FC236}">
                <a16:creationId xmlns:a16="http://schemas.microsoft.com/office/drawing/2014/main" id="{E50BFADD-15AF-CCF3-A6CD-355B1C0E5A6B}"/>
              </a:ext>
            </a:extLst>
          </p:cNvPr>
          <p:cNvSpPr/>
          <p:nvPr/>
        </p:nvSpPr>
        <p:spPr>
          <a:xfrm>
            <a:off x="9305463" y="20814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</a:t>
            </a:r>
            <a:endParaRPr lang="en-US" sz="1800"/>
          </a:p>
        </p:txBody>
      </p:sp>
      <p:sp>
        <p:nvSpPr>
          <p:cNvPr id="277" name="Text 58">
            <a:extLst>
              <a:ext uri="{FF2B5EF4-FFF2-40B4-BE49-F238E27FC236}">
                <a16:creationId xmlns:a16="http://schemas.microsoft.com/office/drawing/2014/main" id="{9283B1E4-1C96-25CE-8010-CA461E8CB8CE}"/>
              </a:ext>
            </a:extLst>
          </p:cNvPr>
          <p:cNvSpPr/>
          <p:nvPr/>
        </p:nvSpPr>
        <p:spPr>
          <a:xfrm>
            <a:off x="9854103" y="2054009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서효빈</a:t>
            </a:r>
            <a:endParaRPr lang="en-US" sz="1500"/>
          </a:p>
        </p:txBody>
      </p:sp>
      <p:sp>
        <p:nvSpPr>
          <p:cNvPr id="278" name="Shape 59">
            <a:extLst>
              <a:ext uri="{FF2B5EF4-FFF2-40B4-BE49-F238E27FC236}">
                <a16:creationId xmlns:a16="http://schemas.microsoft.com/office/drawing/2014/main" id="{C470DA6E-3CAE-30D8-D1FD-B6BD07B86ACF}"/>
              </a:ext>
            </a:extLst>
          </p:cNvPr>
          <p:cNvSpPr/>
          <p:nvPr/>
        </p:nvSpPr>
        <p:spPr>
          <a:xfrm>
            <a:off x="9854103" y="2337473"/>
            <a:ext cx="1764792" cy="237744"/>
          </a:xfrm>
          <a:prstGeom prst="roundRect">
            <a:avLst>
              <a:gd name="adj" fmla="val 50000"/>
            </a:avLst>
          </a:prstGeom>
          <a:solidFill>
            <a:srgbClr val="C270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9" name="Text 60">
            <a:extLst>
              <a:ext uri="{FF2B5EF4-FFF2-40B4-BE49-F238E27FC236}">
                <a16:creationId xmlns:a16="http://schemas.microsoft.com/office/drawing/2014/main" id="{741F0DAB-726A-814D-B968-0FB58C357C3C}"/>
              </a:ext>
            </a:extLst>
          </p:cNvPr>
          <p:cNvSpPr/>
          <p:nvPr/>
        </p:nvSpPr>
        <p:spPr>
          <a:xfrm>
            <a:off x="9854103" y="2337473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</a:t>
            </a:r>
            <a:endParaRPr lang="en-US" sz="1000"/>
          </a:p>
        </p:txBody>
      </p:sp>
      <p:sp>
        <p:nvSpPr>
          <p:cNvPr id="280" name="Shape 61">
            <a:extLst>
              <a:ext uri="{FF2B5EF4-FFF2-40B4-BE49-F238E27FC236}">
                <a16:creationId xmlns:a16="http://schemas.microsoft.com/office/drawing/2014/main" id="{59336705-5E76-2205-789A-1125C61D0BFD}"/>
              </a:ext>
            </a:extLst>
          </p:cNvPr>
          <p:cNvSpPr/>
          <p:nvPr/>
        </p:nvSpPr>
        <p:spPr>
          <a:xfrm>
            <a:off x="9323751" y="2703233"/>
            <a:ext cx="2295144" cy="0"/>
          </a:xfrm>
          <a:prstGeom prst="line">
            <a:avLst/>
          </a:prstGeom>
          <a:noFill/>
          <a:ln w="9525">
            <a:solidFill>
              <a:srgbClr val="C2703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19">
            <a:extLst>
              <a:ext uri="{FF2B5EF4-FFF2-40B4-BE49-F238E27FC236}">
                <a16:creationId xmlns:a16="http://schemas.microsoft.com/office/drawing/2014/main" id="{1AE606E1-B6A5-62EA-5251-A6D43DD9D9E0}"/>
              </a:ext>
            </a:extLst>
          </p:cNvPr>
          <p:cNvSpPr/>
          <p:nvPr/>
        </p:nvSpPr>
        <p:spPr>
          <a:xfrm>
            <a:off x="10613806" y="2068075"/>
            <a:ext cx="992959" cy="1945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2" name="Text 20">
            <a:extLst>
              <a:ext uri="{FF2B5EF4-FFF2-40B4-BE49-F238E27FC236}">
                <a16:creationId xmlns:a16="http://schemas.microsoft.com/office/drawing/2014/main" id="{640E549F-C886-D89E-F251-6D45E070DD88}"/>
              </a:ext>
            </a:extLst>
          </p:cNvPr>
          <p:cNvSpPr/>
          <p:nvPr/>
        </p:nvSpPr>
        <p:spPr>
          <a:xfrm>
            <a:off x="10641203" y="2068932"/>
            <a:ext cx="9475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DOCUMENTARIAN</a:t>
            </a:r>
            <a:endParaRPr lang="en-US" sz="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3" name="Text 30">
            <a:extLst>
              <a:ext uri="{FF2B5EF4-FFF2-40B4-BE49-F238E27FC236}">
                <a16:creationId xmlns:a16="http://schemas.microsoft.com/office/drawing/2014/main" id="{2ECA2900-91F8-A38A-2D50-AF1C2F4C14E2}"/>
              </a:ext>
            </a:extLst>
          </p:cNvPr>
          <p:cNvSpPr/>
          <p:nvPr/>
        </p:nvSpPr>
        <p:spPr>
          <a:xfrm>
            <a:off x="9323751" y="2798702"/>
            <a:ext cx="2295144" cy="3489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 구성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 추이 그래프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선택 날짜 지표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6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종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 카드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 영역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 계산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선호도 가중치로 최종 점수 산출 → 추천일과 다음 후보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3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건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상호작용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막대 클릭으로 날짜 선택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슬라이더 변경 시 추천일로 자동 이동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성능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·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캐시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/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 로딩 분리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디스크 캐시와 캐시 키 설계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표시 규칙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혼잡도 색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·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추천일 테두리 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·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공휴일 색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복장 안내 문구</a:t>
            </a:r>
          </a:p>
          <a:p>
            <a:pPr marL="85725" indent="-85725">
              <a:lnSpc>
                <a:spcPct val="130000"/>
              </a:lnSpc>
              <a:spcAft>
                <a:spcPts val="700"/>
              </a:spcAf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수신 창구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fetch_forecast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() / </a:t>
            </a:r>
            <a:r>
              <a:rPr lang="en-US" altLang="ko-KR" sz="9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fetch_notice</a:t>
            </a:r>
            <a:r>
              <a:rPr lang="en-US" altLang="ko-KR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()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로 타 팀 산출물 수신을 일원화</a:t>
            </a:r>
          </a:p>
          <a:p>
            <a:pPr marL="85725" indent="-85725">
              <a:lnSpc>
                <a:spcPct val="130000"/>
              </a:lnSpc>
              <a:spcAft>
                <a:spcPts val="700"/>
              </a:spcAf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결측 방어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ko-KR" altLang="en-US" sz="9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값이 없거나 형식이 달라도 기본값으로 채워 화면이 멈추지 않게 처리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950" b="0">
              <a:solidFill>
                <a:srgbClr val="3A3838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1057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"/>
          <p:cNvPicPr preferRelativeResize="0"/>
          <p:nvPr/>
        </p:nvPicPr>
        <p:blipFill rotWithShape="1">
          <a:blip r:embed="rId4">
            <a:alphaModFix/>
          </a:blip>
          <a:srcRect t="4365" r="36132"/>
          <a:stretch/>
        </p:blipFill>
        <p:spPr>
          <a:xfrm rot="-5400000" flipH="1">
            <a:off x="-70596" y="546689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6"/>
          <p:cNvPicPr preferRelativeResize="0"/>
          <p:nvPr/>
        </p:nvPicPr>
        <p:blipFill rotWithShape="1">
          <a:blip r:embed="rId5">
            <a:alphaModFix/>
          </a:blip>
          <a:srcRect r="16078" b="36588"/>
          <a:stretch/>
        </p:blipFill>
        <p:spPr>
          <a:xfrm rot="-5400000">
            <a:off x="8716891" y="269271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8" name="Google Shape;318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9" name="Google Shape;319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23" name="Google Shape;323;p6" descr="EMB0000378c3f3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9625" y="5200820"/>
            <a:ext cx="124936" cy="1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 4">
            <a:extLst>
              <a:ext uri="{FF2B5EF4-FFF2-40B4-BE49-F238E27FC236}">
                <a16:creationId xmlns:a16="http://schemas.microsoft.com/office/drawing/2014/main" id="{8D99FB35-0CAC-C8FC-4558-11C76F20781D}"/>
              </a:ext>
            </a:extLst>
          </p:cNvPr>
          <p:cNvSpPr/>
          <p:nvPr/>
        </p:nvSpPr>
        <p:spPr>
          <a:xfrm>
            <a:off x="685800" y="12984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기간(8/11(화) ~ 8/18(화))(총 7일)  </a:t>
            </a: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(팀 구성 및 사전 기획: 8/11)</a:t>
            </a:r>
            <a:endParaRPr lang="en-US" sz="1250"/>
          </a:p>
        </p:txBody>
      </p:sp>
      <p:sp>
        <p:nvSpPr>
          <p:cNvPr id="285" name="Text 5">
            <a:extLst>
              <a:ext uri="{FF2B5EF4-FFF2-40B4-BE49-F238E27FC236}">
                <a16:creationId xmlns:a16="http://schemas.microsoft.com/office/drawing/2014/main" id="{ADE652F1-F1F5-60E6-3069-7695A64F0051}"/>
              </a:ext>
            </a:extLst>
          </p:cNvPr>
          <p:cNvSpPr/>
          <p:nvPr/>
        </p:nvSpPr>
        <p:spPr>
          <a:xfrm>
            <a:off x="1737360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8/11(화)</a:t>
            </a:r>
            <a:endParaRPr lang="en-US" sz="1000"/>
          </a:p>
        </p:txBody>
      </p:sp>
      <p:sp>
        <p:nvSpPr>
          <p:cNvPr id="286" name="Shape 6">
            <a:extLst>
              <a:ext uri="{FF2B5EF4-FFF2-40B4-BE49-F238E27FC236}">
                <a16:creationId xmlns:a16="http://schemas.microsoft.com/office/drawing/2014/main" id="{E7D42C55-523D-5ABD-A7B8-0CF5880F5167}"/>
              </a:ext>
            </a:extLst>
          </p:cNvPr>
          <p:cNvSpPr/>
          <p:nvPr/>
        </p:nvSpPr>
        <p:spPr>
          <a:xfrm>
            <a:off x="2148840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87" name="Text 7">
            <a:extLst>
              <a:ext uri="{FF2B5EF4-FFF2-40B4-BE49-F238E27FC236}">
                <a16:creationId xmlns:a16="http://schemas.microsoft.com/office/drawing/2014/main" id="{09B8B10C-E7D0-E81E-5376-A31C107A07B3}"/>
              </a:ext>
            </a:extLst>
          </p:cNvPr>
          <p:cNvSpPr/>
          <p:nvPr/>
        </p:nvSpPr>
        <p:spPr>
          <a:xfrm>
            <a:off x="3089366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8/12(수)</a:t>
            </a:r>
            <a:endParaRPr lang="en-US" sz="1000"/>
          </a:p>
        </p:txBody>
      </p:sp>
      <p:sp>
        <p:nvSpPr>
          <p:cNvPr id="288" name="Shape 8">
            <a:extLst>
              <a:ext uri="{FF2B5EF4-FFF2-40B4-BE49-F238E27FC236}">
                <a16:creationId xmlns:a16="http://schemas.microsoft.com/office/drawing/2014/main" id="{74BCC324-17B4-8545-BFEF-BE4B4BD96740}"/>
              </a:ext>
            </a:extLst>
          </p:cNvPr>
          <p:cNvSpPr/>
          <p:nvPr/>
        </p:nvSpPr>
        <p:spPr>
          <a:xfrm>
            <a:off x="3500846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89" name="Text 9">
            <a:extLst>
              <a:ext uri="{FF2B5EF4-FFF2-40B4-BE49-F238E27FC236}">
                <a16:creationId xmlns:a16="http://schemas.microsoft.com/office/drawing/2014/main" id="{AF024A60-A50B-9928-FD87-F1A2A115CCC4}"/>
              </a:ext>
            </a:extLst>
          </p:cNvPr>
          <p:cNvSpPr/>
          <p:nvPr/>
        </p:nvSpPr>
        <p:spPr>
          <a:xfrm>
            <a:off x="4441371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8/13(목)</a:t>
            </a:r>
            <a:endParaRPr lang="en-US" sz="1000"/>
          </a:p>
        </p:txBody>
      </p:sp>
      <p:sp>
        <p:nvSpPr>
          <p:cNvPr id="290" name="Shape 10">
            <a:extLst>
              <a:ext uri="{FF2B5EF4-FFF2-40B4-BE49-F238E27FC236}">
                <a16:creationId xmlns:a16="http://schemas.microsoft.com/office/drawing/2014/main" id="{214D141B-86E6-CCB5-E285-0D3E731DB684}"/>
              </a:ext>
            </a:extLst>
          </p:cNvPr>
          <p:cNvSpPr/>
          <p:nvPr/>
        </p:nvSpPr>
        <p:spPr>
          <a:xfrm>
            <a:off x="4852851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91" name="Text 11">
            <a:extLst>
              <a:ext uri="{FF2B5EF4-FFF2-40B4-BE49-F238E27FC236}">
                <a16:creationId xmlns:a16="http://schemas.microsoft.com/office/drawing/2014/main" id="{1D5FA1E3-D64C-2D66-B487-50E96C41CA2E}"/>
              </a:ext>
            </a:extLst>
          </p:cNvPr>
          <p:cNvSpPr/>
          <p:nvPr/>
        </p:nvSpPr>
        <p:spPr>
          <a:xfrm>
            <a:off x="5793377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8/14(금)</a:t>
            </a:r>
            <a:endParaRPr lang="en-US" sz="1000"/>
          </a:p>
        </p:txBody>
      </p:sp>
      <p:sp>
        <p:nvSpPr>
          <p:cNvPr id="292" name="Shape 12">
            <a:extLst>
              <a:ext uri="{FF2B5EF4-FFF2-40B4-BE49-F238E27FC236}">
                <a16:creationId xmlns:a16="http://schemas.microsoft.com/office/drawing/2014/main" id="{19C39A02-306B-A023-A4E6-363C589084C9}"/>
              </a:ext>
            </a:extLst>
          </p:cNvPr>
          <p:cNvSpPr/>
          <p:nvPr/>
        </p:nvSpPr>
        <p:spPr>
          <a:xfrm>
            <a:off x="6204857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93" name="Text 13">
            <a:extLst>
              <a:ext uri="{FF2B5EF4-FFF2-40B4-BE49-F238E27FC236}">
                <a16:creationId xmlns:a16="http://schemas.microsoft.com/office/drawing/2014/main" id="{5BE1D110-18BD-4B36-1793-5289761FD202}"/>
              </a:ext>
            </a:extLst>
          </p:cNvPr>
          <p:cNvSpPr/>
          <p:nvPr/>
        </p:nvSpPr>
        <p:spPr>
          <a:xfrm>
            <a:off x="7145383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8/15(토)</a:t>
            </a:r>
            <a:endParaRPr lang="en-US" sz="1000"/>
          </a:p>
        </p:txBody>
      </p:sp>
      <p:sp>
        <p:nvSpPr>
          <p:cNvPr id="294" name="Shape 14">
            <a:extLst>
              <a:ext uri="{FF2B5EF4-FFF2-40B4-BE49-F238E27FC236}">
                <a16:creationId xmlns:a16="http://schemas.microsoft.com/office/drawing/2014/main" id="{9AFC408A-7F69-5E26-D8E4-30CA262C2C17}"/>
              </a:ext>
            </a:extLst>
          </p:cNvPr>
          <p:cNvSpPr/>
          <p:nvPr/>
        </p:nvSpPr>
        <p:spPr>
          <a:xfrm>
            <a:off x="7556863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95" name="Text 15">
            <a:extLst>
              <a:ext uri="{FF2B5EF4-FFF2-40B4-BE49-F238E27FC236}">
                <a16:creationId xmlns:a16="http://schemas.microsoft.com/office/drawing/2014/main" id="{AF8B8BF7-1414-F6FA-1F21-A34895ED6662}"/>
              </a:ext>
            </a:extLst>
          </p:cNvPr>
          <p:cNvSpPr/>
          <p:nvPr/>
        </p:nvSpPr>
        <p:spPr>
          <a:xfrm>
            <a:off x="8497389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8/16(일)</a:t>
            </a:r>
            <a:endParaRPr lang="en-US" sz="1000"/>
          </a:p>
        </p:txBody>
      </p:sp>
      <p:sp>
        <p:nvSpPr>
          <p:cNvPr id="296" name="Shape 16">
            <a:extLst>
              <a:ext uri="{FF2B5EF4-FFF2-40B4-BE49-F238E27FC236}">
                <a16:creationId xmlns:a16="http://schemas.microsoft.com/office/drawing/2014/main" id="{94B9B779-16E5-81BD-F946-7BBFB1CB5F72}"/>
              </a:ext>
            </a:extLst>
          </p:cNvPr>
          <p:cNvSpPr/>
          <p:nvPr/>
        </p:nvSpPr>
        <p:spPr>
          <a:xfrm>
            <a:off x="8908869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97" name="Text 17">
            <a:extLst>
              <a:ext uri="{FF2B5EF4-FFF2-40B4-BE49-F238E27FC236}">
                <a16:creationId xmlns:a16="http://schemas.microsoft.com/office/drawing/2014/main" id="{6C5B3A51-E28B-83B5-0DB7-FCB863F276D5}"/>
              </a:ext>
            </a:extLst>
          </p:cNvPr>
          <p:cNvSpPr/>
          <p:nvPr/>
        </p:nvSpPr>
        <p:spPr>
          <a:xfrm>
            <a:off x="9849394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8/17(월)</a:t>
            </a:r>
            <a:endParaRPr lang="en-US" sz="1000"/>
          </a:p>
        </p:txBody>
      </p:sp>
      <p:sp>
        <p:nvSpPr>
          <p:cNvPr id="298" name="Shape 18">
            <a:extLst>
              <a:ext uri="{FF2B5EF4-FFF2-40B4-BE49-F238E27FC236}">
                <a16:creationId xmlns:a16="http://schemas.microsoft.com/office/drawing/2014/main" id="{C3B9DE04-0A0F-CDB4-BAE4-86500A9BEC7C}"/>
              </a:ext>
            </a:extLst>
          </p:cNvPr>
          <p:cNvSpPr/>
          <p:nvPr/>
        </p:nvSpPr>
        <p:spPr>
          <a:xfrm>
            <a:off x="10260874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299" name="Text 19">
            <a:extLst>
              <a:ext uri="{FF2B5EF4-FFF2-40B4-BE49-F238E27FC236}">
                <a16:creationId xmlns:a16="http://schemas.microsoft.com/office/drawing/2014/main" id="{A8D501FF-6C2A-58BC-24BF-EF8678F3B7C5}"/>
              </a:ext>
            </a:extLst>
          </p:cNvPr>
          <p:cNvSpPr/>
          <p:nvPr/>
        </p:nvSpPr>
        <p:spPr>
          <a:xfrm>
            <a:off x="11201400" y="168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8/18(화)</a:t>
            </a:r>
            <a:endParaRPr lang="en-US" sz="1000"/>
          </a:p>
        </p:txBody>
      </p:sp>
      <p:sp>
        <p:nvSpPr>
          <p:cNvPr id="300" name="Shape 20">
            <a:extLst>
              <a:ext uri="{FF2B5EF4-FFF2-40B4-BE49-F238E27FC236}">
                <a16:creationId xmlns:a16="http://schemas.microsoft.com/office/drawing/2014/main" id="{5057DE9E-869B-8971-4B6D-333132431C2B}"/>
              </a:ext>
            </a:extLst>
          </p:cNvPr>
          <p:cNvSpPr/>
          <p:nvPr/>
        </p:nvSpPr>
        <p:spPr>
          <a:xfrm>
            <a:off x="11612880" y="1963200"/>
            <a:ext cx="0" cy="4206240"/>
          </a:xfrm>
          <a:prstGeom prst="line">
            <a:avLst/>
          </a:prstGeom>
          <a:noFill/>
          <a:ln w="12700">
            <a:solidFill>
              <a:srgbClr val="E3E7EE"/>
            </a:solidFill>
            <a:prstDash val="dash"/>
          </a:ln>
        </p:spPr>
      </p:sp>
      <p:sp>
        <p:nvSpPr>
          <p:cNvPr id="301" name="Shape 21">
            <a:extLst>
              <a:ext uri="{FF2B5EF4-FFF2-40B4-BE49-F238E27FC236}">
                <a16:creationId xmlns:a16="http://schemas.microsoft.com/office/drawing/2014/main" id="{896B73ED-FCAF-2F23-73F5-6CDD5D64B413}"/>
              </a:ext>
            </a:extLst>
          </p:cNvPr>
          <p:cNvSpPr/>
          <p:nvPr/>
        </p:nvSpPr>
        <p:spPr>
          <a:xfrm>
            <a:off x="548640" y="2008920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02" name="Text 22">
            <a:extLst>
              <a:ext uri="{FF2B5EF4-FFF2-40B4-BE49-F238E27FC236}">
                <a16:creationId xmlns:a16="http://schemas.microsoft.com/office/drawing/2014/main" id="{43B2174E-C2C6-A867-F253-7219102F50C5}"/>
              </a:ext>
            </a:extLst>
          </p:cNvPr>
          <p:cNvSpPr/>
          <p:nvPr/>
        </p:nvSpPr>
        <p:spPr>
          <a:xfrm>
            <a:off x="548640" y="2008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기획</a:t>
            </a:r>
            <a:endParaRPr lang="en-US" sz="1200"/>
          </a:p>
        </p:txBody>
      </p:sp>
      <p:sp>
        <p:nvSpPr>
          <p:cNvPr id="303" name="Shape 23">
            <a:extLst>
              <a:ext uri="{FF2B5EF4-FFF2-40B4-BE49-F238E27FC236}">
                <a16:creationId xmlns:a16="http://schemas.microsoft.com/office/drawing/2014/main" id="{65CD3D62-62F6-03DF-0B78-90B5859528E0}"/>
              </a:ext>
            </a:extLst>
          </p:cNvPr>
          <p:cNvSpPr/>
          <p:nvPr/>
        </p:nvSpPr>
        <p:spPr>
          <a:xfrm>
            <a:off x="1920240" y="21963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94A3D8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04" name="Text 24">
            <a:extLst>
              <a:ext uri="{FF2B5EF4-FFF2-40B4-BE49-F238E27FC236}">
                <a16:creationId xmlns:a16="http://schemas.microsoft.com/office/drawing/2014/main" id="{DFBAD45E-894E-6186-F32C-E259F5E728F0}"/>
              </a:ext>
            </a:extLst>
          </p:cNvPr>
          <p:cNvSpPr/>
          <p:nvPr/>
        </p:nvSpPr>
        <p:spPr>
          <a:xfrm>
            <a:off x="2514600" y="2008920"/>
            <a:ext cx="9372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주제/역할 산정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5" name="Shape 25">
            <a:extLst>
              <a:ext uri="{FF2B5EF4-FFF2-40B4-BE49-F238E27FC236}">
                <a16:creationId xmlns:a16="http://schemas.microsoft.com/office/drawing/2014/main" id="{F84CF710-E6CB-D6AC-BEB8-A0870B025643}"/>
              </a:ext>
            </a:extLst>
          </p:cNvPr>
          <p:cNvSpPr/>
          <p:nvPr/>
        </p:nvSpPr>
        <p:spPr>
          <a:xfrm>
            <a:off x="548640" y="2767872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06" name="Text 26">
            <a:extLst>
              <a:ext uri="{FF2B5EF4-FFF2-40B4-BE49-F238E27FC236}">
                <a16:creationId xmlns:a16="http://schemas.microsoft.com/office/drawing/2014/main" id="{F8F01E57-D098-DDC6-A766-B0083F3716C1}"/>
              </a:ext>
            </a:extLst>
          </p:cNvPr>
          <p:cNvSpPr/>
          <p:nvPr/>
        </p:nvSpPr>
        <p:spPr>
          <a:xfrm>
            <a:off x="548640" y="276787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</a:t>
            </a:r>
            <a:endParaRPr lang="en-US" sz="1200"/>
          </a:p>
        </p:txBody>
      </p:sp>
      <p:sp>
        <p:nvSpPr>
          <p:cNvPr id="307" name="Shape 27">
            <a:extLst>
              <a:ext uri="{FF2B5EF4-FFF2-40B4-BE49-F238E27FC236}">
                <a16:creationId xmlns:a16="http://schemas.microsoft.com/office/drawing/2014/main" id="{FAECE094-3232-521C-84D6-CA3792B42BC8}"/>
              </a:ext>
            </a:extLst>
          </p:cNvPr>
          <p:cNvSpPr/>
          <p:nvPr/>
        </p:nvSpPr>
        <p:spPr>
          <a:xfrm>
            <a:off x="2148840" y="2955324"/>
            <a:ext cx="1352006" cy="310896"/>
          </a:xfrm>
          <a:prstGeom prst="roundRect">
            <a:avLst>
              <a:gd name="adj" fmla="val 23529"/>
            </a:avLst>
          </a:prstGeom>
          <a:solidFill>
            <a:srgbClr val="6C8EE8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08" name="Text 28">
            <a:extLst>
              <a:ext uri="{FF2B5EF4-FFF2-40B4-BE49-F238E27FC236}">
                <a16:creationId xmlns:a16="http://schemas.microsoft.com/office/drawing/2014/main" id="{57B87780-FF2B-BFCC-8BF3-CA12C6FCE646}"/>
              </a:ext>
            </a:extLst>
          </p:cNvPr>
          <p:cNvSpPr/>
          <p:nvPr/>
        </p:nvSpPr>
        <p:spPr>
          <a:xfrm>
            <a:off x="3638006" y="2767872"/>
            <a:ext cx="82491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학습 데이터 선정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9" name="Shape 29">
            <a:extLst>
              <a:ext uri="{FF2B5EF4-FFF2-40B4-BE49-F238E27FC236}">
                <a16:creationId xmlns:a16="http://schemas.microsoft.com/office/drawing/2014/main" id="{B65A9EDA-EA76-D46A-C1D2-BCE1F9030D96}"/>
              </a:ext>
            </a:extLst>
          </p:cNvPr>
          <p:cNvSpPr/>
          <p:nvPr/>
        </p:nvSpPr>
        <p:spPr>
          <a:xfrm>
            <a:off x="548640" y="3526824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10" name="Text 30">
            <a:extLst>
              <a:ext uri="{FF2B5EF4-FFF2-40B4-BE49-F238E27FC236}">
                <a16:creationId xmlns:a16="http://schemas.microsoft.com/office/drawing/2014/main" id="{86A894EA-C6D4-F4AD-5080-2AC8523F8A96}"/>
              </a:ext>
            </a:extLst>
          </p:cNvPr>
          <p:cNvSpPr/>
          <p:nvPr/>
        </p:nvSpPr>
        <p:spPr>
          <a:xfrm>
            <a:off x="548640" y="3526824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전처리</a:t>
            </a:r>
            <a:endParaRPr lang="en-US" sz="1200"/>
          </a:p>
        </p:txBody>
      </p:sp>
      <p:sp>
        <p:nvSpPr>
          <p:cNvPr id="311" name="Shape 31">
            <a:extLst>
              <a:ext uri="{FF2B5EF4-FFF2-40B4-BE49-F238E27FC236}">
                <a16:creationId xmlns:a16="http://schemas.microsoft.com/office/drawing/2014/main" id="{F62A20C1-8B8F-321B-14B2-EBB90C2009D0}"/>
              </a:ext>
            </a:extLst>
          </p:cNvPr>
          <p:cNvSpPr/>
          <p:nvPr/>
        </p:nvSpPr>
        <p:spPr>
          <a:xfrm>
            <a:off x="3272246" y="371427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6C8EE8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12" name="Text 32">
            <a:extLst>
              <a:ext uri="{FF2B5EF4-FFF2-40B4-BE49-F238E27FC236}">
                <a16:creationId xmlns:a16="http://schemas.microsoft.com/office/drawing/2014/main" id="{B26657B8-C526-AE67-D50B-C42CE3BA7C72}"/>
              </a:ext>
            </a:extLst>
          </p:cNvPr>
          <p:cNvSpPr/>
          <p:nvPr/>
        </p:nvSpPr>
        <p:spPr>
          <a:xfrm>
            <a:off x="3866606" y="3526824"/>
            <a:ext cx="8020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학습 데이터 전처리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13" name="Shape 33">
            <a:extLst>
              <a:ext uri="{FF2B5EF4-FFF2-40B4-BE49-F238E27FC236}">
                <a16:creationId xmlns:a16="http://schemas.microsoft.com/office/drawing/2014/main" id="{251BAC90-097A-A2D1-2044-6190760FCC13}"/>
              </a:ext>
            </a:extLst>
          </p:cNvPr>
          <p:cNvSpPr/>
          <p:nvPr/>
        </p:nvSpPr>
        <p:spPr>
          <a:xfrm>
            <a:off x="548640" y="4285776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29" name="Text 34">
            <a:extLst>
              <a:ext uri="{FF2B5EF4-FFF2-40B4-BE49-F238E27FC236}">
                <a16:creationId xmlns:a16="http://schemas.microsoft.com/office/drawing/2014/main" id="{C106053B-1FB0-A12B-31D7-D0A9EE5FDA2E}"/>
              </a:ext>
            </a:extLst>
          </p:cNvPr>
          <p:cNvSpPr/>
          <p:nvPr/>
        </p:nvSpPr>
        <p:spPr>
          <a:xfrm>
            <a:off x="548640" y="4285776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모델링</a:t>
            </a:r>
            <a:endParaRPr lang="en-US" sz="1200"/>
          </a:p>
        </p:txBody>
      </p:sp>
      <p:sp>
        <p:nvSpPr>
          <p:cNvPr id="330" name="Shape 35">
            <a:extLst>
              <a:ext uri="{FF2B5EF4-FFF2-40B4-BE49-F238E27FC236}">
                <a16:creationId xmlns:a16="http://schemas.microsoft.com/office/drawing/2014/main" id="{6C7E3642-89B4-DC17-A429-6752D7DCFCA2}"/>
              </a:ext>
            </a:extLst>
          </p:cNvPr>
          <p:cNvSpPr/>
          <p:nvPr/>
        </p:nvSpPr>
        <p:spPr>
          <a:xfrm>
            <a:off x="2148840" y="4473228"/>
            <a:ext cx="2704011" cy="310896"/>
          </a:xfrm>
          <a:prstGeom prst="roundRect">
            <a:avLst>
              <a:gd name="adj" fmla="val 23529"/>
            </a:avLst>
          </a:prstGeom>
          <a:solidFill>
            <a:srgbClr val="2B5CE0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31" name="Text 36">
            <a:extLst>
              <a:ext uri="{FF2B5EF4-FFF2-40B4-BE49-F238E27FC236}">
                <a16:creationId xmlns:a16="http://schemas.microsoft.com/office/drawing/2014/main" id="{4863AA20-E067-F0DC-1A4D-FC1297DF6D73}"/>
              </a:ext>
            </a:extLst>
          </p:cNvPr>
          <p:cNvSpPr/>
          <p:nvPr/>
        </p:nvSpPr>
        <p:spPr>
          <a:xfrm>
            <a:off x="4990011" y="4285776"/>
            <a:ext cx="6897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OpenAI API </a:t>
            </a:r>
            <a:r>
              <a:rPr lang="en-US" sz="950" err="1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설계</a:t>
            </a: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, Web Search 구현 · 학습 </a:t>
            </a:r>
            <a:r>
              <a:rPr lang="en-US" sz="950" err="1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모델</a:t>
            </a: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설계</a:t>
            </a: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학습</a:t>
            </a: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 모델 평가 및 최종 모델 결정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32" name="Shape 37">
            <a:extLst>
              <a:ext uri="{FF2B5EF4-FFF2-40B4-BE49-F238E27FC236}">
                <a16:creationId xmlns:a16="http://schemas.microsoft.com/office/drawing/2014/main" id="{7F026D67-4AF6-77B8-DEA6-15FCB2379621}"/>
              </a:ext>
            </a:extLst>
          </p:cNvPr>
          <p:cNvSpPr/>
          <p:nvPr/>
        </p:nvSpPr>
        <p:spPr>
          <a:xfrm>
            <a:off x="548640" y="5044728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33" name="Text 38">
            <a:extLst>
              <a:ext uri="{FF2B5EF4-FFF2-40B4-BE49-F238E27FC236}">
                <a16:creationId xmlns:a16="http://schemas.microsoft.com/office/drawing/2014/main" id="{28921571-8B6D-0FBE-27A9-F644200B3DFA}"/>
              </a:ext>
            </a:extLst>
          </p:cNvPr>
          <p:cNvSpPr/>
          <p:nvPr/>
        </p:nvSpPr>
        <p:spPr>
          <a:xfrm>
            <a:off x="548640" y="50447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구축</a:t>
            </a:r>
            <a:endParaRPr lang="en-US" sz="1200"/>
          </a:p>
        </p:txBody>
      </p:sp>
      <p:sp>
        <p:nvSpPr>
          <p:cNvPr id="334" name="Shape 39">
            <a:extLst>
              <a:ext uri="{FF2B5EF4-FFF2-40B4-BE49-F238E27FC236}">
                <a16:creationId xmlns:a16="http://schemas.microsoft.com/office/drawing/2014/main" id="{B5D89FB6-EB31-5B72-4BB6-FC098BD141AE}"/>
              </a:ext>
            </a:extLst>
          </p:cNvPr>
          <p:cNvSpPr/>
          <p:nvPr/>
        </p:nvSpPr>
        <p:spPr>
          <a:xfrm>
            <a:off x="2148840" y="5232180"/>
            <a:ext cx="4056017" cy="310896"/>
          </a:xfrm>
          <a:prstGeom prst="roundRect">
            <a:avLst>
              <a:gd name="adj" fmla="val 23529"/>
            </a:avLst>
          </a:prstGeom>
          <a:solidFill>
            <a:srgbClr val="1E46B8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35" name="Text 40">
            <a:extLst>
              <a:ext uri="{FF2B5EF4-FFF2-40B4-BE49-F238E27FC236}">
                <a16:creationId xmlns:a16="http://schemas.microsoft.com/office/drawing/2014/main" id="{7256BF2B-B6C6-7453-5BBC-15044C6877EB}"/>
              </a:ext>
            </a:extLst>
          </p:cNvPr>
          <p:cNvSpPr/>
          <p:nvPr/>
        </p:nvSpPr>
        <p:spPr>
          <a:xfrm>
            <a:off x="6342017" y="5044728"/>
            <a:ext cx="55451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Streamlit UI 설계 · 구현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36" name="Shape 41">
            <a:extLst>
              <a:ext uri="{FF2B5EF4-FFF2-40B4-BE49-F238E27FC236}">
                <a16:creationId xmlns:a16="http://schemas.microsoft.com/office/drawing/2014/main" id="{285038F1-0EE1-312B-FA9A-AE99FFF8539F}"/>
              </a:ext>
            </a:extLst>
          </p:cNvPr>
          <p:cNvSpPr/>
          <p:nvPr/>
        </p:nvSpPr>
        <p:spPr>
          <a:xfrm>
            <a:off x="548640" y="5803680"/>
            <a:ext cx="1508760" cy="685800"/>
          </a:xfrm>
          <a:prstGeom prst="rect">
            <a:avLst/>
          </a:prstGeom>
          <a:solidFill>
            <a:srgbClr val="F1F3F7"/>
          </a:solidFill>
          <a:ln/>
        </p:spPr>
      </p:sp>
      <p:sp>
        <p:nvSpPr>
          <p:cNvPr id="337" name="Text 42">
            <a:extLst>
              <a:ext uri="{FF2B5EF4-FFF2-40B4-BE49-F238E27FC236}">
                <a16:creationId xmlns:a16="http://schemas.microsoft.com/office/drawing/2014/main" id="{5F4A6DBC-9DF4-9E5F-B6CB-B2EC5A8FD159}"/>
              </a:ext>
            </a:extLst>
          </p:cNvPr>
          <p:cNvSpPr/>
          <p:nvPr/>
        </p:nvSpPr>
        <p:spPr>
          <a:xfrm>
            <a:off x="548640" y="58036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최종발표 준비</a:t>
            </a:r>
            <a:endParaRPr lang="en-US" sz="1200"/>
          </a:p>
        </p:txBody>
      </p:sp>
      <p:sp>
        <p:nvSpPr>
          <p:cNvPr id="338" name="Shape 43">
            <a:extLst>
              <a:ext uri="{FF2B5EF4-FFF2-40B4-BE49-F238E27FC236}">
                <a16:creationId xmlns:a16="http://schemas.microsoft.com/office/drawing/2014/main" id="{08938EAD-F664-7CC1-D3B5-BC82A87E60DA}"/>
              </a:ext>
            </a:extLst>
          </p:cNvPr>
          <p:cNvSpPr/>
          <p:nvPr/>
        </p:nvSpPr>
        <p:spPr>
          <a:xfrm>
            <a:off x="6204857" y="5991132"/>
            <a:ext cx="4056017" cy="310896"/>
          </a:xfrm>
          <a:prstGeom prst="roundRect">
            <a:avLst>
              <a:gd name="adj" fmla="val 23529"/>
            </a:avLst>
          </a:prstGeom>
          <a:solidFill>
            <a:srgbClr val="13306E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339" name="Text 44">
            <a:extLst>
              <a:ext uri="{FF2B5EF4-FFF2-40B4-BE49-F238E27FC236}">
                <a16:creationId xmlns:a16="http://schemas.microsoft.com/office/drawing/2014/main" id="{012D3D2A-25D9-F50E-FBC7-B16B96315F6C}"/>
              </a:ext>
            </a:extLst>
          </p:cNvPr>
          <p:cNvSpPr/>
          <p:nvPr/>
        </p:nvSpPr>
        <p:spPr>
          <a:xfrm>
            <a:off x="10398034" y="5794430"/>
            <a:ext cx="14891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>
                <a:solidFill>
                  <a:srgbClr val="1B2A4A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-120"/>
              </a:rPr>
              <a:t>최종발표 준비</a:t>
            </a:r>
            <a:endParaRPr lang="en-US" sz="95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40" name="Shape 45">
            <a:extLst>
              <a:ext uri="{FF2B5EF4-FFF2-40B4-BE49-F238E27FC236}">
                <a16:creationId xmlns:a16="http://schemas.microsoft.com/office/drawing/2014/main" id="{4BD907B8-13F2-A770-7B05-BA1718D44AE8}"/>
              </a:ext>
            </a:extLst>
          </p:cNvPr>
          <p:cNvSpPr/>
          <p:nvPr/>
        </p:nvSpPr>
        <p:spPr>
          <a:xfrm>
            <a:off x="2148840" y="6279168"/>
            <a:ext cx="946404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41" name="Shape 46">
            <a:extLst>
              <a:ext uri="{FF2B5EF4-FFF2-40B4-BE49-F238E27FC236}">
                <a16:creationId xmlns:a16="http://schemas.microsoft.com/office/drawing/2014/main" id="{42FCCCAB-7F6B-FB92-ABE1-AAEE2EC3507A}"/>
              </a:ext>
            </a:extLst>
          </p:cNvPr>
          <p:cNvSpPr/>
          <p:nvPr/>
        </p:nvSpPr>
        <p:spPr>
          <a:xfrm>
            <a:off x="2148840" y="6224304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42" name="Shape 47">
            <a:extLst>
              <a:ext uri="{FF2B5EF4-FFF2-40B4-BE49-F238E27FC236}">
                <a16:creationId xmlns:a16="http://schemas.microsoft.com/office/drawing/2014/main" id="{051B7283-C733-414D-7F36-A38C303D5DB4}"/>
              </a:ext>
            </a:extLst>
          </p:cNvPr>
          <p:cNvSpPr/>
          <p:nvPr/>
        </p:nvSpPr>
        <p:spPr>
          <a:xfrm>
            <a:off x="11612880" y="6224304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43" name="Text 48">
            <a:extLst>
              <a:ext uri="{FF2B5EF4-FFF2-40B4-BE49-F238E27FC236}">
                <a16:creationId xmlns:a16="http://schemas.microsoft.com/office/drawing/2014/main" id="{4B3AC072-C84D-0B19-3D1B-DEBF7F74C30D}"/>
              </a:ext>
            </a:extLst>
          </p:cNvPr>
          <p:cNvSpPr/>
          <p:nvPr/>
        </p:nvSpPr>
        <p:spPr>
          <a:xfrm>
            <a:off x="2148840" y="6334032"/>
            <a:ext cx="946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개발기간 8/11(화) ~ 8/17(월) · 7일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0c2142d0_20_0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ㅈ 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4" name="Google Shape;114;g3f70c2142d0_20_0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115" name="Google Shape;115;g3f70c2142d0_20_0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g3f70c2142d0_20_0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f70c2142d0_20_0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8" name="Google Shape;118;g3f70c2142d0_20_0"/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g3f70c2142d0_20_0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120" name="Google Shape;120;g3f70c2142d0_20_0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Feature 정리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f70c2142d0_20_0"/>
            <p:cNvSpPr/>
            <p:nvPr/>
          </p:nvSpPr>
          <p:spPr>
            <a:xfrm>
              <a:off x="541891" y="1539006"/>
              <a:ext cx="101298" cy="114040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22" name="Google Shape;122;g3f70c2142d0_20_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70c2142d0_20_0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g3f70c2142d0_20_0"/>
          <p:cNvGrpSpPr/>
          <p:nvPr/>
        </p:nvGrpSpPr>
        <p:grpSpPr>
          <a:xfrm>
            <a:off x="3820371" y="1596866"/>
            <a:ext cx="4551277" cy="453983"/>
            <a:chOff x="2980912" y="2720295"/>
            <a:chExt cx="5857500" cy="624633"/>
          </a:xfrm>
        </p:grpSpPr>
        <p:sp>
          <p:nvSpPr>
            <p:cNvPr id="125" name="Google Shape;125;g3f70c2142d0_20_0"/>
            <p:cNvSpPr/>
            <p:nvPr/>
          </p:nvSpPr>
          <p:spPr>
            <a:xfrm>
              <a:off x="3148275" y="3168828"/>
              <a:ext cx="5570700" cy="176100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g3f70c2142d0_20_0"/>
            <p:cNvSpPr txBox="1"/>
            <p:nvPr/>
          </p:nvSpPr>
          <p:spPr>
            <a:xfrm>
              <a:off x="2980912" y="2720295"/>
              <a:ext cx="5857500" cy="4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ko-KR" sz="1400" b="1" i="0" u="none" strike="noStrike" cap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피처 후보 및 최종 피처 정리 (Feature Engineering)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27" name="Google Shape;127;g3f70c2142d0_20_0"/>
          <p:cNvGraphicFramePr/>
          <p:nvPr>
            <p:extLst>
              <p:ext uri="{D42A27DB-BD31-4B8C-83A1-F6EECF244321}">
                <p14:modId xmlns:p14="http://schemas.microsoft.com/office/powerpoint/2010/main" val="634956193"/>
              </p:ext>
            </p:extLst>
          </p:nvPr>
        </p:nvGraphicFramePr>
        <p:xfrm>
          <a:off x="1468263" y="2150425"/>
          <a:ext cx="9610700" cy="437172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탐색 피처 목록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Feature 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학습 사용 여부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탐색 피처 목록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Feature name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학습 사용 여부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일자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date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월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month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공휴일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holiday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계절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fall, winter, spring, summer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평일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weekday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평균기온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temperature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주말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weekend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일강수량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rain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8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휴일 통합 (주말+공휴일+샌드위치)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dayoff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 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평균상대습도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humidity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샌드위치일자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sandwich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평균현지기압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-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요일 (mon~sun)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mon ~ sun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미세먼지 (PM10/2.5)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-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방학여부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vacation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인근대형행사여부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d_event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전체건수 (타겟)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visitors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 (Target)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인근행사수 / 대형행사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d_events / event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x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highlight>
                            <a:schemeClr val="accent4"/>
                          </a:highlight>
                        </a:rPr>
                        <a:t>다음날 휴일</a:t>
                      </a:r>
                      <a:endParaRPr sz="1100" b="1">
                        <a:solidFill>
                          <a:srgbClr val="1F1F1F"/>
                        </a:solidFill>
                        <a:highlight>
                          <a:schemeClr val="accent4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>
                          <a:solidFill>
                            <a:srgbClr val="188038"/>
                          </a:solidFill>
                          <a:highlight>
                            <a:srgbClr val="F2F0F0"/>
                          </a:highlight>
                        </a:rPr>
                        <a:t>nextdayoff</a:t>
                      </a:r>
                      <a:endParaRPr sz="1150">
                        <a:solidFill>
                          <a:srgbClr val="188038"/>
                        </a:solidFill>
                        <a:highlight>
                          <a:srgbClr val="F2F0F0"/>
                        </a:highlight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</a:rPr>
                        <a:t>o</a:t>
                      </a:r>
                      <a:endParaRPr sz="1100" b="1">
                        <a:solidFill>
                          <a:srgbClr val="1F1F1F"/>
                        </a:solidFill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28" name="Google Shape;128;g3f70c2142d0_20_0"/>
          <p:cNvCxnSpPr/>
          <p:nvPr/>
        </p:nvCxnSpPr>
        <p:spPr>
          <a:xfrm>
            <a:off x="6538175" y="6143250"/>
            <a:ext cx="0" cy="216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" name="Google Shape;129;g3f70c2142d0_20_0"/>
          <p:cNvGrpSpPr/>
          <p:nvPr/>
        </p:nvGrpSpPr>
        <p:grpSpPr>
          <a:xfrm>
            <a:off x="10667186" y="6577052"/>
            <a:ext cx="1075752" cy="150822"/>
            <a:chOff x="921102" y="6027409"/>
            <a:chExt cx="2680001" cy="375740"/>
          </a:xfrm>
        </p:grpSpPr>
        <p:pic>
          <p:nvPicPr>
            <p:cNvPr id="130" name="Google Shape;130;g3f70c2142d0_20_0" descr="EMB0000378c3f3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g3f70c2142d0_2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2" name="Google Shape;132;g3f70c2142d0_20_0"/>
          <p:cNvCxnSpPr/>
          <p:nvPr/>
        </p:nvCxnSpPr>
        <p:spPr>
          <a:xfrm>
            <a:off x="6538175" y="6350711"/>
            <a:ext cx="678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g3f70c2142d0_20_0"/>
          <p:cNvSpPr/>
          <p:nvPr/>
        </p:nvSpPr>
        <p:spPr>
          <a:xfrm>
            <a:off x="7217075" y="6240725"/>
            <a:ext cx="2800200" cy="609900"/>
          </a:xfrm>
          <a:prstGeom prst="rect">
            <a:avLst/>
          </a:prstGeom>
          <a:solidFill>
            <a:srgbClr val="E4E8F7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latin typeface="Malgun Gothic"/>
                <a:ea typeface="Malgun Gothic"/>
                <a:cs typeface="Malgun Gothic"/>
                <a:sym typeface="Malgun Gothic"/>
              </a:rPr>
              <a:t>대전 행사 여부 및 행사 수에 따른 방문객 수의 상관관계를 조사한 결과, 유효 데이터 부족 및 통계적 상관관계를 입증하기 어려워 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latin typeface="Malgun Gothic"/>
                <a:ea typeface="Malgun Gothic"/>
                <a:cs typeface="Malgun Gothic"/>
                <a:sym typeface="Malgun Gothic"/>
              </a:rPr>
              <a:t>최종 피처 목록에서 제외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0" name="Google Shape;140;p11"/>
          <p:cNvGrpSpPr/>
          <p:nvPr/>
        </p:nvGrpSpPr>
        <p:grpSpPr>
          <a:xfrm>
            <a:off x="376102" y="333243"/>
            <a:ext cx="5948619" cy="830997"/>
            <a:chOff x="376102" y="333243"/>
            <a:chExt cx="5948619" cy="830997"/>
          </a:xfrm>
        </p:grpSpPr>
        <p:sp>
          <p:nvSpPr>
            <p:cNvPr id="141" name="Google Shape;141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42;p11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4" name="Google Shape;144;p11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1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146" name="Google Shape;146;p11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EDA: 핵심 시각화 및 인사이트 도출</a:t>
              </a:r>
              <a:endParaRPr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8" name="Google Shape;148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11"/>
          <p:cNvGrpSpPr/>
          <p:nvPr/>
        </p:nvGrpSpPr>
        <p:grpSpPr>
          <a:xfrm>
            <a:off x="627038" y="2150429"/>
            <a:ext cx="2764952" cy="454035"/>
            <a:chOff x="2980912" y="2720295"/>
            <a:chExt cx="5857485" cy="624705"/>
          </a:xfrm>
        </p:grpSpPr>
        <p:sp>
          <p:nvSpPr>
            <p:cNvPr id="151" name="Google Shape;151;p11"/>
            <p:cNvSpPr/>
            <p:nvPr/>
          </p:nvSpPr>
          <p:spPr>
            <a:xfrm>
              <a:off x="3148275" y="3168828"/>
              <a:ext cx="5570661" cy="17617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p11"/>
            <p:cNvSpPr txBox="1"/>
            <p:nvPr/>
          </p:nvSpPr>
          <p:spPr>
            <a:xfrm>
              <a:off x="2980912" y="2720295"/>
              <a:ext cx="5857485" cy="453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ko-KR" sz="1400" b="1" i="0" u="none" strike="noStrike" cap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데이터 특성 및 상관관계 분석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4" name="Google Shape;154;p11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11"/>
          <p:cNvSpPr txBox="1"/>
          <p:nvPr/>
        </p:nvSpPr>
        <p:spPr>
          <a:xfrm>
            <a:off x="7423175" y="375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7">
            <a:alphaModFix/>
          </a:blip>
          <a:srcRect t="2657"/>
          <a:stretch/>
        </p:blipFill>
        <p:spPr>
          <a:xfrm>
            <a:off x="1661888" y="3463125"/>
            <a:ext cx="8298677" cy="33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805" y="3082732"/>
            <a:ext cx="3916376" cy="912625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9" name="Google Shape;159;p11"/>
          <p:cNvSpPr txBox="1"/>
          <p:nvPr/>
        </p:nvSpPr>
        <p:spPr>
          <a:xfrm>
            <a:off x="5198100" y="3341656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날짜 기준 방문객 수 비교</a:t>
            </a:r>
            <a:b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4140375" y="6238050"/>
            <a:ext cx="1486800" cy="171300"/>
          </a:xfrm>
          <a:prstGeom prst="roundRect">
            <a:avLst>
              <a:gd name="adj" fmla="val 16667"/>
            </a:avLst>
          </a:prstGeom>
          <a:solidFill>
            <a:srgbClr val="F2F2F2">
              <a:alpha val="49410"/>
            </a:srgbClr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1" name="Google Shape;161;p11"/>
          <p:cNvCxnSpPr>
            <a:stCxn id="158" idx="2"/>
          </p:cNvCxnSpPr>
          <p:nvPr/>
        </p:nvCxnSpPr>
        <p:spPr>
          <a:xfrm rot="-5400000" flipH="1">
            <a:off x="2554543" y="4085807"/>
            <a:ext cx="2196000" cy="20151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11"/>
          <p:cNvCxnSpPr>
            <a:stCxn id="163" idx="1"/>
          </p:cNvCxnSpPr>
          <p:nvPr/>
        </p:nvCxnSpPr>
        <p:spPr>
          <a:xfrm flipH="1">
            <a:off x="4968677" y="2631337"/>
            <a:ext cx="1946100" cy="1050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11"/>
          <p:cNvSpPr/>
          <p:nvPr/>
        </p:nvSpPr>
        <p:spPr>
          <a:xfrm>
            <a:off x="4746348" y="3645614"/>
            <a:ext cx="282900" cy="262800"/>
          </a:xfrm>
          <a:prstGeom prst="ellipse">
            <a:avLst/>
          </a:prstGeom>
          <a:solidFill>
            <a:srgbClr val="F2F2F2">
              <a:alpha val="49410"/>
            </a:srgbClr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3" name="Google Shape;163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14777" y="2303986"/>
            <a:ext cx="1754400" cy="65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/>
          <p:nvPr/>
        </p:nvSpPr>
        <p:spPr>
          <a:xfrm>
            <a:off x="6849400" y="2561100"/>
            <a:ext cx="82050" cy="75425"/>
          </a:xfrm>
          <a:custGeom>
            <a:avLst/>
            <a:gdLst/>
            <a:ahLst/>
            <a:cxnLst/>
            <a:rect l="l" t="t" r="r" b="b"/>
            <a:pathLst>
              <a:path w="3282" h="3017" extrusionOk="0">
                <a:moveTo>
                  <a:pt x="0" y="0"/>
                </a:moveTo>
                <a:cubicBezTo>
                  <a:pt x="1220" y="732"/>
                  <a:pt x="4023" y="2012"/>
                  <a:pt x="3017" y="301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Google Shape;166;p11"/>
          <p:cNvSpPr/>
          <p:nvPr/>
        </p:nvSpPr>
        <p:spPr>
          <a:xfrm>
            <a:off x="6868250" y="2636525"/>
            <a:ext cx="66025" cy="84875"/>
          </a:xfrm>
          <a:custGeom>
            <a:avLst/>
            <a:gdLst/>
            <a:ahLst/>
            <a:cxnLst/>
            <a:rect l="l" t="t" r="r" b="b"/>
            <a:pathLst>
              <a:path w="2641" h="3395" extrusionOk="0">
                <a:moveTo>
                  <a:pt x="2641" y="0"/>
                </a:moveTo>
                <a:cubicBezTo>
                  <a:pt x="1903" y="1229"/>
                  <a:pt x="1014" y="2382"/>
                  <a:pt x="0" y="3395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67" name="Google Shape;167;p11"/>
          <p:cNvCxnSpPr>
            <a:stCxn id="158" idx="2"/>
          </p:cNvCxnSpPr>
          <p:nvPr/>
        </p:nvCxnSpPr>
        <p:spPr>
          <a:xfrm>
            <a:off x="2644993" y="3995357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>
            <a:stCxn id="158" idx="2"/>
            <a:endCxn id="158" idx="2"/>
          </p:cNvCxnSpPr>
          <p:nvPr/>
        </p:nvCxnSpPr>
        <p:spPr>
          <a:xfrm>
            <a:off x="2644993" y="3995357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1"/>
          <p:cNvSpPr/>
          <p:nvPr/>
        </p:nvSpPr>
        <p:spPr>
          <a:xfrm>
            <a:off x="2049161" y="4183169"/>
            <a:ext cx="75450" cy="94300"/>
          </a:xfrm>
          <a:custGeom>
            <a:avLst/>
            <a:gdLst/>
            <a:ahLst/>
            <a:cxnLst/>
            <a:rect l="l" t="t" r="r" b="b"/>
            <a:pathLst>
              <a:path w="3018" h="3772" extrusionOk="0">
                <a:moveTo>
                  <a:pt x="0" y="3772"/>
                </a:moveTo>
                <a:cubicBezTo>
                  <a:pt x="721" y="2332"/>
                  <a:pt x="1578" y="720"/>
                  <a:pt x="301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" name="Google Shape;170;p11"/>
          <p:cNvSpPr/>
          <p:nvPr/>
        </p:nvSpPr>
        <p:spPr>
          <a:xfrm>
            <a:off x="2152900" y="4145450"/>
            <a:ext cx="122600" cy="113175"/>
          </a:xfrm>
          <a:custGeom>
            <a:avLst/>
            <a:gdLst/>
            <a:ahLst/>
            <a:cxnLst/>
            <a:rect l="l" t="t" r="r" b="b"/>
            <a:pathLst>
              <a:path w="4904" h="4527" extrusionOk="0">
                <a:moveTo>
                  <a:pt x="0" y="0"/>
                </a:moveTo>
                <a:cubicBezTo>
                  <a:pt x="1709" y="1424"/>
                  <a:pt x="3332" y="2953"/>
                  <a:pt x="4904" y="452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f70c2142d0_15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70c2142d0_15_47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7" name="Google Shape;177;g3f70c2142d0_15_47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178" name="Google Shape;178;g3f70c2142d0_15_47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g3f70c2142d0_15_47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f70c2142d0_15_47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1" name="Google Shape;181;g3f70c2142d0_15_47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g3f70c2142d0_15_47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183" name="Google Shape;183;g3f70c2142d0_15_47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EDA: 핵심 시각화 및 인사이트 도출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f70c2142d0_15_47"/>
            <p:cNvSpPr/>
            <p:nvPr/>
          </p:nvSpPr>
          <p:spPr>
            <a:xfrm>
              <a:off x="541891" y="1539006"/>
              <a:ext cx="101298" cy="114040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5" name="Google Shape;185;g3f70c2142d0_15_4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70c2142d0_15_47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f70c2142d0_15_47"/>
          <p:cNvPicPr preferRelativeResize="0"/>
          <p:nvPr/>
        </p:nvPicPr>
        <p:blipFill rotWithShape="1">
          <a:blip r:embed="rId5">
            <a:alphaModFix/>
          </a:blip>
          <a:srcRect l="34972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f70c2142d0_15_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70c2142d0_15_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53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70c2142d0_15_47"/>
          <p:cNvPicPr preferRelativeResize="0"/>
          <p:nvPr/>
        </p:nvPicPr>
        <p:blipFill rotWithShape="1">
          <a:blip r:embed="rId8">
            <a:alphaModFix/>
          </a:blip>
          <a:srcRect l="44922"/>
          <a:stretch/>
        </p:blipFill>
        <p:spPr>
          <a:xfrm rot="10800000">
            <a:off x="11016342" y="4903198"/>
            <a:ext cx="1175657" cy="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f70c2142d0_15_47"/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6" cy="28477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g3f70c2142d0_15_47"/>
          <p:cNvGrpSpPr/>
          <p:nvPr/>
        </p:nvGrpSpPr>
        <p:grpSpPr>
          <a:xfrm>
            <a:off x="10667186" y="6577052"/>
            <a:ext cx="1075752" cy="150822"/>
            <a:chOff x="921102" y="6027409"/>
            <a:chExt cx="2680001" cy="375740"/>
          </a:xfrm>
        </p:grpSpPr>
        <p:pic>
          <p:nvPicPr>
            <p:cNvPr id="193" name="Google Shape;193;g3f70c2142d0_15_47" descr="EMB0000378c3f3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g3f70c2142d0_15_4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g3f70c2142d0_15_47"/>
          <p:cNvSpPr txBox="1"/>
          <p:nvPr/>
        </p:nvSpPr>
        <p:spPr>
          <a:xfrm>
            <a:off x="7423175" y="3757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6" name="Google Shape;196;g3f70c2142d0_15_47"/>
          <p:cNvPicPr preferRelativeResize="0"/>
          <p:nvPr/>
        </p:nvPicPr>
        <p:blipFill rotWithShape="1">
          <a:blip r:embed="rId12">
            <a:alphaModFix/>
          </a:blip>
          <a:srcRect r="74949"/>
          <a:stretch/>
        </p:blipFill>
        <p:spPr>
          <a:xfrm>
            <a:off x="7350663" y="4094000"/>
            <a:ext cx="2626852" cy="28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f70c2142d0_15_47"/>
          <p:cNvPicPr preferRelativeResize="0"/>
          <p:nvPr/>
        </p:nvPicPr>
        <p:blipFill rotWithShape="1">
          <a:blip r:embed="rId12">
            <a:alphaModFix/>
          </a:blip>
          <a:srcRect l="24793" r="50155"/>
          <a:stretch/>
        </p:blipFill>
        <p:spPr>
          <a:xfrm>
            <a:off x="9343050" y="2050332"/>
            <a:ext cx="2626852" cy="28262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70c2142d0_15_47"/>
          <p:cNvSpPr txBox="1"/>
          <p:nvPr/>
        </p:nvSpPr>
        <p:spPr>
          <a:xfrm>
            <a:off x="10215501" y="1933008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월별 평균 방문객</a:t>
            </a: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9" name="Google Shape;199;g3f70c2142d0_15_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11027" y="3871363"/>
            <a:ext cx="2914926" cy="2989524"/>
          </a:xfrm>
          <a:prstGeom prst="rect">
            <a:avLst/>
          </a:prstGeom>
          <a:solidFill>
            <a:srgbClr val="F2F2F2">
              <a:alpha val="49410"/>
            </a:srgbClr>
          </a:solidFill>
          <a:ln>
            <a:noFill/>
          </a:ln>
        </p:spPr>
      </p:pic>
      <p:pic>
        <p:nvPicPr>
          <p:cNvPr id="200" name="Google Shape;200;g3f70c2142d0_15_4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70313" y="2112439"/>
            <a:ext cx="3503967" cy="2604300"/>
          </a:xfrm>
          <a:prstGeom prst="rect">
            <a:avLst/>
          </a:prstGeom>
          <a:solidFill>
            <a:srgbClr val="F2F2F2">
              <a:alpha val="49410"/>
            </a:srgbClr>
          </a:solidFill>
          <a:ln>
            <a:noFill/>
          </a:ln>
        </p:spPr>
      </p:pic>
      <p:sp>
        <p:nvSpPr>
          <p:cNvPr id="201" name="Google Shape;201;g3f70c2142d0_15_47"/>
          <p:cNvSpPr txBox="1"/>
          <p:nvPr/>
        </p:nvSpPr>
        <p:spPr>
          <a:xfrm>
            <a:off x="5535208" y="1995122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피처별 상관관계 히트맵</a:t>
            </a: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2" name="Google Shape;202;g3f70c2142d0_15_4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3300" y="2179038"/>
            <a:ext cx="3249666" cy="2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70c2142d0_15_47"/>
          <p:cNvSpPr txBox="1"/>
          <p:nvPr/>
        </p:nvSpPr>
        <p:spPr>
          <a:xfrm>
            <a:off x="1151043" y="2065189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강수여부별 방문객 수 비교</a:t>
            </a:r>
            <a:b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g3f70c2142d0_15_47"/>
          <p:cNvSpPr txBox="1"/>
          <p:nvPr/>
        </p:nvSpPr>
        <p:spPr>
          <a:xfrm>
            <a:off x="8074276" y="3984036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평일/휴일(통합) 방문객</a:t>
            </a: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3f70c2142d0_15_47"/>
          <p:cNvSpPr txBox="1"/>
          <p:nvPr/>
        </p:nvSpPr>
        <p:spPr>
          <a:xfrm>
            <a:off x="3618111" y="3796191"/>
            <a:ext cx="175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rPr>
              <a:t>기온별 방문객</a:t>
            </a:r>
            <a:endParaRPr sz="1000">
              <a:solidFill>
                <a:schemeClr val="dk1"/>
              </a:solidFill>
              <a:highlight>
                <a:srgbClr val="CFE2F3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2" name="Google Shape;212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13" name="Google Shape;213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214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6" name="Google Shape;216;p12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2"/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2"/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2"/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2"/>
          <p:cNvGrpSpPr/>
          <p:nvPr/>
        </p:nvGrpSpPr>
        <p:grpSpPr>
          <a:xfrm>
            <a:off x="312078" y="2150431"/>
            <a:ext cx="3839008" cy="566268"/>
            <a:chOff x="2980912" y="2720294"/>
            <a:chExt cx="5857485" cy="779125"/>
          </a:xfrm>
        </p:grpSpPr>
        <p:sp>
          <p:nvSpPr>
            <p:cNvPr id="226" name="Google Shape;226;p12"/>
            <p:cNvSpPr/>
            <p:nvPr/>
          </p:nvSpPr>
          <p:spPr>
            <a:xfrm>
              <a:off x="3148275" y="3168828"/>
              <a:ext cx="5570661" cy="17617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2980912" y="2720294"/>
              <a:ext cx="5857485" cy="77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ko-KR" sz="1400" b="1" i="0" u="none" strike="noStrike" cap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트러블 슈팅 및 최종 모델용 데이터셋 선정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29" name="Google Shape;229;p12" descr="EMB0000378c3f3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12"/>
          <p:cNvGrpSpPr/>
          <p:nvPr/>
        </p:nvGrpSpPr>
        <p:grpSpPr>
          <a:xfrm>
            <a:off x="541891" y="2815731"/>
            <a:ext cx="10526224" cy="4587000"/>
            <a:chOff x="541891" y="1430219"/>
            <a:chExt cx="10526224" cy="4587000"/>
          </a:xfrm>
        </p:grpSpPr>
        <p:sp>
          <p:nvSpPr>
            <p:cNvPr id="232" name="Google Shape;232;p12"/>
            <p:cNvSpPr txBox="1"/>
            <p:nvPr/>
          </p:nvSpPr>
          <p:spPr>
            <a:xfrm>
              <a:off x="743615" y="1430219"/>
              <a:ext cx="10324500" cy="45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b="1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</a:t>
              </a:r>
              <a:r>
                <a:rPr lang="ko-KR" b="1" i="0" u="none" strike="noStrike" cap="none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ssue 1. 최적의 방문객 패턴 피처 조합 탐색 과정 </a:t>
              </a:r>
              <a:endParaRPr b="1" i="0" u="none" strike="noStrike" cap="none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</a:rPr>
                <a:t>1. 문제 정의 (Issue)</a:t>
              </a:r>
              <a:endParaRPr sz="1200" b="1">
                <a:solidFill>
                  <a:schemeClr val="dk1"/>
                </a:solidFill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ko-KR" sz="1200">
                  <a:solidFill>
                    <a:schemeClr val="dk1"/>
                  </a:solidFill>
                </a:rPr>
                <a:t>단순 요일(</a:t>
              </a:r>
              <a:r>
                <a:rPr lang="ko-KR" sz="1200">
                  <a:solidFill>
                    <a:srgbClr val="188038"/>
                  </a:solidFill>
                </a:rPr>
                <a:t>mon~sun</a:t>
              </a:r>
              <a:r>
                <a:rPr lang="ko-KR" sz="1200">
                  <a:solidFill>
                    <a:schemeClr val="dk1"/>
                  </a:solidFill>
                </a:rPr>
                <a:t>)과 공휴일(</a:t>
              </a:r>
              <a:r>
                <a:rPr lang="ko-KR" sz="1200">
                  <a:solidFill>
                    <a:srgbClr val="188038"/>
                  </a:solidFill>
                </a:rPr>
                <a:t>holiday</a:t>
              </a:r>
              <a:r>
                <a:rPr lang="ko-KR" sz="1200">
                  <a:solidFill>
                    <a:schemeClr val="dk1"/>
                  </a:solidFill>
                </a:rPr>
                <a:t>) 조합만으로는 </a:t>
              </a:r>
              <a:r>
                <a:rPr lang="ko-KR" sz="1200" b="1">
                  <a:solidFill>
                    <a:schemeClr val="dk1"/>
                  </a:solidFill>
                </a:rPr>
                <a:t>금요일, 공휴일 전날(다음날 휴일), 샌드위치 데이</a:t>
              </a:r>
              <a:r>
                <a:rPr lang="ko-KR" sz="1200">
                  <a:solidFill>
                    <a:schemeClr val="dk1"/>
                  </a:solidFill>
                </a:rPr>
                <a:t> 등 변칙적인 방문객 증가 패턴을 세밀하게 설명하기에 한계가 있음.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</a:rPr>
                <a:t>2. 다양한 실험 및 접근 (Trial &amp; Error)</a:t>
              </a:r>
              <a:endParaRPr sz="1200" b="1">
                <a:solidFill>
                  <a:schemeClr val="dk1"/>
                </a:solidFill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ko-KR" sz="1200">
                  <a:solidFill>
                    <a:schemeClr val="dk1"/>
                  </a:solidFill>
                </a:rPr>
                <a:t>성능 최적화를 위해 요일 및 휴일 특성을 반영한 </a:t>
              </a:r>
              <a:r>
                <a:rPr lang="ko-KR" sz="1200" b="1">
                  <a:solidFill>
                    <a:schemeClr val="dk1"/>
                  </a:solidFill>
                </a:rPr>
                <a:t>3가지 실험 케이스</a:t>
              </a:r>
              <a:r>
                <a:rPr lang="ko-KR" sz="1200">
                  <a:solidFill>
                    <a:schemeClr val="dk1"/>
                  </a:solidFill>
                </a:rPr>
                <a:t>를 구축하여 비교 검증 진행</a:t>
              </a:r>
              <a:endParaRPr sz="1200">
                <a:solidFill>
                  <a:schemeClr val="dk1"/>
                </a:solidFill>
              </a:endParaRPr>
            </a:p>
            <a:p>
              <a:pPr marL="91440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ko-KR" sz="1200" b="1">
                  <a:solidFill>
                    <a:schemeClr val="dk1"/>
                  </a:solidFill>
                </a:rPr>
                <a:t>접근 A (요일 위주):</a:t>
              </a:r>
              <a:r>
                <a:rPr lang="ko-KR" sz="1200">
                  <a:solidFill>
                    <a:schemeClr val="dk1"/>
                  </a:solidFill>
                </a:rPr>
                <a:t> </a:t>
              </a:r>
              <a:r>
                <a:rPr lang="ko-KR" sz="1200">
                  <a:solidFill>
                    <a:srgbClr val="188038"/>
                  </a:solidFill>
                </a:rPr>
                <a:t>mon ~ sun</a:t>
              </a:r>
              <a:r>
                <a:rPr lang="ko-KR" sz="1200">
                  <a:solidFill>
                    <a:schemeClr val="dk1"/>
                  </a:solidFill>
                </a:rPr>
                <a:t> + </a:t>
              </a:r>
              <a:r>
                <a:rPr lang="ko-KR" sz="1200">
                  <a:solidFill>
                    <a:srgbClr val="188038"/>
                  </a:solidFill>
                </a:rPr>
                <a:t>holiday</a:t>
              </a:r>
              <a:r>
                <a:rPr lang="ko-KR" sz="1200">
                  <a:solidFill>
                    <a:schemeClr val="dk1"/>
                  </a:solidFill>
                </a:rPr>
                <a:t> 조합</a:t>
              </a:r>
              <a:endParaRPr sz="1200">
                <a:solidFill>
                  <a:schemeClr val="dk1"/>
                </a:solidFill>
              </a:endParaRPr>
            </a:p>
            <a:p>
              <a:pPr marL="91440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ko-KR" sz="1200" b="1">
                  <a:solidFill>
                    <a:schemeClr val="dk1"/>
                  </a:solidFill>
                </a:rPr>
                <a:t>접근 B (휴일 분리):</a:t>
              </a:r>
              <a:r>
                <a:rPr lang="ko-KR" sz="1200">
                  <a:solidFill>
                    <a:schemeClr val="dk1"/>
                  </a:solidFill>
                </a:rPr>
                <a:t> </a:t>
              </a:r>
              <a:r>
                <a:rPr lang="ko-KR" sz="1200">
                  <a:solidFill>
                    <a:srgbClr val="188038"/>
                  </a:solidFill>
                </a:rPr>
                <a:t>weekend</a:t>
              </a:r>
              <a:r>
                <a:rPr lang="ko-KR" sz="1200">
                  <a:solidFill>
                    <a:schemeClr val="dk1"/>
                  </a:solidFill>
                </a:rPr>
                <a:t> + </a:t>
              </a:r>
              <a:r>
                <a:rPr lang="ko-KR" sz="1200">
                  <a:solidFill>
                    <a:srgbClr val="188038"/>
                  </a:solidFill>
                </a:rPr>
                <a:t>holiday</a:t>
              </a:r>
              <a:r>
                <a:rPr lang="ko-KR" sz="1200">
                  <a:solidFill>
                    <a:schemeClr val="dk1"/>
                  </a:solidFill>
                </a:rPr>
                <a:t> 조합</a:t>
              </a:r>
              <a:endParaRPr sz="1200">
                <a:solidFill>
                  <a:schemeClr val="dk1"/>
                </a:solidFill>
              </a:endParaRPr>
            </a:p>
            <a:p>
              <a:pPr marL="91440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○"/>
              </a:pPr>
              <a:r>
                <a:rPr lang="ko-KR" sz="1200" b="1">
                  <a:solidFill>
                    <a:schemeClr val="dk1"/>
                  </a:solidFill>
                </a:rPr>
                <a:t>접근 C (휴일 통합 및 세분화):</a:t>
              </a:r>
              <a:endParaRPr sz="1200" b="1">
                <a:solidFill>
                  <a:schemeClr val="dk1"/>
                </a:solidFill>
              </a:endParaRPr>
            </a:p>
            <a:p>
              <a:pPr marL="137160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■"/>
              </a:pPr>
              <a:r>
                <a:rPr lang="ko-KR" sz="1200">
                  <a:solidFill>
                    <a:schemeClr val="dk1"/>
                  </a:solidFill>
                </a:rPr>
                <a:t>이용객 집중일(주말, 공휴일, 샌드위치) $\rightarrow$ </a:t>
              </a:r>
              <a:r>
                <a:rPr lang="ko-KR" sz="1200" b="1">
                  <a:solidFill>
                    <a:srgbClr val="188038"/>
                  </a:solidFill>
                </a:rPr>
                <a:t>dayoff</a:t>
              </a:r>
              <a:r>
                <a:rPr lang="ko-KR" sz="1200">
                  <a:solidFill>
                    <a:schemeClr val="dk1"/>
                  </a:solidFill>
                </a:rPr>
                <a:t> 통합</a:t>
              </a:r>
              <a:endParaRPr sz="1200">
                <a:solidFill>
                  <a:schemeClr val="dk1"/>
                </a:solidFill>
              </a:endParaRPr>
            </a:p>
            <a:p>
              <a:pPr marL="137160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■"/>
              </a:pPr>
              <a:r>
                <a:rPr lang="ko-KR" sz="1200">
                  <a:solidFill>
                    <a:schemeClr val="dk1"/>
                  </a:solidFill>
                </a:rPr>
                <a:t>이용객 보통일(금요일, 공휴일 전날 등) $\rightarrow$ </a:t>
              </a:r>
              <a:r>
                <a:rPr lang="ko-KR" sz="1200" b="1">
                  <a:solidFill>
                    <a:srgbClr val="188038"/>
                  </a:solidFill>
                </a:rPr>
                <a:t>nextdayoff</a:t>
              </a:r>
              <a:r>
                <a:rPr lang="ko-KR" sz="1200">
                  <a:solidFill>
                    <a:schemeClr val="dk1"/>
                  </a:solidFill>
                </a:rPr>
                <a:t> 분리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</a:rPr>
                <a:t>3. 해결 및 결과 (Solution &amp; Result)</a:t>
              </a:r>
              <a:endParaRPr sz="1200" b="1">
                <a:solidFill>
                  <a:schemeClr val="dk1"/>
                </a:solidFill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ko-KR" sz="1200">
                  <a:solidFill>
                    <a:schemeClr val="dk1"/>
                  </a:solidFill>
                </a:rPr>
                <a:t>교차 검증 결과, 방문객의 실제 방문 심리를 가장 잘 반영하는 </a:t>
              </a:r>
              <a:r>
                <a:rPr lang="ko-KR" sz="1200" b="1">
                  <a:solidFill>
                    <a:srgbClr val="188038"/>
                  </a:solidFill>
                </a:rPr>
                <a:t>dayoff</a:t>
              </a:r>
              <a:r>
                <a:rPr lang="ko-KR" sz="1200" b="1">
                  <a:solidFill>
                    <a:schemeClr val="dk1"/>
                  </a:solidFill>
                </a:rPr>
                <a:t> 및 </a:t>
              </a:r>
              <a:r>
                <a:rPr lang="ko-KR" sz="1200" b="1">
                  <a:solidFill>
                    <a:srgbClr val="188038"/>
                  </a:solidFill>
                </a:rPr>
                <a:t>nextdayoff</a:t>
              </a:r>
              <a:r>
                <a:rPr lang="ko-KR" sz="1200">
                  <a:solidFill>
                    <a:schemeClr val="dk1"/>
                  </a:solidFill>
                </a:rPr>
                <a:t> 두 가지 핵심 변수 조합이 모델의 예측 오차를 가장 크게 줄이고 성능을 극대화함을 확인</a:t>
              </a:r>
              <a:endParaRPr sz="1200">
                <a:solidFill>
                  <a:schemeClr val="dk1"/>
                </a:solidFill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ko-KR" sz="1200">
                  <a:solidFill>
                    <a:schemeClr val="dk1"/>
                  </a:solidFill>
                </a:rPr>
                <a:t>불필요한 중복 피처를 제거하고 최적의 학습셋(</a:t>
              </a:r>
              <a:r>
                <a:rPr lang="ko-KR" sz="1200">
                  <a:solidFill>
                    <a:srgbClr val="188038"/>
                  </a:solidFill>
                </a:rPr>
                <a:t>test1_cat.csv</a:t>
              </a:r>
              <a:r>
                <a:rPr lang="ko-KR" sz="1200">
                  <a:solidFill>
                    <a:schemeClr val="dk1"/>
                  </a:solidFill>
                </a:rPr>
                <a:t>) 확정</a:t>
              </a:r>
              <a:endParaRPr sz="1200" b="1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34" name="Google Shape;234;p12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235" name="Google Shape;235;p12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트러블 슈팅</a:t>
              </a:r>
              <a:r>
                <a:rPr lang="ko-KR" sz="1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541891" y="1539006"/>
              <a:ext cx="101298" cy="114040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37" name="Google Shape;237;p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73865" y="1164248"/>
            <a:ext cx="5018260" cy="212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f70c2142d0_4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f70c2142d0_4_171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4" name="Google Shape;244;g3f70c2142d0_4_171"/>
          <p:cNvGrpSpPr/>
          <p:nvPr/>
        </p:nvGrpSpPr>
        <p:grpSpPr>
          <a:xfrm>
            <a:off x="376102" y="333243"/>
            <a:ext cx="5948619" cy="830997"/>
            <a:chOff x="376102" y="333243"/>
            <a:chExt cx="5948619" cy="830997"/>
          </a:xfrm>
        </p:grpSpPr>
        <p:sp>
          <p:nvSpPr>
            <p:cNvPr id="245" name="Google Shape;245;g3f70c2142d0_4_171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246;g3f70c2142d0_4_171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f70c2142d0_4_171"/>
            <p:cNvSpPr txBox="1"/>
            <p:nvPr/>
          </p:nvSpPr>
          <p:spPr>
            <a:xfrm>
              <a:off x="376102" y="333243"/>
              <a:ext cx="12666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8" name="Google Shape;248;g3f70c2142d0_4_171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f70c2142d0_4_17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70c2142d0_4_171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f70c2142d0_4_171"/>
          <p:cNvPicPr preferRelativeResize="0"/>
          <p:nvPr/>
        </p:nvPicPr>
        <p:blipFill rotWithShape="1">
          <a:blip r:embed="rId5">
            <a:alphaModFix/>
          </a:blip>
          <a:srcRect l="34972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70c2142d0_4_17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70c2142d0_4_17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53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f70c2142d0_4_171"/>
          <p:cNvPicPr preferRelativeResize="0"/>
          <p:nvPr/>
        </p:nvPicPr>
        <p:blipFill rotWithShape="1">
          <a:blip r:embed="rId8">
            <a:alphaModFix/>
          </a:blip>
          <a:srcRect l="44922"/>
          <a:stretch/>
        </p:blipFill>
        <p:spPr>
          <a:xfrm rot="10800000">
            <a:off x="11016342" y="4903198"/>
            <a:ext cx="1175657" cy="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f70c2142d0_4_171"/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6" cy="284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f70c2142d0_4_1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934670"/>
            <a:ext cx="12191999" cy="9233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g3f70c2142d0_4_171"/>
          <p:cNvGrpSpPr/>
          <p:nvPr/>
        </p:nvGrpSpPr>
        <p:grpSpPr>
          <a:xfrm>
            <a:off x="312072" y="2150431"/>
            <a:ext cx="3839005" cy="453984"/>
            <a:chOff x="2980912" y="2720294"/>
            <a:chExt cx="5857500" cy="624634"/>
          </a:xfrm>
        </p:grpSpPr>
        <p:sp>
          <p:nvSpPr>
            <p:cNvPr id="258" name="Google Shape;258;g3f70c2142d0_4_171"/>
            <p:cNvSpPr/>
            <p:nvPr/>
          </p:nvSpPr>
          <p:spPr>
            <a:xfrm>
              <a:off x="3148275" y="3168828"/>
              <a:ext cx="5570700" cy="176100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9" name="Google Shape;259;g3f70c2142d0_4_171"/>
            <p:cNvSpPr txBox="1"/>
            <p:nvPr/>
          </p:nvSpPr>
          <p:spPr>
            <a:xfrm>
              <a:off x="2980912" y="2720294"/>
              <a:ext cx="5857500" cy="4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ko-KR" sz="1400" b="1" i="0" u="none" strike="noStrike" cap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트러블 슈팅 및 최종 모델용 데이터셋 선정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g3f70c2142d0_4_171"/>
          <p:cNvGrpSpPr/>
          <p:nvPr/>
        </p:nvGrpSpPr>
        <p:grpSpPr>
          <a:xfrm>
            <a:off x="10667186" y="6577052"/>
            <a:ext cx="1075752" cy="150822"/>
            <a:chOff x="921102" y="6027409"/>
            <a:chExt cx="2680001" cy="375740"/>
          </a:xfrm>
        </p:grpSpPr>
        <p:pic>
          <p:nvPicPr>
            <p:cNvPr id="261" name="Google Shape;261;g3f70c2142d0_4_171" descr="EMB0000378c3f3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g3f70c2142d0_4_17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g3f70c2142d0_4_171"/>
          <p:cNvGrpSpPr/>
          <p:nvPr/>
        </p:nvGrpSpPr>
        <p:grpSpPr>
          <a:xfrm>
            <a:off x="541891" y="2815731"/>
            <a:ext cx="10526224" cy="3057600"/>
            <a:chOff x="541891" y="1430219"/>
            <a:chExt cx="10526224" cy="3057600"/>
          </a:xfrm>
        </p:grpSpPr>
        <p:sp>
          <p:nvSpPr>
            <p:cNvPr id="264" name="Google Shape;264;g3f70c2142d0_4_171"/>
            <p:cNvSpPr txBox="1"/>
            <p:nvPr/>
          </p:nvSpPr>
          <p:spPr>
            <a:xfrm>
              <a:off x="743615" y="1430219"/>
              <a:ext cx="10324500" cy="305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b="1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</a:t>
              </a:r>
              <a:r>
                <a:rPr lang="ko-KR" sz="1400" b="1" i="0" u="none" strike="noStrike" cap="none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ssue </a:t>
              </a:r>
              <a:r>
                <a:rPr lang="ko-KR" b="1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sz="1400" b="1" i="0" u="none" strike="noStrike" cap="none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. </a:t>
              </a:r>
              <a:r>
                <a:rPr lang="ko-KR" b="1">
                  <a:solidFill>
                    <a:srgbClr val="8DA9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고차원 피처(월 정보) 압축을 통한 과적합(Overfitting) 방지 </a:t>
              </a:r>
              <a:endParaRPr sz="1400" b="1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lang="ko-KR" sz="1300" b="1">
                  <a:solidFill>
                    <a:schemeClr val="dk1"/>
                  </a:solidFill>
                </a:rPr>
                <a:t>1. 문제 정의 (Issue)</a:t>
              </a:r>
              <a:endParaRPr sz="1300" b="1">
                <a:solidFill>
                  <a:schemeClr val="dk1"/>
                </a:solidFill>
              </a:endParaRPr>
            </a:p>
            <a:p>
              <a:pPr marL="457200" lvl="0" indent="-3111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ko-KR" sz="1300">
                  <a:solidFill>
                    <a:schemeClr val="dk1"/>
                  </a:solidFill>
                </a:rPr>
                <a:t>초기 </a:t>
              </a:r>
              <a:r>
                <a:rPr lang="ko-KR" sz="1300">
                  <a:solidFill>
                    <a:srgbClr val="188038"/>
                  </a:solidFill>
                </a:rPr>
                <a:t>feature.csv</a:t>
              </a:r>
              <a:r>
                <a:rPr lang="ko-KR" sz="1300">
                  <a:solidFill>
                    <a:schemeClr val="dk1"/>
                  </a:solidFill>
                </a:rPr>
                <a:t> 단계와 같이 월 정보를 12개의 이진 컬럼(원-핫 인코딩)으로 과도하게 분리할 경우, 데이터의 차원이 불필요하게 커져 모델의 과적합을 유발하고 학습 효율이 저하됨</a:t>
              </a:r>
              <a:endParaRPr sz="13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-KR" sz="1300" b="1">
                  <a:solidFill>
                    <a:schemeClr val="dk1"/>
                  </a:solidFill>
                </a:rPr>
                <a:t>2.</a:t>
              </a:r>
              <a:r>
                <a:rPr lang="ko-KR" sz="1300">
                  <a:solidFill>
                    <a:schemeClr val="dk1"/>
                  </a:solidFill>
                </a:rPr>
                <a:t> </a:t>
              </a:r>
              <a:r>
                <a:rPr lang="ko-KR" sz="1300" b="1">
                  <a:solidFill>
                    <a:schemeClr val="dk1"/>
                  </a:solidFill>
                </a:rPr>
                <a:t>해결 방법 및 결과 (Solution &amp; Result)</a:t>
              </a:r>
              <a:endParaRPr sz="1300" b="1">
                <a:solidFill>
                  <a:schemeClr val="dk1"/>
                </a:solidFill>
              </a:endParaRPr>
            </a:p>
            <a:p>
              <a:pPr marL="457200" lvl="0" indent="-3111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ko-KR" sz="1300">
                  <a:solidFill>
                    <a:schemeClr val="dk1"/>
                  </a:solidFill>
                </a:rPr>
                <a:t>모델의 복잡도를 낮추고 트리 계열 알고리즘의 일반화 성능을 극대화하기 위해, 월 정보를 단일 범주형(</a:t>
              </a:r>
              <a:r>
                <a:rPr lang="ko-KR" sz="1300">
                  <a:solidFill>
                    <a:srgbClr val="188038"/>
                  </a:solidFill>
                </a:rPr>
                <a:t>month</a:t>
              </a:r>
              <a:r>
                <a:rPr lang="ko-KR" sz="1300">
                  <a:solidFill>
                    <a:schemeClr val="dk1"/>
                  </a:solidFill>
                </a:rPr>
                <a:t>) 구조로 압축한 </a:t>
              </a:r>
              <a:r>
                <a:rPr lang="ko-KR" sz="1300" b="1">
                  <a:solidFill>
                    <a:srgbClr val="188038"/>
                  </a:solidFill>
                </a:rPr>
                <a:t>test1_cat.csv</a:t>
              </a:r>
              <a:r>
                <a:rPr lang="ko-KR" sz="1300" b="1">
                  <a:solidFill>
                    <a:schemeClr val="dk1"/>
                  </a:solidFill>
                </a:rPr>
                <a:t> 기반의 최적화된 학습 파이프라인을 채택</a:t>
              </a:r>
              <a:r>
                <a:rPr lang="ko-KR" sz="1300">
                  <a:solidFill>
                    <a:schemeClr val="dk1"/>
                  </a:solidFill>
                </a:rPr>
                <a:t>함.</a:t>
              </a:r>
              <a:endParaRPr sz="1200">
                <a:solidFill>
                  <a:schemeClr val="dk1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5" name="Google Shape;265;g3f70c2142d0_4_171"/>
            <p:cNvSpPr/>
            <p:nvPr/>
          </p:nvSpPr>
          <p:spPr>
            <a:xfrm>
              <a:off x="541891" y="1539006"/>
              <a:ext cx="101298" cy="114040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66" name="Google Shape;266;g3f70c2142d0_4_171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267" name="Google Shape;267;g3f70c2142d0_4_171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트러블 슈팅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f70c2142d0_4_171"/>
            <p:cNvSpPr/>
            <p:nvPr/>
          </p:nvSpPr>
          <p:spPr>
            <a:xfrm>
              <a:off x="541891" y="1539006"/>
              <a:ext cx="101298" cy="114040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4" name="Google Shape;424;p2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25" name="Google Shape;425;p2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2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8"/>
          <p:cNvGrpSpPr/>
          <p:nvPr/>
        </p:nvGrpSpPr>
        <p:grpSpPr>
          <a:xfrm>
            <a:off x="541891" y="1430219"/>
            <a:ext cx="10526159" cy="646290"/>
            <a:chOff x="541891" y="1430219"/>
            <a:chExt cx="10526159" cy="646290"/>
          </a:xfrm>
        </p:grpSpPr>
        <p:sp>
          <p:nvSpPr>
            <p:cNvPr id="431" name="Google Shape;431;p28"/>
            <p:cNvSpPr txBox="1"/>
            <p:nvPr/>
          </p:nvSpPr>
          <p:spPr>
            <a:xfrm>
              <a:off x="743615" y="1430219"/>
              <a:ext cx="10324435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이용자 수 예측 모델</a:t>
              </a:r>
              <a:r>
                <a:rPr lang="en-US" altLang="ko-KR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(Regression Model)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 선정 과정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34" name="Google Shape;434;p28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36" name="Google Shape;436;p28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2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185BFEE-7A21-F772-D60E-BEEB44CD44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645" b="49193"/>
          <a:stretch/>
        </p:blipFill>
        <p:spPr>
          <a:xfrm>
            <a:off x="8420099" y="2150280"/>
            <a:ext cx="3228777" cy="22121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0EFFF1-CE7C-339C-1521-922F651BD8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5160" y="4546893"/>
            <a:ext cx="2832810" cy="15010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CABF0E9-246C-E5D1-09DD-76589970EB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3414"/>
          <a:stretch/>
        </p:blipFill>
        <p:spPr>
          <a:xfrm>
            <a:off x="5575679" y="2150429"/>
            <a:ext cx="2872996" cy="4354076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EA0F36A9-3557-D3BB-036B-9CC289D94BE2}"/>
              </a:ext>
            </a:extLst>
          </p:cNvPr>
          <p:cNvGrpSpPr/>
          <p:nvPr/>
        </p:nvGrpSpPr>
        <p:grpSpPr>
          <a:xfrm>
            <a:off x="1008916" y="2105278"/>
            <a:ext cx="4190632" cy="4471686"/>
            <a:chOff x="1008916" y="2105278"/>
            <a:chExt cx="4190632" cy="4471686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0D7D6EF-2D77-6D64-184C-D9D5987820DC}"/>
                </a:ext>
              </a:extLst>
            </p:cNvPr>
            <p:cNvGrpSpPr/>
            <p:nvPr/>
          </p:nvGrpSpPr>
          <p:grpSpPr>
            <a:xfrm>
              <a:off x="1008916" y="2105278"/>
              <a:ext cx="4190632" cy="4471686"/>
              <a:chOff x="952034" y="2105125"/>
              <a:chExt cx="4190632" cy="4471686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0CF886B-610B-70D0-FD27-FD817BCF7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2034" y="2105125"/>
                <a:ext cx="4190632" cy="3429779"/>
              </a:xfrm>
              <a:prstGeom prst="rect">
                <a:avLst/>
              </a:prstGeom>
            </p:spPr>
          </p:pic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F5A090D-C2C0-B5F9-FD45-3ACC48AA6FF5}"/>
                  </a:ext>
                </a:extLst>
              </p:cNvPr>
              <p:cNvSpPr/>
              <p:nvPr/>
            </p:nvSpPr>
            <p:spPr>
              <a:xfrm>
                <a:off x="952034" y="5529263"/>
                <a:ext cx="4190632" cy="1047548"/>
              </a:xfrm>
              <a:prstGeom prst="rect">
                <a:avLst/>
              </a:prstGeom>
              <a:solidFill>
                <a:srgbClr val="191A1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0961458-E1E9-D0CF-17FD-98864671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34394"/>
            <a:stretch/>
          </p:blipFill>
          <p:spPr>
            <a:xfrm>
              <a:off x="1020597" y="5529416"/>
              <a:ext cx="3754603" cy="962470"/>
            </a:xfrm>
            <a:prstGeom prst="rect">
              <a:avLst/>
            </a:prstGeom>
          </p:spPr>
        </p:pic>
      </p:grpSp>
      <p:pic>
        <p:nvPicPr>
          <p:cNvPr id="2" name="Google Shape;305;p5">
            <a:extLst>
              <a:ext uri="{FF2B5EF4-FFF2-40B4-BE49-F238E27FC236}">
                <a16:creationId xmlns:a16="http://schemas.microsoft.com/office/drawing/2014/main" id="{148B3818-ACF3-EC83-5DB3-DEC34AB427E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l="34974"/>
          <a:stretch/>
        </p:blipFill>
        <p:spPr>
          <a:xfrm rot="14660349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>
          <a:extLst>
            <a:ext uri="{FF2B5EF4-FFF2-40B4-BE49-F238E27FC236}">
              <a16:creationId xmlns:a16="http://schemas.microsoft.com/office/drawing/2014/main" id="{83277722-24D6-5E91-BA81-01DBEEB1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8">
            <a:extLst>
              <a:ext uri="{FF2B5EF4-FFF2-40B4-BE49-F238E27FC236}">
                <a16:creationId xmlns:a16="http://schemas.microsoft.com/office/drawing/2014/main" id="{03CD4AF2-0C3A-DEEC-8622-F945E01381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8">
            <a:extLst>
              <a:ext uri="{FF2B5EF4-FFF2-40B4-BE49-F238E27FC236}">
                <a16:creationId xmlns:a16="http://schemas.microsoft.com/office/drawing/2014/main" id="{C0407EFC-F0A2-82C9-11A0-432F863881D3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4" name="Google Shape;424;p28">
            <a:extLst>
              <a:ext uri="{FF2B5EF4-FFF2-40B4-BE49-F238E27FC236}">
                <a16:creationId xmlns:a16="http://schemas.microsoft.com/office/drawing/2014/main" id="{56827E5D-B281-47EE-55F0-DEDBC89B6CD0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25" name="Google Shape;425;p28">
              <a:extLst>
                <a:ext uri="{FF2B5EF4-FFF2-40B4-BE49-F238E27FC236}">
                  <a16:creationId xmlns:a16="http://schemas.microsoft.com/office/drawing/2014/main" id="{A685E213-2F61-C942-1CBF-A51CA0E323C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28">
              <a:extLst>
                <a:ext uri="{FF2B5EF4-FFF2-40B4-BE49-F238E27FC236}">
                  <a16:creationId xmlns:a16="http://schemas.microsoft.com/office/drawing/2014/main" id="{B6FFA968-0900-E3C4-75B2-259C2DC8C608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8">
              <a:extLst>
                <a:ext uri="{FF2B5EF4-FFF2-40B4-BE49-F238E27FC236}">
                  <a16:creationId xmlns:a16="http://schemas.microsoft.com/office/drawing/2014/main" id="{88F254D2-E6BF-7B13-A40A-975847CCD42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8">
            <a:extLst>
              <a:ext uri="{FF2B5EF4-FFF2-40B4-BE49-F238E27FC236}">
                <a16:creationId xmlns:a16="http://schemas.microsoft.com/office/drawing/2014/main" id="{83C35ADC-77DD-0684-A7AF-9D934A52BCA1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>
            <a:extLst>
              <a:ext uri="{FF2B5EF4-FFF2-40B4-BE49-F238E27FC236}">
                <a16:creationId xmlns:a16="http://schemas.microsoft.com/office/drawing/2014/main" id="{4A73655D-6821-8740-6770-F143C79FB4D3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8">
            <a:extLst>
              <a:ext uri="{FF2B5EF4-FFF2-40B4-BE49-F238E27FC236}">
                <a16:creationId xmlns:a16="http://schemas.microsoft.com/office/drawing/2014/main" id="{BA84020D-AD83-85BD-80E9-CD897CD195D6}"/>
              </a:ext>
            </a:extLst>
          </p:cNvPr>
          <p:cNvGrpSpPr/>
          <p:nvPr/>
        </p:nvGrpSpPr>
        <p:grpSpPr>
          <a:xfrm>
            <a:off x="541891" y="1430219"/>
            <a:ext cx="10526159" cy="646290"/>
            <a:chOff x="541891" y="1430219"/>
            <a:chExt cx="10526159" cy="646290"/>
          </a:xfrm>
        </p:grpSpPr>
        <p:sp>
          <p:nvSpPr>
            <p:cNvPr id="431" name="Google Shape;431;p28">
              <a:extLst>
                <a:ext uri="{FF2B5EF4-FFF2-40B4-BE49-F238E27FC236}">
                  <a16:creationId xmlns:a16="http://schemas.microsoft.com/office/drawing/2014/main" id="{33614D2C-56F6-BA80-01E7-C4B34A2FA6F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altLang="ko-KR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CatBoost </a:t>
              </a:r>
              <a:r>
                <a:rPr lang="ko-KR" altLang="en-US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모델의 성능 높이기</a:t>
              </a:r>
              <a:r>
                <a:rPr lang="en-US" altLang="ko-KR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!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28">
              <a:extLst>
                <a:ext uri="{FF2B5EF4-FFF2-40B4-BE49-F238E27FC236}">
                  <a16:creationId xmlns:a16="http://schemas.microsoft.com/office/drawing/2014/main" id="{279914E2-D9E3-9215-0B5E-424F5ACFCFF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34" name="Google Shape;434;p28">
            <a:extLst>
              <a:ext uri="{FF2B5EF4-FFF2-40B4-BE49-F238E27FC236}">
                <a16:creationId xmlns:a16="http://schemas.microsoft.com/office/drawing/2014/main" id="{1DA0ABD4-24FA-2029-7FCB-A0259B7546CB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8">
            <a:extLst>
              <a:ext uri="{FF2B5EF4-FFF2-40B4-BE49-F238E27FC236}">
                <a16:creationId xmlns:a16="http://schemas.microsoft.com/office/drawing/2014/main" id="{7FC5CD3A-62EA-89DC-FAE8-9D33E4993920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36" name="Google Shape;436;p28" descr="EMB0000378c3f3d">
              <a:extLst>
                <a:ext uri="{FF2B5EF4-FFF2-40B4-BE49-F238E27FC236}">
                  <a16:creationId xmlns:a16="http://schemas.microsoft.com/office/drawing/2014/main" id="{43D95277-9CC7-B520-0E06-1B598964D99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28">
              <a:extLst>
                <a:ext uri="{FF2B5EF4-FFF2-40B4-BE49-F238E27FC236}">
                  <a16:creationId xmlns:a16="http://schemas.microsoft.com/office/drawing/2014/main" id="{6D46BB5B-C8A4-F65B-305B-D3DCEBB5704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277;p5">
            <a:extLst>
              <a:ext uri="{FF2B5EF4-FFF2-40B4-BE49-F238E27FC236}">
                <a16:creationId xmlns:a16="http://schemas.microsoft.com/office/drawing/2014/main" id="{AC070E90-91F8-A304-391C-AC5CC55AFCAC}"/>
              </a:ext>
            </a:extLst>
          </p:cNvPr>
          <p:cNvSpPr/>
          <p:nvPr/>
        </p:nvSpPr>
        <p:spPr>
          <a:xfrm>
            <a:off x="743615" y="2105939"/>
            <a:ext cx="7296912" cy="669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1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78;p5">
            <a:extLst>
              <a:ext uri="{FF2B5EF4-FFF2-40B4-BE49-F238E27FC236}">
                <a16:creationId xmlns:a16="http://schemas.microsoft.com/office/drawing/2014/main" id="{1A6515AA-1955-B8AE-C42F-4FBC62BD9ED7}"/>
              </a:ext>
            </a:extLst>
          </p:cNvPr>
          <p:cNvSpPr/>
          <p:nvPr/>
        </p:nvSpPr>
        <p:spPr>
          <a:xfrm>
            <a:off x="743615" y="2221731"/>
            <a:ext cx="50292" cy="454216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79;p5">
            <a:extLst>
              <a:ext uri="{FF2B5EF4-FFF2-40B4-BE49-F238E27FC236}">
                <a16:creationId xmlns:a16="http://schemas.microsoft.com/office/drawing/2014/main" id="{DFD10F54-CBBF-3CE3-B1CA-A8E357840FB2}"/>
              </a:ext>
            </a:extLst>
          </p:cNvPr>
          <p:cNvSpPr txBox="1"/>
          <p:nvPr/>
        </p:nvSpPr>
        <p:spPr>
          <a:xfrm>
            <a:off x="878489" y="2227268"/>
            <a:ext cx="960120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CatBoost</a:t>
            </a: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특징</a:t>
            </a:r>
            <a:endParaRPr/>
          </a:p>
        </p:txBody>
      </p:sp>
      <p:sp>
        <p:nvSpPr>
          <p:cNvPr id="7" name="Google Shape;280;p5">
            <a:extLst>
              <a:ext uri="{FF2B5EF4-FFF2-40B4-BE49-F238E27FC236}">
                <a16:creationId xmlns:a16="http://schemas.microsoft.com/office/drawing/2014/main" id="{8B50BFD8-1B61-0456-8751-D9B3FA235B3B}"/>
              </a:ext>
            </a:extLst>
          </p:cNvPr>
          <p:cNvSpPr txBox="1"/>
          <p:nvPr/>
        </p:nvSpPr>
        <p:spPr>
          <a:xfrm>
            <a:off x="1923191" y="2325562"/>
            <a:ext cx="5897880" cy="23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altLang="en-US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범주형 변수 자동 처리 → 범주형 데이터가 많을 때 우수한 모델</a:t>
            </a:r>
            <a:endParaRPr b="1">
              <a:solidFill>
                <a:srgbClr val="3378C8"/>
              </a:solidFill>
            </a:endParaRPr>
          </a:p>
        </p:txBody>
      </p:sp>
      <p:sp>
        <p:nvSpPr>
          <p:cNvPr id="8" name="Rounded Rectangle 480">
            <a:extLst>
              <a:ext uri="{FF2B5EF4-FFF2-40B4-BE49-F238E27FC236}">
                <a16:creationId xmlns:a16="http://schemas.microsoft.com/office/drawing/2014/main" id="{B6DACDED-5915-99B8-2CEC-1FBCA8ED66AB}"/>
              </a:ext>
            </a:extLst>
          </p:cNvPr>
          <p:cNvSpPr/>
          <p:nvPr/>
        </p:nvSpPr>
        <p:spPr>
          <a:xfrm>
            <a:off x="539496" y="6126480"/>
            <a:ext cx="11155680" cy="411480"/>
          </a:xfrm>
          <a:prstGeom prst="roundRect">
            <a:avLst>
              <a:gd name="adj" fmla="val 12000"/>
            </a:avLst>
          </a:prstGeom>
          <a:solidFill>
            <a:srgbClr val="FFFDF3"/>
          </a:solidFill>
          <a:ln w="12700">
            <a:solidFill>
              <a:srgbClr val="F2E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481">
            <a:extLst>
              <a:ext uri="{FF2B5EF4-FFF2-40B4-BE49-F238E27FC236}">
                <a16:creationId xmlns:a16="http://schemas.microsoft.com/office/drawing/2014/main" id="{C6939138-A027-5F35-9BC1-BE479534F966}"/>
              </a:ext>
            </a:extLst>
          </p:cNvPr>
          <p:cNvSpPr/>
          <p:nvPr/>
        </p:nvSpPr>
        <p:spPr>
          <a:xfrm>
            <a:off x="539496" y="6190488"/>
            <a:ext cx="54864" cy="28346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296BD-8836-5153-C228-20CBE0149742}"/>
              </a:ext>
            </a:extLst>
          </p:cNvPr>
          <p:cNvSpPr txBox="1"/>
          <p:nvPr/>
        </p:nvSpPr>
        <p:spPr>
          <a:xfrm>
            <a:off x="777240" y="6228890"/>
            <a:ext cx="10789920" cy="206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CatBoost </a:t>
            </a:r>
            <a:r>
              <a:rPr lang="ko-KR" altLang="en-US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모델은 전처리 없는 범주형 데이터에 강하나 데이터 수가 적고 범주가 적은 데이터에서는 </a:t>
            </a:r>
            <a:r>
              <a:rPr lang="en-US" altLang="ko-KR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One-hot encoding </a:t>
            </a:r>
            <a:r>
              <a:rPr lang="ko-KR" altLang="en-US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보다 성능이 떨어짐</a:t>
            </a:r>
            <a:endParaRPr sz="1150" b="0">
              <a:solidFill>
                <a:srgbClr val="3A383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6D48AC4-D41B-7329-C7AB-CB5A3A2DB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489" y="2875689"/>
            <a:ext cx="5404033" cy="11964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B3135F1-88DC-A61B-E451-CB563FCA4D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395" y="2875689"/>
            <a:ext cx="1524132" cy="1196444"/>
          </a:xfrm>
          <a:prstGeom prst="rect">
            <a:avLst/>
          </a:prstGeom>
        </p:spPr>
      </p:pic>
      <p:sp>
        <p:nvSpPr>
          <p:cNvPr id="3" name="Rounded Rectangle 473">
            <a:extLst>
              <a:ext uri="{FF2B5EF4-FFF2-40B4-BE49-F238E27FC236}">
                <a16:creationId xmlns:a16="http://schemas.microsoft.com/office/drawing/2014/main" id="{293D2C2F-975B-0736-154C-C3568C4F4639}"/>
              </a:ext>
            </a:extLst>
          </p:cNvPr>
          <p:cNvSpPr/>
          <p:nvPr/>
        </p:nvSpPr>
        <p:spPr>
          <a:xfrm>
            <a:off x="8274400" y="2148529"/>
            <a:ext cx="2463283" cy="19236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A7C77-A624-D3F0-0591-94778EF3F3D2}"/>
              </a:ext>
            </a:extLst>
          </p:cNvPr>
          <p:cNvSpPr txBox="1"/>
          <p:nvPr/>
        </p:nvSpPr>
        <p:spPr>
          <a:xfrm>
            <a:off x="8564828" y="2350500"/>
            <a:ext cx="2082001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CatBoost </a:t>
            </a:r>
            <a:r>
              <a:rPr lang="ko-KR" altLang="en-US"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사용 간 유의 사항</a:t>
            </a:r>
            <a:endParaRPr sz="1150" b="1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Rounded Rectangle 474">
            <a:extLst>
              <a:ext uri="{FF2B5EF4-FFF2-40B4-BE49-F238E27FC236}">
                <a16:creationId xmlns:a16="http://schemas.microsoft.com/office/drawing/2014/main" id="{D051D0F6-302A-A20A-D32D-BB8C078E0540}"/>
              </a:ext>
            </a:extLst>
          </p:cNvPr>
          <p:cNvSpPr/>
          <p:nvPr/>
        </p:nvSpPr>
        <p:spPr>
          <a:xfrm>
            <a:off x="8274400" y="2159403"/>
            <a:ext cx="2463283" cy="11644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6" name="Google Shape;315;p6">
            <a:extLst>
              <a:ext uri="{FF2B5EF4-FFF2-40B4-BE49-F238E27FC236}">
                <a16:creationId xmlns:a16="http://schemas.microsoft.com/office/drawing/2014/main" id="{96ED3B58-EB83-1ADD-4688-552CD0571AF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4365" r="36132"/>
          <a:stretch/>
        </p:blipFill>
        <p:spPr>
          <a:xfrm rot="16200000" flipH="1">
            <a:off x="-70596" y="546689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27;p6">
            <a:extLst>
              <a:ext uri="{FF2B5EF4-FFF2-40B4-BE49-F238E27FC236}">
                <a16:creationId xmlns:a16="http://schemas.microsoft.com/office/drawing/2014/main" id="{39EA6DD9-2C08-9F01-91CF-1038AC9B667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9625" y="5200820"/>
            <a:ext cx="124936" cy="12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16;p6">
            <a:extLst>
              <a:ext uri="{FF2B5EF4-FFF2-40B4-BE49-F238E27FC236}">
                <a16:creationId xmlns:a16="http://schemas.microsoft.com/office/drawing/2014/main" id="{AE933790-5756-7B41-FF16-055D7929CDA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r="16078" b="36588"/>
          <a:stretch/>
        </p:blipFill>
        <p:spPr>
          <a:xfrm rot="16200000">
            <a:off x="8716891" y="269271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 38">
            <a:extLst>
              <a:ext uri="{FF2B5EF4-FFF2-40B4-BE49-F238E27FC236}">
                <a16:creationId xmlns:a16="http://schemas.microsoft.com/office/drawing/2014/main" id="{F0E19839-3099-2079-49AA-260DFE6D9CF3}"/>
              </a:ext>
            </a:extLst>
          </p:cNvPr>
          <p:cNvSpPr/>
          <p:nvPr/>
        </p:nvSpPr>
        <p:spPr>
          <a:xfrm>
            <a:off x="8355575" y="2623284"/>
            <a:ext cx="2295144" cy="129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범주의 개수 </a:t>
            </a:r>
            <a:r>
              <a:rPr lang="en-US" altLang="ko-KR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Cardinality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가 낮은 범주에 대해서는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One-hot encoding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하는 것 보다 더 낮은 성능이 나올 수 있음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>
              <a:lnSpc>
                <a:spcPct val="130000"/>
              </a:lnSpc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950" b="1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95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범주의 상관관계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범주형 데이터가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Tree 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구조 학습에 있어 큰 영향을 주는 데이터가 존재하면  </a:t>
            </a:r>
            <a:r>
              <a:rPr lang="en-US" altLang="ko-KR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One-hot encoding</a:t>
            </a:r>
            <a:r>
              <a:rPr lang="ko-KR" altLang="en-US" sz="950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하는 것 보다 더 낮은 성능이 나올 수 있음</a:t>
            </a: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  <a:p>
            <a:pPr marL="85725" indent="-85725">
              <a:lnSpc>
                <a:spcPct val="130000"/>
              </a:lnSpc>
              <a:spcAft>
                <a:spcPts val="700"/>
              </a:spcAft>
              <a:tabLst>
                <a:tab pos="85725" algn="l"/>
              </a:tabLst>
            </a:pPr>
            <a:endParaRPr lang="en-US" altLang="ko-KR" sz="95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BDD908A-3165-9357-E6FD-97AF1BA159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6687" y="5043617"/>
            <a:ext cx="5418290" cy="952583"/>
          </a:xfrm>
          <a:prstGeom prst="rect">
            <a:avLst/>
          </a:prstGeom>
        </p:spPr>
      </p:pic>
      <p:sp>
        <p:nvSpPr>
          <p:cNvPr id="22" name="Google Shape;277;p5">
            <a:extLst>
              <a:ext uri="{FF2B5EF4-FFF2-40B4-BE49-F238E27FC236}">
                <a16:creationId xmlns:a16="http://schemas.microsoft.com/office/drawing/2014/main" id="{747DBB96-0A7C-8144-8319-935A52E0719B}"/>
              </a:ext>
            </a:extLst>
          </p:cNvPr>
          <p:cNvSpPr/>
          <p:nvPr/>
        </p:nvSpPr>
        <p:spPr>
          <a:xfrm>
            <a:off x="730153" y="4223283"/>
            <a:ext cx="10078650" cy="669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1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78;p5">
            <a:extLst>
              <a:ext uri="{FF2B5EF4-FFF2-40B4-BE49-F238E27FC236}">
                <a16:creationId xmlns:a16="http://schemas.microsoft.com/office/drawing/2014/main" id="{D2D78B7B-965D-11B5-BA92-CD46E349311B}"/>
              </a:ext>
            </a:extLst>
          </p:cNvPr>
          <p:cNvSpPr/>
          <p:nvPr/>
        </p:nvSpPr>
        <p:spPr>
          <a:xfrm>
            <a:off x="730153" y="4339075"/>
            <a:ext cx="50292" cy="454216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79;p5">
            <a:extLst>
              <a:ext uri="{FF2B5EF4-FFF2-40B4-BE49-F238E27FC236}">
                <a16:creationId xmlns:a16="http://schemas.microsoft.com/office/drawing/2014/main" id="{4EBAE105-F273-3106-DC48-858F3293FF98}"/>
              </a:ext>
            </a:extLst>
          </p:cNvPr>
          <p:cNvSpPr txBox="1"/>
          <p:nvPr/>
        </p:nvSpPr>
        <p:spPr>
          <a:xfrm>
            <a:off x="865027" y="4344612"/>
            <a:ext cx="960120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CatBoost</a:t>
            </a: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특징</a:t>
            </a:r>
            <a:endParaRPr/>
          </a:p>
        </p:txBody>
      </p:sp>
      <p:sp>
        <p:nvSpPr>
          <p:cNvPr id="25" name="Google Shape;280;p5">
            <a:extLst>
              <a:ext uri="{FF2B5EF4-FFF2-40B4-BE49-F238E27FC236}">
                <a16:creationId xmlns:a16="http://schemas.microsoft.com/office/drawing/2014/main" id="{341E72E6-1EF1-D51A-D98A-58F2FE21E8B3}"/>
              </a:ext>
            </a:extLst>
          </p:cNvPr>
          <p:cNvSpPr txBox="1"/>
          <p:nvPr/>
        </p:nvSpPr>
        <p:spPr>
          <a:xfrm>
            <a:off x="1909729" y="4442906"/>
            <a:ext cx="5897880" cy="23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lang="ko-KR" altLang="en-US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순서 부스팅</a:t>
            </a:r>
            <a:r>
              <a:rPr lang="en-US" altLang="ko-KR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Ordered Boosting) </a:t>
            </a:r>
            <a:r>
              <a:rPr lang="ko-KR" altLang="en-US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</a:t>
            </a:r>
            <a:r>
              <a:rPr lang="en-US" sz="115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>
              <a:solidFill>
                <a:srgbClr val="3378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4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>
          <a:extLst>
            <a:ext uri="{FF2B5EF4-FFF2-40B4-BE49-F238E27FC236}">
              <a16:creationId xmlns:a16="http://schemas.microsoft.com/office/drawing/2014/main" id="{858F61C8-7E45-88CF-1DF3-2504972D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8">
            <a:extLst>
              <a:ext uri="{FF2B5EF4-FFF2-40B4-BE49-F238E27FC236}">
                <a16:creationId xmlns:a16="http://schemas.microsoft.com/office/drawing/2014/main" id="{862CE7B8-985D-4FCA-285C-C7938337B9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8">
            <a:extLst>
              <a:ext uri="{FF2B5EF4-FFF2-40B4-BE49-F238E27FC236}">
                <a16:creationId xmlns:a16="http://schemas.microsoft.com/office/drawing/2014/main" id="{E3541D40-E640-640C-73C2-699A4F1B694A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4" name="Google Shape;424;p28">
            <a:extLst>
              <a:ext uri="{FF2B5EF4-FFF2-40B4-BE49-F238E27FC236}">
                <a16:creationId xmlns:a16="http://schemas.microsoft.com/office/drawing/2014/main" id="{E56621E1-ED69-0BE9-8599-B8ADBAD4E28A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25" name="Google Shape;425;p28">
              <a:extLst>
                <a:ext uri="{FF2B5EF4-FFF2-40B4-BE49-F238E27FC236}">
                  <a16:creationId xmlns:a16="http://schemas.microsoft.com/office/drawing/2014/main" id="{29525089-F694-8E28-2AA7-7BC731F11FB7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28">
              <a:extLst>
                <a:ext uri="{FF2B5EF4-FFF2-40B4-BE49-F238E27FC236}">
                  <a16:creationId xmlns:a16="http://schemas.microsoft.com/office/drawing/2014/main" id="{A0D22549-5DE3-2749-5CF8-4E3A379D487D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8">
              <a:extLst>
                <a:ext uri="{FF2B5EF4-FFF2-40B4-BE49-F238E27FC236}">
                  <a16:creationId xmlns:a16="http://schemas.microsoft.com/office/drawing/2014/main" id="{D3DC3606-1533-6716-5D5B-AD0B4909CFE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8">
            <a:extLst>
              <a:ext uri="{FF2B5EF4-FFF2-40B4-BE49-F238E27FC236}">
                <a16:creationId xmlns:a16="http://schemas.microsoft.com/office/drawing/2014/main" id="{D8553EB7-48A8-9854-6E3B-48CBC2F825C8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>
            <a:extLst>
              <a:ext uri="{FF2B5EF4-FFF2-40B4-BE49-F238E27FC236}">
                <a16:creationId xmlns:a16="http://schemas.microsoft.com/office/drawing/2014/main" id="{85F74BCA-A6E4-FD04-51EB-1CDB45A189CE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8">
            <a:extLst>
              <a:ext uri="{FF2B5EF4-FFF2-40B4-BE49-F238E27FC236}">
                <a16:creationId xmlns:a16="http://schemas.microsoft.com/office/drawing/2014/main" id="{D50CCCF8-322C-81D8-0154-F70FFA8EA10F}"/>
              </a:ext>
            </a:extLst>
          </p:cNvPr>
          <p:cNvGrpSpPr/>
          <p:nvPr/>
        </p:nvGrpSpPr>
        <p:grpSpPr>
          <a:xfrm>
            <a:off x="541891" y="1430219"/>
            <a:ext cx="10526159" cy="861734"/>
            <a:chOff x="541891" y="1430219"/>
            <a:chExt cx="10526159" cy="861734"/>
          </a:xfrm>
        </p:grpSpPr>
        <p:sp>
          <p:nvSpPr>
            <p:cNvPr id="431" name="Google Shape;431;p28">
              <a:extLst>
                <a:ext uri="{FF2B5EF4-FFF2-40B4-BE49-F238E27FC236}">
                  <a16:creationId xmlns:a16="http://schemas.microsoft.com/office/drawing/2014/main" id="{965D5441-9F66-0B0C-B754-581568ACD982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861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SzPts val="1800"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이용자 수 예측 모델 파라미터 튜닝</a:t>
              </a:r>
              <a:r>
                <a:rPr lang="en-US" altLang="ko-KR" dirty="0">
                  <a:latin typeface="+mj-ea"/>
                  <a:ea typeface="+mj-ea"/>
                  <a:sym typeface="Malgun Gothic"/>
                </a:rPr>
                <a:t>(</a:t>
              </a:r>
              <a:r>
                <a:rPr lang="en-US" altLang="ko-KR" dirty="0" err="1">
                  <a:latin typeface="+mj-ea"/>
                  <a:ea typeface="+mj-ea"/>
                  <a:sym typeface="Malgun Gothic"/>
                </a:rPr>
                <a:t>optuna</a:t>
              </a:r>
              <a:r>
                <a:rPr lang="en-US" altLang="ko-KR" dirty="0">
                  <a:latin typeface="+mj-ea"/>
                  <a:ea typeface="+mj-ea"/>
                  <a:sym typeface="Malgun Gothic"/>
                </a:rPr>
                <a:t> framework </a:t>
              </a:r>
              <a:r>
                <a:rPr lang="ko-KR" altLang="en-US" dirty="0">
                  <a:latin typeface="+mj-ea"/>
                  <a:ea typeface="+mj-ea"/>
                  <a:sym typeface="Malgun Gothic"/>
                </a:rPr>
                <a:t>사용</a:t>
              </a:r>
              <a:r>
                <a:rPr lang="en-US" altLang="ko-KR" dirty="0">
                  <a:latin typeface="+mj-ea"/>
                  <a:ea typeface="+mj-ea"/>
                  <a:sym typeface="Malgun Gothic"/>
                </a:rPr>
                <a:t>)</a:t>
              </a:r>
              <a:r>
                <a:rPr lang="en-US" altLang="ko-KR" sz="1800" b="1" dirty="0">
                  <a:solidFill>
                    <a:srgbClr val="3A3838"/>
                  </a:solidFill>
                  <a:latin typeface="+mj-ea"/>
                  <a:ea typeface="+mj-ea"/>
                  <a:sym typeface="Malgun Gothic"/>
                </a:rPr>
                <a:t> 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및 최종 예측 모델</a:t>
              </a:r>
              <a:endPara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28">
              <a:extLst>
                <a:ext uri="{FF2B5EF4-FFF2-40B4-BE49-F238E27FC236}">
                  <a16:creationId xmlns:a16="http://schemas.microsoft.com/office/drawing/2014/main" id="{F14CB3BA-2A70-6DB5-E39D-631D90219DF7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34" name="Google Shape;434;p28">
            <a:extLst>
              <a:ext uri="{FF2B5EF4-FFF2-40B4-BE49-F238E27FC236}">
                <a16:creationId xmlns:a16="http://schemas.microsoft.com/office/drawing/2014/main" id="{405BCDF6-5E32-543B-C767-ADA1846D8F48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8">
            <a:extLst>
              <a:ext uri="{FF2B5EF4-FFF2-40B4-BE49-F238E27FC236}">
                <a16:creationId xmlns:a16="http://schemas.microsoft.com/office/drawing/2014/main" id="{515731DD-9D14-33DB-D081-BD1A57F9FDA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36" name="Google Shape;436;p28" descr="EMB0000378c3f3d">
              <a:extLst>
                <a:ext uri="{FF2B5EF4-FFF2-40B4-BE49-F238E27FC236}">
                  <a16:creationId xmlns:a16="http://schemas.microsoft.com/office/drawing/2014/main" id="{B7AC5FE8-83EE-7BBB-9DC7-F470DC72A13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28">
              <a:extLst>
                <a:ext uri="{FF2B5EF4-FFF2-40B4-BE49-F238E27FC236}">
                  <a16:creationId xmlns:a16="http://schemas.microsoft.com/office/drawing/2014/main" id="{82F87F55-36D2-930C-DA89-575C6F0A3CE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DB4B4D-1397-BF48-532B-17D4979C588B}"/>
              </a:ext>
            </a:extLst>
          </p:cNvPr>
          <p:cNvGrpSpPr/>
          <p:nvPr/>
        </p:nvGrpSpPr>
        <p:grpSpPr>
          <a:xfrm>
            <a:off x="1009441" y="2105277"/>
            <a:ext cx="4190632" cy="4471533"/>
            <a:chOff x="898710" y="2317473"/>
            <a:chExt cx="4061217" cy="436892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56A9019-BD32-3621-1E9B-40EC693F7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8710" y="2317473"/>
              <a:ext cx="4061217" cy="319776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AC1FCC-7DAB-E0AF-68D7-756698F79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8710" y="5496948"/>
              <a:ext cx="4061217" cy="1189451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56EE05F8-1810-2AEB-0C46-57951196362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113" b="48795"/>
          <a:stretch/>
        </p:blipFill>
        <p:spPr>
          <a:xfrm>
            <a:off x="8428309" y="2129207"/>
            <a:ext cx="3077634" cy="23411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1F1D92-5211-6B02-A0E9-47AF6BF79CF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6794" b="2890"/>
          <a:stretch/>
        </p:blipFill>
        <p:spPr>
          <a:xfrm>
            <a:off x="8694215" y="5274123"/>
            <a:ext cx="2811728" cy="4440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1CE92B-2706-223C-CAA4-5E61AA35D9B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0113"/>
          <a:stretch/>
        </p:blipFill>
        <p:spPr>
          <a:xfrm>
            <a:off x="5336693" y="2113971"/>
            <a:ext cx="3077634" cy="4572159"/>
          </a:xfrm>
          <a:prstGeom prst="rect">
            <a:avLst/>
          </a:prstGeom>
        </p:spPr>
      </p:pic>
      <p:pic>
        <p:nvPicPr>
          <p:cNvPr id="2" name="Google Shape;305;p5">
            <a:extLst>
              <a:ext uri="{FF2B5EF4-FFF2-40B4-BE49-F238E27FC236}">
                <a16:creationId xmlns:a16="http://schemas.microsoft.com/office/drawing/2014/main" id="{FE7EADDB-262C-8A02-236B-DFE251D0393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l="34974"/>
          <a:stretch/>
        </p:blipFill>
        <p:spPr>
          <a:xfrm rot="14660349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2466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>
          <a:extLst>
            <a:ext uri="{FF2B5EF4-FFF2-40B4-BE49-F238E27FC236}">
              <a16:creationId xmlns:a16="http://schemas.microsoft.com/office/drawing/2014/main" id="{312BBF13-8ACB-5065-FAFF-75ED1B0A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8">
            <a:extLst>
              <a:ext uri="{FF2B5EF4-FFF2-40B4-BE49-F238E27FC236}">
                <a16:creationId xmlns:a16="http://schemas.microsoft.com/office/drawing/2014/main" id="{DAF46E7F-2610-D8B8-0E93-202F66BE0B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50;p4">
            <a:extLst>
              <a:ext uri="{FF2B5EF4-FFF2-40B4-BE49-F238E27FC236}">
                <a16:creationId xmlns:a16="http://schemas.microsoft.com/office/drawing/2014/main" id="{0DBAF274-7173-A944-EA03-490F90F3907C}"/>
              </a:ext>
            </a:extLst>
          </p:cNvPr>
          <p:cNvSpPr/>
          <p:nvPr/>
        </p:nvSpPr>
        <p:spPr>
          <a:xfrm flipV="1">
            <a:off x="5905832" y="1928126"/>
            <a:ext cx="4680000" cy="540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61;p4">
            <a:extLst>
              <a:ext uri="{FF2B5EF4-FFF2-40B4-BE49-F238E27FC236}">
                <a16:creationId xmlns:a16="http://schemas.microsoft.com/office/drawing/2014/main" id="{453D809E-CB51-73DB-0CA1-0D6015AF2E28}"/>
              </a:ext>
            </a:extLst>
          </p:cNvPr>
          <p:cNvSpPr/>
          <p:nvPr/>
        </p:nvSpPr>
        <p:spPr>
          <a:xfrm flipV="1">
            <a:off x="874368" y="1947131"/>
            <a:ext cx="4680000" cy="540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8">
            <a:extLst>
              <a:ext uri="{FF2B5EF4-FFF2-40B4-BE49-F238E27FC236}">
                <a16:creationId xmlns:a16="http://schemas.microsoft.com/office/drawing/2014/main" id="{E1F9B242-FDFC-A21C-0845-3631B141A5E4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4" name="Google Shape;424;p28">
            <a:extLst>
              <a:ext uri="{FF2B5EF4-FFF2-40B4-BE49-F238E27FC236}">
                <a16:creationId xmlns:a16="http://schemas.microsoft.com/office/drawing/2014/main" id="{20FCA485-C3B2-2984-86B3-23EE7B63D175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25" name="Google Shape;425;p28">
              <a:extLst>
                <a:ext uri="{FF2B5EF4-FFF2-40B4-BE49-F238E27FC236}">
                  <a16:creationId xmlns:a16="http://schemas.microsoft.com/office/drawing/2014/main" id="{71D6E390-85E4-7C7C-07C8-7456F0193253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28">
              <a:extLst>
                <a:ext uri="{FF2B5EF4-FFF2-40B4-BE49-F238E27FC236}">
                  <a16:creationId xmlns:a16="http://schemas.microsoft.com/office/drawing/2014/main" id="{3A2E488E-8641-4EC2-8D3E-8703B1446616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8">
              <a:extLst>
                <a:ext uri="{FF2B5EF4-FFF2-40B4-BE49-F238E27FC236}">
                  <a16:creationId xmlns:a16="http://schemas.microsoft.com/office/drawing/2014/main" id="{271EC740-C6F9-B7F7-5724-EF195972D2D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8">
            <a:extLst>
              <a:ext uri="{FF2B5EF4-FFF2-40B4-BE49-F238E27FC236}">
                <a16:creationId xmlns:a16="http://schemas.microsoft.com/office/drawing/2014/main" id="{EEC91609-B012-E61A-90CA-3E1EC17CFD1F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>
            <a:extLst>
              <a:ext uri="{FF2B5EF4-FFF2-40B4-BE49-F238E27FC236}">
                <a16:creationId xmlns:a16="http://schemas.microsoft.com/office/drawing/2014/main" id="{8D2BBF2C-8A82-1FFB-A207-85533394D196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8">
            <a:extLst>
              <a:ext uri="{FF2B5EF4-FFF2-40B4-BE49-F238E27FC236}">
                <a16:creationId xmlns:a16="http://schemas.microsoft.com/office/drawing/2014/main" id="{04AEB30F-CB73-4FE6-C407-E97E76236B3D}"/>
              </a:ext>
            </a:extLst>
          </p:cNvPr>
          <p:cNvGrpSpPr/>
          <p:nvPr/>
        </p:nvGrpSpPr>
        <p:grpSpPr>
          <a:xfrm>
            <a:off x="541891" y="1430219"/>
            <a:ext cx="10526159" cy="646290"/>
            <a:chOff x="541891" y="1430219"/>
            <a:chExt cx="10526159" cy="646290"/>
          </a:xfrm>
        </p:grpSpPr>
        <p:sp>
          <p:nvSpPr>
            <p:cNvPr id="431" name="Google Shape;431;p28">
              <a:extLst>
                <a:ext uri="{FF2B5EF4-FFF2-40B4-BE49-F238E27FC236}">
                  <a16:creationId xmlns:a16="http://schemas.microsoft.com/office/drawing/2014/main" id="{37945CE7-6695-83FF-C976-7DCD558C87FF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혼잡도 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예측 </a:t>
              </a:r>
              <a:r>
                <a:rPr lang="ko-KR" altLang="en-US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모델</a:t>
              </a:r>
              <a:r>
                <a:rPr lang="en-US" altLang="ko-KR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(Classification </a:t>
              </a:r>
              <a:r>
                <a:rPr lang="en-US" altLang="ko-KR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Model)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 선정 과정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28">
              <a:extLst>
                <a:ext uri="{FF2B5EF4-FFF2-40B4-BE49-F238E27FC236}">
                  <a16:creationId xmlns:a16="http://schemas.microsoft.com/office/drawing/2014/main" id="{0C696AD2-E84D-2C70-A7CF-54D480D949A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34" name="Google Shape;434;p28">
            <a:extLst>
              <a:ext uri="{FF2B5EF4-FFF2-40B4-BE49-F238E27FC236}">
                <a16:creationId xmlns:a16="http://schemas.microsoft.com/office/drawing/2014/main" id="{46AC54F1-32CE-4601-06CF-01A15697D201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8">
            <a:extLst>
              <a:ext uri="{FF2B5EF4-FFF2-40B4-BE49-F238E27FC236}">
                <a16:creationId xmlns:a16="http://schemas.microsoft.com/office/drawing/2014/main" id="{EC14E1AD-2B19-AE80-DC92-C879E61B295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36" name="Google Shape;436;p28" descr="EMB0000378c3f3d">
              <a:extLst>
                <a:ext uri="{FF2B5EF4-FFF2-40B4-BE49-F238E27FC236}">
                  <a16:creationId xmlns:a16="http://schemas.microsoft.com/office/drawing/2014/main" id="{0DCA3515-DDF9-A972-2289-96DEE4F09B2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28">
              <a:extLst>
                <a:ext uri="{FF2B5EF4-FFF2-40B4-BE49-F238E27FC236}">
                  <a16:creationId xmlns:a16="http://schemas.microsoft.com/office/drawing/2014/main" id="{9EE709F2-3A2D-D720-566B-FB13E1E052D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oogle Shape;305;p5">
            <a:extLst>
              <a:ext uri="{FF2B5EF4-FFF2-40B4-BE49-F238E27FC236}">
                <a16:creationId xmlns:a16="http://schemas.microsoft.com/office/drawing/2014/main" id="{E9B82AEB-BE1E-1DB5-63BB-C5C18702A13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4974"/>
          <a:stretch/>
        </p:blipFill>
        <p:spPr>
          <a:xfrm rot="14660349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242;p4">
            <a:extLst>
              <a:ext uri="{FF2B5EF4-FFF2-40B4-BE49-F238E27FC236}">
                <a16:creationId xmlns:a16="http://schemas.microsoft.com/office/drawing/2014/main" id="{04908437-C11C-32C3-0132-09FFABB74B63}"/>
              </a:ext>
            </a:extLst>
          </p:cNvPr>
          <p:cNvGrpSpPr/>
          <p:nvPr/>
        </p:nvGrpSpPr>
        <p:grpSpPr>
          <a:xfrm>
            <a:off x="960721" y="2020934"/>
            <a:ext cx="408282" cy="388046"/>
            <a:chOff x="450324" y="2128945"/>
            <a:chExt cx="889526" cy="845440"/>
          </a:xfrm>
        </p:grpSpPr>
        <p:sp>
          <p:nvSpPr>
            <p:cNvPr id="6" name="Google Shape;243;p4">
              <a:extLst>
                <a:ext uri="{FF2B5EF4-FFF2-40B4-BE49-F238E27FC236}">
                  <a16:creationId xmlns:a16="http://schemas.microsoft.com/office/drawing/2014/main" id="{18101453-E594-A2DB-E1A1-ABDE1F0F5379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244;p4">
              <a:extLst>
                <a:ext uri="{FF2B5EF4-FFF2-40B4-BE49-F238E27FC236}">
                  <a16:creationId xmlns:a16="http://schemas.microsoft.com/office/drawing/2014/main" id="{37D0B6F8-1355-64F2-7910-93F1B4D3656A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BEE7E3D3-0684-0265-3664-2ABFEA06F677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252;p4">
            <a:extLst>
              <a:ext uri="{FF2B5EF4-FFF2-40B4-BE49-F238E27FC236}">
                <a16:creationId xmlns:a16="http://schemas.microsoft.com/office/drawing/2014/main" id="{D1314B21-635E-E201-05A3-0221020D6CCE}"/>
              </a:ext>
            </a:extLst>
          </p:cNvPr>
          <p:cNvGrpSpPr/>
          <p:nvPr/>
        </p:nvGrpSpPr>
        <p:grpSpPr>
          <a:xfrm>
            <a:off x="6025677" y="1979391"/>
            <a:ext cx="418718" cy="380422"/>
            <a:chOff x="427587" y="2066948"/>
            <a:chExt cx="912263" cy="828829"/>
          </a:xfrm>
        </p:grpSpPr>
        <p:sp>
          <p:nvSpPr>
            <p:cNvPr id="11" name="Google Shape;253;p4">
              <a:extLst>
                <a:ext uri="{FF2B5EF4-FFF2-40B4-BE49-F238E27FC236}">
                  <a16:creationId xmlns:a16="http://schemas.microsoft.com/office/drawing/2014/main" id="{2C147FE7-F90F-BD5B-1659-CA6FBD0CB7B3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254;p4">
              <a:extLst>
                <a:ext uri="{FF2B5EF4-FFF2-40B4-BE49-F238E27FC236}">
                  <a16:creationId xmlns:a16="http://schemas.microsoft.com/office/drawing/2014/main" id="{CE28CA8D-837C-24A1-921E-F71CF97F61C2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255;p4">
              <a:extLst>
                <a:ext uri="{FF2B5EF4-FFF2-40B4-BE49-F238E27FC236}">
                  <a16:creationId xmlns:a16="http://schemas.microsoft.com/office/drawing/2014/main" id="{E4AA2C87-0AE4-0917-6D7D-C4230DBF55D8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279;p5">
            <a:extLst>
              <a:ext uri="{FF2B5EF4-FFF2-40B4-BE49-F238E27FC236}">
                <a16:creationId xmlns:a16="http://schemas.microsoft.com/office/drawing/2014/main" id="{8CFCC194-CE2A-1305-F55D-92FB99118238}"/>
              </a:ext>
            </a:extLst>
          </p:cNvPr>
          <p:cNvSpPr txBox="1"/>
          <p:nvPr/>
        </p:nvSpPr>
        <p:spPr>
          <a:xfrm>
            <a:off x="1365032" y="2083163"/>
            <a:ext cx="3919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>
                <a:solidFill>
                  <a:srgbClr val="3378C8"/>
                </a:solidFill>
                <a:latin typeface="Malgun Gothic"/>
                <a:ea typeface="Malgun Gothic"/>
                <a:sym typeface="Malgun Gothic"/>
              </a:rPr>
              <a:t>비지도 학습 </a:t>
            </a:r>
            <a:r>
              <a:rPr lang="en-US" altLang="ko-KR" sz="1600" b="1">
                <a:solidFill>
                  <a:srgbClr val="3378C8"/>
                </a:solidFill>
                <a:latin typeface="Malgun Gothic"/>
                <a:ea typeface="Malgun Gothic"/>
                <a:sym typeface="Malgun Gothic"/>
              </a:rPr>
              <a:t>(K-means)</a:t>
            </a:r>
            <a:endParaRPr sz="1600"/>
          </a:p>
        </p:txBody>
      </p:sp>
      <p:sp>
        <p:nvSpPr>
          <p:cNvPr id="21" name="Google Shape;279;p5">
            <a:extLst>
              <a:ext uri="{FF2B5EF4-FFF2-40B4-BE49-F238E27FC236}">
                <a16:creationId xmlns:a16="http://schemas.microsoft.com/office/drawing/2014/main" id="{DDE85FB3-8646-7CC5-4466-EF2FF31CCEFA}"/>
              </a:ext>
            </a:extLst>
          </p:cNvPr>
          <p:cNvSpPr txBox="1"/>
          <p:nvPr/>
        </p:nvSpPr>
        <p:spPr>
          <a:xfrm>
            <a:off x="6368093" y="2050867"/>
            <a:ext cx="3919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지도 학습 </a:t>
            </a:r>
            <a:r>
              <a:rPr lang="en-US" altLang="ko-KR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(CatBoost</a:t>
            </a:r>
            <a:r>
              <a:rPr lang="ko-KR" altLang="en-US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en-US" altLang="ko-KR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Classification)</a:t>
            </a:r>
            <a:endParaRPr sz="1600">
              <a:solidFill>
                <a:srgbClr val="E1B075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11E327C-1C64-436C-B43F-3945534182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458" y="3952289"/>
            <a:ext cx="4077053" cy="25376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4304216-2DB5-CC6E-B48E-9D496C9D8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3105" y="4041277"/>
            <a:ext cx="3800620" cy="244869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73115DC-51C9-8526-0B7C-404B2398E9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5612" y="3952289"/>
            <a:ext cx="3269010" cy="253942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94BAF62-1457-52C4-9B9E-DD796816F5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9623" y="2683766"/>
            <a:ext cx="1929854" cy="858658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29" name="Rounded Rectangle 473">
            <a:extLst>
              <a:ext uri="{FF2B5EF4-FFF2-40B4-BE49-F238E27FC236}">
                <a16:creationId xmlns:a16="http://schemas.microsoft.com/office/drawing/2014/main" id="{68BAE3F2-486F-9A82-D7AB-B653D56FD9B8}"/>
              </a:ext>
            </a:extLst>
          </p:cNvPr>
          <p:cNvSpPr/>
          <p:nvPr/>
        </p:nvSpPr>
        <p:spPr>
          <a:xfrm>
            <a:off x="996457" y="2614670"/>
            <a:ext cx="4479783" cy="985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474">
            <a:extLst>
              <a:ext uri="{FF2B5EF4-FFF2-40B4-BE49-F238E27FC236}">
                <a16:creationId xmlns:a16="http://schemas.microsoft.com/office/drawing/2014/main" id="{1AA2ACCB-F0BD-CAFF-86AC-C2D756D3A89A}"/>
              </a:ext>
            </a:extLst>
          </p:cNvPr>
          <p:cNvSpPr/>
          <p:nvPr/>
        </p:nvSpPr>
        <p:spPr>
          <a:xfrm>
            <a:off x="996457" y="2625544"/>
            <a:ext cx="4479783" cy="116445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8A560127-4BC9-7481-BC6C-6E7CB8E21635}"/>
              </a:ext>
            </a:extLst>
          </p:cNvPr>
          <p:cNvSpPr/>
          <p:nvPr/>
        </p:nvSpPr>
        <p:spPr>
          <a:xfrm>
            <a:off x="1272381" y="2816837"/>
            <a:ext cx="3932910" cy="67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lnSpc>
                <a:spcPct val="130000"/>
              </a:lnSpc>
              <a:spcAft>
                <a:spcPts val="700"/>
              </a:spcAft>
              <a:tabLst>
                <a:tab pos="85725" algn="l"/>
              </a:tabLst>
            </a:pPr>
            <a:r>
              <a:rPr lang="ko-KR" altLang="en-US" sz="1200" b="1">
                <a:solidFill>
                  <a:srgbClr val="3378C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▪ </a:t>
            </a:r>
            <a:r>
              <a:rPr lang="ko-KR" altLang="en-US" sz="120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결과 </a:t>
            </a:r>
            <a:r>
              <a:rPr lang="en-US" altLang="ko-KR" sz="1200" b="1">
                <a:solidFill>
                  <a:srgbClr val="3F3F3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: </a:t>
            </a:r>
            <a:r>
              <a:rPr lang="ko-KR" altLang="en-US" sz="1200"/>
              <a:t>클러스터별 유의미한 인원 변화가 나타났지만</a:t>
            </a:r>
            <a:r>
              <a:rPr lang="en-US" altLang="ko-KR" sz="1200"/>
              <a:t>, </a:t>
            </a:r>
            <a:r>
              <a:rPr lang="ko-KR" altLang="en-US" sz="1200"/>
              <a:t>실제 방문객 수에 큰 영향을 미치는 주말</a:t>
            </a:r>
            <a:r>
              <a:rPr lang="en-US" altLang="ko-KR" sz="1200"/>
              <a:t>/</a:t>
            </a:r>
            <a:r>
              <a:rPr lang="ko-KR" altLang="en-US" sz="1200"/>
              <a:t>평일이 해당 변화를 대표하지 못함</a:t>
            </a: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endParaRPr lang="en-US" altLang="ko-KR" sz="1200">
              <a:solidFill>
                <a:srgbClr val="3F3F3F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Malgun Gothic"/>
            </a:endParaRPr>
          </a:p>
        </p:txBody>
      </p:sp>
      <p:sp>
        <p:nvSpPr>
          <p:cNvPr id="32" name="Rounded Rectangle 473">
            <a:extLst>
              <a:ext uri="{FF2B5EF4-FFF2-40B4-BE49-F238E27FC236}">
                <a16:creationId xmlns:a16="http://schemas.microsoft.com/office/drawing/2014/main" id="{AE9755F4-7E11-85C6-0F3E-367B73D641DF}"/>
              </a:ext>
            </a:extLst>
          </p:cNvPr>
          <p:cNvSpPr/>
          <p:nvPr/>
        </p:nvSpPr>
        <p:spPr>
          <a:xfrm>
            <a:off x="5905833" y="2614670"/>
            <a:ext cx="3675048" cy="985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474">
            <a:extLst>
              <a:ext uri="{FF2B5EF4-FFF2-40B4-BE49-F238E27FC236}">
                <a16:creationId xmlns:a16="http://schemas.microsoft.com/office/drawing/2014/main" id="{6E4E63B0-BA33-2319-1DAB-9F5919E6B9CD}"/>
              </a:ext>
            </a:extLst>
          </p:cNvPr>
          <p:cNvSpPr/>
          <p:nvPr/>
        </p:nvSpPr>
        <p:spPr>
          <a:xfrm>
            <a:off x="5905833" y="2625544"/>
            <a:ext cx="3675048" cy="116445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id="{1EDEB721-A5D5-335F-D489-34B846C426DC}"/>
              </a:ext>
            </a:extLst>
          </p:cNvPr>
          <p:cNvSpPr/>
          <p:nvPr/>
        </p:nvSpPr>
        <p:spPr>
          <a:xfrm>
            <a:off x="6117116" y="2848992"/>
            <a:ext cx="3412964" cy="67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/>
            <a:r>
              <a:rPr lang="ko-KR" altLang="en-US" sz="1200" b="1">
                <a:solidFill>
                  <a:srgbClr val="3378C8"/>
                </a:solidFill>
                <a:latin typeface="+mj-ea"/>
                <a:ea typeface="+mj-ea"/>
                <a:cs typeface="Malgun Gothic"/>
              </a:rPr>
              <a:t>▪ </a:t>
            </a:r>
            <a:r>
              <a:rPr lang="ko-KR" altLang="en-US" sz="1200" b="1">
                <a:solidFill>
                  <a:srgbClr val="3F3F3F"/>
                </a:solidFill>
                <a:latin typeface="+mj-ea"/>
                <a:ea typeface="+mj-ea"/>
                <a:cs typeface="Malgun Gothic"/>
              </a:rPr>
              <a:t>원인 </a:t>
            </a:r>
            <a:r>
              <a:rPr lang="en-US" altLang="ko-KR" sz="1200" b="1">
                <a:solidFill>
                  <a:srgbClr val="3F3F3F"/>
                </a:solidFill>
                <a:latin typeface="+mj-ea"/>
                <a:ea typeface="+mj-ea"/>
                <a:cs typeface="Malgun Gothic"/>
              </a:rPr>
              <a:t>: </a:t>
            </a:r>
            <a:r>
              <a:rPr lang="ko-KR" altLang="en-US" sz="1200">
                <a:latin typeface="+mj-ea"/>
                <a:ea typeface="+mj-ea"/>
              </a:rPr>
              <a:t>비지도 학습 특성상 요일 여부와 같은 이진 데이터보다 변화가 뚜렷한 수치형 데이터 기준으로 클러스터를 형성</a:t>
            </a:r>
            <a:endParaRPr lang="en-US" altLang="ko-KR" sz="1200">
              <a:latin typeface="+mj-ea"/>
              <a:ea typeface="+mj-ea"/>
            </a:endParaRPr>
          </a:p>
          <a:p>
            <a:pPr marL="85725" indent="-85725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tabLst>
                <a:tab pos="85725" algn="l"/>
              </a:tabLst>
            </a:pPr>
            <a:endParaRPr lang="en-US" altLang="ko-KR" sz="1200">
              <a:solidFill>
                <a:srgbClr val="3F3F3F"/>
              </a:solidFill>
              <a:latin typeface="+mj-ea"/>
              <a:ea typeface="+mj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0498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>
          <a:extLst>
            <a:ext uri="{FF2B5EF4-FFF2-40B4-BE49-F238E27FC236}">
              <a16:creationId xmlns:a16="http://schemas.microsoft.com/office/drawing/2014/main" id="{AEF4C467-627D-930D-6270-B0E1F07A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8">
            <a:extLst>
              <a:ext uri="{FF2B5EF4-FFF2-40B4-BE49-F238E27FC236}">
                <a16:creationId xmlns:a16="http://schemas.microsoft.com/office/drawing/2014/main" id="{9AA69635-8801-4D66-4AD5-2268FD5776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17" y="-1553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50;p4">
            <a:extLst>
              <a:ext uri="{FF2B5EF4-FFF2-40B4-BE49-F238E27FC236}">
                <a16:creationId xmlns:a16="http://schemas.microsoft.com/office/drawing/2014/main" id="{650317EA-684A-C806-251F-438E9C561306}"/>
              </a:ext>
            </a:extLst>
          </p:cNvPr>
          <p:cNvSpPr/>
          <p:nvPr/>
        </p:nvSpPr>
        <p:spPr>
          <a:xfrm flipV="1">
            <a:off x="5905832" y="1928126"/>
            <a:ext cx="4680000" cy="540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61;p4">
            <a:extLst>
              <a:ext uri="{FF2B5EF4-FFF2-40B4-BE49-F238E27FC236}">
                <a16:creationId xmlns:a16="http://schemas.microsoft.com/office/drawing/2014/main" id="{080CF501-9BF7-9EA1-74BE-D05A3682E3F2}"/>
              </a:ext>
            </a:extLst>
          </p:cNvPr>
          <p:cNvSpPr/>
          <p:nvPr/>
        </p:nvSpPr>
        <p:spPr>
          <a:xfrm flipV="1">
            <a:off x="874368" y="1947131"/>
            <a:ext cx="4680000" cy="540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8C8C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8">
            <a:extLst>
              <a:ext uri="{FF2B5EF4-FFF2-40B4-BE49-F238E27FC236}">
                <a16:creationId xmlns:a16="http://schemas.microsoft.com/office/drawing/2014/main" id="{F9ECAB3C-C88B-90B8-47F8-05B7DCB6B247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24" name="Google Shape;424;p28">
            <a:extLst>
              <a:ext uri="{FF2B5EF4-FFF2-40B4-BE49-F238E27FC236}">
                <a16:creationId xmlns:a16="http://schemas.microsoft.com/office/drawing/2014/main" id="{5E26476A-3A4E-3E84-2168-184B4483591E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25" name="Google Shape;425;p28">
              <a:extLst>
                <a:ext uri="{FF2B5EF4-FFF2-40B4-BE49-F238E27FC236}">
                  <a16:creationId xmlns:a16="http://schemas.microsoft.com/office/drawing/2014/main" id="{7A589C0A-1444-9E3B-5CD9-E6098E42A8E6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28">
              <a:extLst>
                <a:ext uri="{FF2B5EF4-FFF2-40B4-BE49-F238E27FC236}">
                  <a16:creationId xmlns:a16="http://schemas.microsoft.com/office/drawing/2014/main" id="{4BAFA3A5-859E-27BB-D95E-506FF4C88D93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8">
              <a:extLst>
                <a:ext uri="{FF2B5EF4-FFF2-40B4-BE49-F238E27FC236}">
                  <a16:creationId xmlns:a16="http://schemas.microsoft.com/office/drawing/2014/main" id="{54F1E156-568D-2232-D499-B8DAF5852D42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8">
            <a:extLst>
              <a:ext uri="{FF2B5EF4-FFF2-40B4-BE49-F238E27FC236}">
                <a16:creationId xmlns:a16="http://schemas.microsoft.com/office/drawing/2014/main" id="{3FDD809E-2220-AB72-4754-57170563F0EE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>
            <a:extLst>
              <a:ext uri="{FF2B5EF4-FFF2-40B4-BE49-F238E27FC236}">
                <a16:creationId xmlns:a16="http://schemas.microsoft.com/office/drawing/2014/main" id="{5F9BCF24-FA33-2EC6-C4CF-CBCDAED1E45A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8">
            <a:extLst>
              <a:ext uri="{FF2B5EF4-FFF2-40B4-BE49-F238E27FC236}">
                <a16:creationId xmlns:a16="http://schemas.microsoft.com/office/drawing/2014/main" id="{3BD46FD8-AC21-5765-9565-FE8E0132C4E0}"/>
              </a:ext>
            </a:extLst>
          </p:cNvPr>
          <p:cNvGrpSpPr/>
          <p:nvPr/>
        </p:nvGrpSpPr>
        <p:grpSpPr>
          <a:xfrm>
            <a:off x="541891" y="1430219"/>
            <a:ext cx="10526159" cy="646290"/>
            <a:chOff x="541891" y="1430219"/>
            <a:chExt cx="10526159" cy="646290"/>
          </a:xfrm>
        </p:grpSpPr>
        <p:sp>
          <p:nvSpPr>
            <p:cNvPr id="431" name="Google Shape;431;p28">
              <a:extLst>
                <a:ext uri="{FF2B5EF4-FFF2-40B4-BE49-F238E27FC236}">
                  <a16:creationId xmlns:a16="http://schemas.microsoft.com/office/drawing/2014/main" id="{E2CEE472-57C2-F7DA-9047-ABBD43418395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혼잡도 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예측 </a:t>
              </a:r>
              <a:r>
                <a:rPr lang="ko-KR" altLang="en-US" sz="1800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모델</a:t>
              </a:r>
              <a:r>
                <a:rPr lang="en-US" altLang="ko-KR" b="1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(Classification </a:t>
              </a:r>
              <a:r>
                <a:rPr lang="en-US" altLang="ko-KR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Model)</a:t>
              </a: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 선정 과정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432;p28">
              <a:extLst>
                <a:ext uri="{FF2B5EF4-FFF2-40B4-BE49-F238E27FC236}">
                  <a16:creationId xmlns:a16="http://schemas.microsoft.com/office/drawing/2014/main" id="{3570B8A8-2E92-FAAA-179E-D22EDD8EEB65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34" name="Google Shape;434;p28">
            <a:extLst>
              <a:ext uri="{FF2B5EF4-FFF2-40B4-BE49-F238E27FC236}">
                <a16:creationId xmlns:a16="http://schemas.microsoft.com/office/drawing/2014/main" id="{2664C5E7-2EE3-7F84-BC2D-D3E43FA2A63C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8">
            <a:extLst>
              <a:ext uri="{FF2B5EF4-FFF2-40B4-BE49-F238E27FC236}">
                <a16:creationId xmlns:a16="http://schemas.microsoft.com/office/drawing/2014/main" id="{0E4FAE92-8D4F-5AD3-2064-BB20E00E567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36" name="Google Shape;436;p28" descr="EMB0000378c3f3d">
              <a:extLst>
                <a:ext uri="{FF2B5EF4-FFF2-40B4-BE49-F238E27FC236}">
                  <a16:creationId xmlns:a16="http://schemas.microsoft.com/office/drawing/2014/main" id="{7827C6CD-FF43-3E59-D040-4ADC46FD9FF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28">
              <a:extLst>
                <a:ext uri="{FF2B5EF4-FFF2-40B4-BE49-F238E27FC236}">
                  <a16:creationId xmlns:a16="http://schemas.microsoft.com/office/drawing/2014/main" id="{CD6F9E7C-5486-C939-E362-D4464D92A9F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oogle Shape;305;p5">
            <a:extLst>
              <a:ext uri="{FF2B5EF4-FFF2-40B4-BE49-F238E27FC236}">
                <a16:creationId xmlns:a16="http://schemas.microsoft.com/office/drawing/2014/main" id="{CDD9DDEA-BE70-B6D3-A09C-FCB32DDF347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4974"/>
          <a:stretch/>
        </p:blipFill>
        <p:spPr>
          <a:xfrm rot="14660349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242;p4">
            <a:extLst>
              <a:ext uri="{FF2B5EF4-FFF2-40B4-BE49-F238E27FC236}">
                <a16:creationId xmlns:a16="http://schemas.microsoft.com/office/drawing/2014/main" id="{65EDE6C9-04B8-9E6B-E5D5-7EF87834E6E3}"/>
              </a:ext>
            </a:extLst>
          </p:cNvPr>
          <p:cNvGrpSpPr/>
          <p:nvPr/>
        </p:nvGrpSpPr>
        <p:grpSpPr>
          <a:xfrm>
            <a:off x="960721" y="2020934"/>
            <a:ext cx="408282" cy="388046"/>
            <a:chOff x="450324" y="2128945"/>
            <a:chExt cx="889526" cy="845440"/>
          </a:xfrm>
        </p:grpSpPr>
        <p:sp>
          <p:nvSpPr>
            <p:cNvPr id="6" name="Google Shape;243;p4">
              <a:extLst>
                <a:ext uri="{FF2B5EF4-FFF2-40B4-BE49-F238E27FC236}">
                  <a16:creationId xmlns:a16="http://schemas.microsoft.com/office/drawing/2014/main" id="{8CC5AF53-D067-CEEC-27BA-1ED8F18151B5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244;p4">
              <a:extLst>
                <a:ext uri="{FF2B5EF4-FFF2-40B4-BE49-F238E27FC236}">
                  <a16:creationId xmlns:a16="http://schemas.microsoft.com/office/drawing/2014/main" id="{D5108F38-71D5-D483-68C8-ECD978E00737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34CD4966-EF7A-AD5D-ECBF-09D6FB6CE921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252;p4">
            <a:extLst>
              <a:ext uri="{FF2B5EF4-FFF2-40B4-BE49-F238E27FC236}">
                <a16:creationId xmlns:a16="http://schemas.microsoft.com/office/drawing/2014/main" id="{B2171088-4DEF-773A-269C-3C6B12B49A0B}"/>
              </a:ext>
            </a:extLst>
          </p:cNvPr>
          <p:cNvGrpSpPr/>
          <p:nvPr/>
        </p:nvGrpSpPr>
        <p:grpSpPr>
          <a:xfrm>
            <a:off x="6025677" y="1979391"/>
            <a:ext cx="418718" cy="380422"/>
            <a:chOff x="427587" y="2066948"/>
            <a:chExt cx="912263" cy="828829"/>
          </a:xfrm>
        </p:grpSpPr>
        <p:sp>
          <p:nvSpPr>
            <p:cNvPr id="11" name="Google Shape;253;p4">
              <a:extLst>
                <a:ext uri="{FF2B5EF4-FFF2-40B4-BE49-F238E27FC236}">
                  <a16:creationId xmlns:a16="http://schemas.microsoft.com/office/drawing/2014/main" id="{DE973E28-4BA3-56A3-0CC8-97D2ABD9F23C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254;p4">
              <a:extLst>
                <a:ext uri="{FF2B5EF4-FFF2-40B4-BE49-F238E27FC236}">
                  <a16:creationId xmlns:a16="http://schemas.microsoft.com/office/drawing/2014/main" id="{A3EF6230-4718-7B28-5D5E-39EE37C31333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255;p4">
              <a:extLst>
                <a:ext uri="{FF2B5EF4-FFF2-40B4-BE49-F238E27FC236}">
                  <a16:creationId xmlns:a16="http://schemas.microsoft.com/office/drawing/2014/main" id="{5C271B39-A2FD-EC5E-571A-21D7FD9B75CA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279;p5">
            <a:extLst>
              <a:ext uri="{FF2B5EF4-FFF2-40B4-BE49-F238E27FC236}">
                <a16:creationId xmlns:a16="http://schemas.microsoft.com/office/drawing/2014/main" id="{220FB158-F173-9142-12C6-C354CEF90E7A}"/>
              </a:ext>
            </a:extLst>
          </p:cNvPr>
          <p:cNvSpPr txBox="1"/>
          <p:nvPr/>
        </p:nvSpPr>
        <p:spPr>
          <a:xfrm>
            <a:off x="1365032" y="2083163"/>
            <a:ext cx="3919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>
                <a:solidFill>
                  <a:srgbClr val="2B63A7"/>
                </a:solidFill>
                <a:latin typeface="Malgun Gothic"/>
                <a:ea typeface="Malgun Gothic"/>
                <a:sym typeface="Malgun Gothic"/>
              </a:rPr>
              <a:t>비지도 학습 </a:t>
            </a:r>
            <a:r>
              <a:rPr lang="en-US" altLang="ko-KR" sz="1600" b="1">
                <a:solidFill>
                  <a:srgbClr val="2B63A7"/>
                </a:solidFill>
                <a:latin typeface="Malgun Gothic"/>
                <a:ea typeface="Malgun Gothic"/>
                <a:sym typeface="Malgun Gothic"/>
              </a:rPr>
              <a:t>(K-means)</a:t>
            </a:r>
            <a:endParaRPr sz="1600">
              <a:solidFill>
                <a:srgbClr val="2B63A7"/>
              </a:solidFill>
            </a:endParaRPr>
          </a:p>
        </p:txBody>
      </p:sp>
      <p:sp>
        <p:nvSpPr>
          <p:cNvPr id="21" name="Google Shape;279;p5">
            <a:extLst>
              <a:ext uri="{FF2B5EF4-FFF2-40B4-BE49-F238E27FC236}">
                <a16:creationId xmlns:a16="http://schemas.microsoft.com/office/drawing/2014/main" id="{0256939F-C213-3A82-19D7-D5A7D2F1331B}"/>
              </a:ext>
            </a:extLst>
          </p:cNvPr>
          <p:cNvSpPr txBox="1"/>
          <p:nvPr/>
        </p:nvSpPr>
        <p:spPr>
          <a:xfrm>
            <a:off x="6368093" y="2050867"/>
            <a:ext cx="3919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지도 학습 </a:t>
            </a:r>
            <a:r>
              <a:rPr lang="en-US" altLang="ko-KR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(CatBoost</a:t>
            </a:r>
            <a:r>
              <a:rPr lang="ko-KR" altLang="en-US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en-US" altLang="ko-KR" sz="1600" b="1">
                <a:solidFill>
                  <a:srgbClr val="E1B075"/>
                </a:solidFill>
                <a:latin typeface="Malgun Gothic"/>
                <a:ea typeface="Malgun Gothic"/>
                <a:sym typeface="Malgun Gothic"/>
              </a:rPr>
              <a:t>Classification)</a:t>
            </a:r>
            <a:endParaRPr sz="1600">
              <a:solidFill>
                <a:srgbClr val="E1B075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444D41C-432E-B2E6-C0BA-A15EA784F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68" y="2705825"/>
            <a:ext cx="4319661" cy="36191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BB33161-E087-85FD-C1B2-88E64A9FC2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2109" y="4230147"/>
            <a:ext cx="2866430" cy="234666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9175311-5163-4728-D5FC-0CD44E452C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3437" y="4807208"/>
            <a:ext cx="2741602" cy="150587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6602F58-FA18-63BF-2A5E-E06C8AEF96AC}"/>
              </a:ext>
            </a:extLst>
          </p:cNvPr>
          <p:cNvSpPr/>
          <p:nvPr/>
        </p:nvSpPr>
        <p:spPr>
          <a:xfrm>
            <a:off x="5413024" y="2667693"/>
            <a:ext cx="2751193" cy="1821818"/>
          </a:xfrm>
          <a:prstGeom prst="roundRect">
            <a:avLst/>
          </a:prstGeom>
          <a:solidFill>
            <a:srgbClr val="F9F9F9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398A6-2136-6758-4366-19AB767FFE47}"/>
              </a:ext>
            </a:extLst>
          </p:cNvPr>
          <p:cNvSpPr txBox="1"/>
          <p:nvPr/>
        </p:nvSpPr>
        <p:spPr>
          <a:xfrm>
            <a:off x="5530204" y="3252640"/>
            <a:ext cx="24950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f1-score : 0.78</a:t>
            </a:r>
          </a:p>
          <a:p>
            <a:pPr algn="ctr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혼동행렬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(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하단 그래프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algn="ctr"/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ctr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모델이 안정적인 분류하는 것을 확인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Google Shape;256;p4">
            <a:extLst>
              <a:ext uri="{FF2B5EF4-FFF2-40B4-BE49-F238E27FC236}">
                <a16:creationId xmlns:a16="http://schemas.microsoft.com/office/drawing/2014/main" id="{5936EFCD-6311-3E99-56B0-8E2B72F225D0}"/>
              </a:ext>
            </a:extLst>
          </p:cNvPr>
          <p:cNvSpPr txBox="1"/>
          <p:nvPr/>
        </p:nvSpPr>
        <p:spPr>
          <a:xfrm>
            <a:off x="5453891" y="2783936"/>
            <a:ext cx="2669458" cy="36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altLang="ko-KR" sz="1600" b="1" dirty="0">
                <a:solidFill>
                  <a:srgbClr val="FFC000"/>
                </a:solidFill>
              </a:rPr>
              <a:t>f-1 </a:t>
            </a:r>
            <a:r>
              <a:rPr lang="ko-KR" altLang="en-US" sz="1600" b="1" dirty="0">
                <a:solidFill>
                  <a:srgbClr val="FFC000"/>
                </a:solidFill>
              </a:rPr>
              <a:t>스코어</a:t>
            </a:r>
            <a:r>
              <a:rPr lang="en-US" altLang="ko-KR" sz="1600" b="1" dirty="0">
                <a:solidFill>
                  <a:srgbClr val="FFC000"/>
                </a:solidFill>
              </a:rPr>
              <a:t>&amp;</a:t>
            </a:r>
            <a:r>
              <a:rPr lang="ko-KR" altLang="en-US" sz="1600" b="1" dirty="0">
                <a:solidFill>
                  <a:srgbClr val="FFC000"/>
                </a:solidFill>
              </a:rPr>
              <a:t>혼동행렬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58;p4">
            <a:extLst>
              <a:ext uri="{FF2B5EF4-FFF2-40B4-BE49-F238E27FC236}">
                <a16:creationId xmlns:a16="http://schemas.microsoft.com/office/drawing/2014/main" id="{8AAD311C-9BDF-D1A1-DDB9-7F7651B24408}"/>
              </a:ext>
            </a:extLst>
          </p:cNvPr>
          <p:cNvCxnSpPr>
            <a:cxnSpLocks/>
          </p:cNvCxnSpPr>
          <p:nvPr/>
        </p:nvCxnSpPr>
        <p:spPr>
          <a:xfrm>
            <a:off x="5683490" y="3164454"/>
            <a:ext cx="2188464" cy="0"/>
          </a:xfrm>
          <a:prstGeom prst="straightConnector1">
            <a:avLst/>
          </a:prstGeom>
          <a:noFill/>
          <a:ln w="19050" cap="flat" cmpd="sng">
            <a:solidFill>
              <a:srgbClr val="FFD85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311FCC0-62A4-4B8B-DF39-2601FEF5ED05}"/>
              </a:ext>
            </a:extLst>
          </p:cNvPr>
          <p:cNvSpPr/>
          <p:nvPr/>
        </p:nvSpPr>
        <p:spPr>
          <a:xfrm>
            <a:off x="8440795" y="2681853"/>
            <a:ext cx="2751193" cy="1498873"/>
          </a:xfrm>
          <a:prstGeom prst="roundRect">
            <a:avLst/>
          </a:prstGeom>
          <a:solidFill>
            <a:srgbClr val="F9F9F9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Google Shape;256;p4">
            <a:extLst>
              <a:ext uri="{FF2B5EF4-FFF2-40B4-BE49-F238E27FC236}">
                <a16:creationId xmlns:a16="http://schemas.microsoft.com/office/drawing/2014/main" id="{917D0C66-786F-BE3F-0529-EED1AF865344}"/>
              </a:ext>
            </a:extLst>
          </p:cNvPr>
          <p:cNvSpPr txBox="1"/>
          <p:nvPr/>
        </p:nvSpPr>
        <p:spPr>
          <a:xfrm>
            <a:off x="8430963" y="2782287"/>
            <a:ext cx="2838130" cy="36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altLang="ko-KR" sz="1600" b="1" i="0" u="none" strike="noStrike" cap="none" dirty="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Regressor</a:t>
            </a:r>
            <a:r>
              <a:rPr lang="ko-KR" altLang="en-US" sz="1600" b="1" i="0" u="none" strike="noStrike" cap="none" dirty="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와 구분 이유</a:t>
            </a:r>
            <a:endParaRPr sz="1600" b="1" i="0" u="none" strike="noStrike" cap="none" dirty="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69;p4">
            <a:extLst>
              <a:ext uri="{FF2B5EF4-FFF2-40B4-BE49-F238E27FC236}">
                <a16:creationId xmlns:a16="http://schemas.microsoft.com/office/drawing/2014/main" id="{FE25681A-17DC-2D92-0A02-D07298A07288}"/>
              </a:ext>
            </a:extLst>
          </p:cNvPr>
          <p:cNvCxnSpPr>
            <a:cxnSpLocks/>
          </p:cNvCxnSpPr>
          <p:nvPr/>
        </p:nvCxnSpPr>
        <p:spPr>
          <a:xfrm>
            <a:off x="8691197" y="3164454"/>
            <a:ext cx="2188464" cy="0"/>
          </a:xfrm>
          <a:prstGeom prst="straightConnector1">
            <a:avLst/>
          </a:prstGeom>
          <a:noFill/>
          <a:ln w="19050" cap="flat" cmpd="sng">
            <a:solidFill>
              <a:srgbClr val="3378C8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8F6CEF-8E53-4427-C032-E39B02EA55D3}"/>
              </a:ext>
            </a:extLst>
          </p:cNvPr>
          <p:cNvSpPr txBox="1"/>
          <p:nvPr/>
        </p:nvSpPr>
        <p:spPr>
          <a:xfrm>
            <a:off x="8602881" y="3318453"/>
            <a:ext cx="2495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이용자 수와 혼잡도 도출 각각의 성능을 최대화하기 위하여</a:t>
            </a: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32333EDC-B6FA-3B7E-A408-182E9054B6E2}"/>
              </a:ext>
            </a:extLst>
          </p:cNvPr>
          <p:cNvSpPr/>
          <p:nvPr/>
        </p:nvSpPr>
        <p:spPr>
          <a:xfrm>
            <a:off x="6677695" y="3765896"/>
            <a:ext cx="159463" cy="143041"/>
          </a:xfrm>
          <a:prstGeom prst="down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90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C74A723C-AC0A-8EA1-33B2-C618FBE6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30">
            <a:extLst>
              <a:ext uri="{FF2B5EF4-FFF2-40B4-BE49-F238E27FC236}">
                <a16:creationId xmlns:a16="http://schemas.microsoft.com/office/drawing/2014/main" id="{8A52B23B-789F-B37C-3B82-BF631A797D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3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0">
            <a:extLst>
              <a:ext uri="{FF2B5EF4-FFF2-40B4-BE49-F238E27FC236}">
                <a16:creationId xmlns:a16="http://schemas.microsoft.com/office/drawing/2014/main" id="{AC7D20ED-78C7-6857-1918-7D1B281FAE0E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8" name="Google Shape;558;p30">
            <a:extLst>
              <a:ext uri="{FF2B5EF4-FFF2-40B4-BE49-F238E27FC236}">
                <a16:creationId xmlns:a16="http://schemas.microsoft.com/office/drawing/2014/main" id="{FE1AE83D-7753-000B-7166-8B948D490C8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9" name="Google Shape;559;p30">
              <a:extLst>
                <a:ext uri="{FF2B5EF4-FFF2-40B4-BE49-F238E27FC236}">
                  <a16:creationId xmlns:a16="http://schemas.microsoft.com/office/drawing/2014/main" id="{D935C26D-92C6-AF17-7654-418142CC82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30">
              <a:extLst>
                <a:ext uri="{FF2B5EF4-FFF2-40B4-BE49-F238E27FC236}">
                  <a16:creationId xmlns:a16="http://schemas.microsoft.com/office/drawing/2014/main" id="{6FDC14A4-3844-7B81-4740-9FE25AF4038F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0">
              <a:extLst>
                <a:ext uri="{FF2B5EF4-FFF2-40B4-BE49-F238E27FC236}">
                  <a16:creationId xmlns:a16="http://schemas.microsoft.com/office/drawing/2014/main" id="{BA5D9961-AF8C-B509-1DA5-4C832E39EFE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 dirty="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30">
            <a:extLst>
              <a:ext uri="{FF2B5EF4-FFF2-40B4-BE49-F238E27FC236}">
                <a16:creationId xmlns:a16="http://schemas.microsoft.com/office/drawing/2014/main" id="{131178C1-797A-1634-8BD4-9B379D662852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0">
            <a:extLst>
              <a:ext uri="{FF2B5EF4-FFF2-40B4-BE49-F238E27FC236}">
                <a16:creationId xmlns:a16="http://schemas.microsoft.com/office/drawing/2014/main" id="{97445A1A-8C03-10A7-9391-3AB38E6D353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4" name="Google Shape;564;p30">
            <a:extLst>
              <a:ext uri="{FF2B5EF4-FFF2-40B4-BE49-F238E27FC236}">
                <a16:creationId xmlns:a16="http://schemas.microsoft.com/office/drawing/2014/main" id="{088DE5BA-BF78-C3B2-AB0D-D095348308FD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565" name="Google Shape;565;p30">
              <a:extLst>
                <a:ext uri="{FF2B5EF4-FFF2-40B4-BE49-F238E27FC236}">
                  <a16:creationId xmlns:a16="http://schemas.microsoft.com/office/drawing/2014/main" id="{D53C622F-F816-211E-B8B6-EE807D4B080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SzPts val="1800"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위치 기반 기상 예보 데이터 수집 파이프라인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6" name="Google Shape;566;p30">
              <a:extLst>
                <a:ext uri="{FF2B5EF4-FFF2-40B4-BE49-F238E27FC236}">
                  <a16:creationId xmlns:a16="http://schemas.microsoft.com/office/drawing/2014/main" id="{40C83AB1-697B-C4A4-6D49-985E89DD1E2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68" name="Google Shape;568;p30">
            <a:extLst>
              <a:ext uri="{FF2B5EF4-FFF2-40B4-BE49-F238E27FC236}">
                <a16:creationId xmlns:a16="http://schemas.microsoft.com/office/drawing/2014/main" id="{3D6FAE9B-EF00-8BC1-ADB6-A172AEB6A953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30">
            <a:extLst>
              <a:ext uri="{FF2B5EF4-FFF2-40B4-BE49-F238E27FC236}">
                <a16:creationId xmlns:a16="http://schemas.microsoft.com/office/drawing/2014/main" id="{1DDA91E5-560A-3769-7BBE-62517F50F2EA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0" name="Google Shape;570;p30" descr="EMB0000378c3f3d">
              <a:extLst>
                <a:ext uri="{FF2B5EF4-FFF2-40B4-BE49-F238E27FC236}">
                  <a16:creationId xmlns:a16="http://schemas.microsoft.com/office/drawing/2014/main" id="{11375580-C538-738B-9069-FB6A65D93D0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30">
              <a:extLst>
                <a:ext uri="{FF2B5EF4-FFF2-40B4-BE49-F238E27FC236}">
                  <a16:creationId xmlns:a16="http://schemas.microsoft.com/office/drawing/2014/main" id="{61DA3EF7-1F32-15E5-94F2-5DBCF16F212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Text 28">
            <a:extLst>
              <a:ext uri="{FF2B5EF4-FFF2-40B4-BE49-F238E27FC236}">
                <a16:creationId xmlns:a16="http://schemas.microsoft.com/office/drawing/2014/main" id="{C3DCA089-8234-54E1-36D4-6974C42F546F}"/>
              </a:ext>
            </a:extLst>
          </p:cNvPr>
          <p:cNvSpPr/>
          <p:nvPr/>
        </p:nvSpPr>
        <p:spPr>
          <a:xfrm>
            <a:off x="4102446" y="2340715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팀</a:t>
            </a:r>
            <a:endParaRPr lang="en-US" sz="1000" dirty="0"/>
          </a:p>
        </p:txBody>
      </p:sp>
      <p:sp>
        <p:nvSpPr>
          <p:cNvPr id="26" name="Text 76">
            <a:extLst>
              <a:ext uri="{FF2B5EF4-FFF2-40B4-BE49-F238E27FC236}">
                <a16:creationId xmlns:a16="http://schemas.microsoft.com/office/drawing/2014/main" id="{7C7D4110-DAAA-5589-F31C-090EDE85542B}"/>
              </a:ext>
            </a:extLst>
          </p:cNvPr>
          <p:cNvSpPr/>
          <p:nvPr/>
        </p:nvSpPr>
        <p:spPr>
          <a:xfrm>
            <a:off x="9841339" y="4735411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팀</a:t>
            </a:r>
            <a:endParaRPr lang="en-US" sz="1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7569ADB-E063-EC17-72B1-0B3F15A3B8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02" y="2124122"/>
            <a:ext cx="6109289" cy="1795588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635926F-F05D-C93F-4732-F16E56672FD3}"/>
              </a:ext>
            </a:extLst>
          </p:cNvPr>
          <p:cNvSpPr/>
          <p:nvPr/>
        </p:nvSpPr>
        <p:spPr>
          <a:xfrm>
            <a:off x="6545551" y="3101925"/>
            <a:ext cx="5510131" cy="824977"/>
          </a:xfrm>
          <a:prstGeom prst="roundRect">
            <a:avLst>
              <a:gd name="adj" fmla="val 8811"/>
            </a:avLst>
          </a:prstGeom>
          <a:solidFill>
            <a:srgbClr val="1E1E1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>
                <a:latin typeface="Consolas" panose="020B0609020204030204" pitchFamily="49" charset="0"/>
              </a:rPr>
              <a:t>['2026-08-25'</a:t>
            </a:r>
            <a:r>
              <a:rPr lang="ko-KR" altLang="en-US" sz="1050" dirty="0">
                <a:latin typeface="Consolas" panose="020B0609020204030204" pitchFamily="49" charset="0"/>
              </a:rPr>
              <a:t>의 날씨</a:t>
            </a:r>
            <a:r>
              <a:rPr lang="en-US" altLang="ko-KR" sz="1050" dirty="0"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050" dirty="0">
                <a:latin typeface="Consolas" panose="020B0609020204030204" pitchFamily="49" charset="0"/>
              </a:rPr>
              <a:t>{'weather': '</a:t>
            </a:r>
            <a:r>
              <a:rPr lang="ko-KR" altLang="en-US" sz="1050" dirty="0">
                <a:latin typeface="Consolas" panose="020B0609020204030204" pitchFamily="49" charset="0"/>
              </a:rPr>
              <a:t>비</a:t>
            </a:r>
            <a:r>
              <a:rPr lang="en-US" altLang="ko-KR" sz="1050" dirty="0">
                <a:latin typeface="Consolas" panose="020B0609020204030204" pitchFamily="49" charset="0"/>
              </a:rPr>
              <a:t>', 'icon': '</a:t>
            </a:r>
            <a:r>
              <a:rPr lang="ko-KR" altLang="en-US" sz="1050" dirty="0">
                <a:latin typeface="Consolas" panose="020B0609020204030204" pitchFamily="49" charset="0"/>
              </a:rPr>
              <a:t>🌧️</a:t>
            </a:r>
            <a:r>
              <a:rPr lang="en-US" altLang="ko-KR" sz="1050" dirty="0">
                <a:latin typeface="Consolas" panose="020B0609020204030204" pitchFamily="49" charset="0"/>
              </a:rPr>
              <a:t>', 'temp': 28.4, 'humidity': 75, 'pop': 32}</a:t>
            </a:r>
            <a:endParaRPr lang="ko-KR" altLang="en-US" sz="105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4EFB32-1B57-61FC-EF69-ECD8CE3E8FA9}"/>
              </a:ext>
            </a:extLst>
          </p:cNvPr>
          <p:cNvSpPr txBox="1"/>
          <p:nvPr/>
        </p:nvSpPr>
        <p:spPr>
          <a:xfrm>
            <a:off x="252473" y="4061742"/>
            <a:ext cx="3539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400" b="1" i="0" u="none" strike="noStrike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트러블 슈팅</a:t>
            </a:r>
            <a:endParaRPr lang="ko-KR" altLang="en-US" dirty="0"/>
          </a:p>
        </p:txBody>
      </p:sp>
      <p:sp>
        <p:nvSpPr>
          <p:cNvPr id="22" name="Google Shape;572;p30">
            <a:extLst>
              <a:ext uri="{FF2B5EF4-FFF2-40B4-BE49-F238E27FC236}">
                <a16:creationId xmlns:a16="http://schemas.microsoft.com/office/drawing/2014/main" id="{6DF1D5F8-4AA2-C6C7-D5C7-7A4A6421AAED}"/>
              </a:ext>
            </a:extLst>
          </p:cNvPr>
          <p:cNvSpPr txBox="1"/>
          <p:nvPr/>
        </p:nvSpPr>
        <p:spPr>
          <a:xfrm>
            <a:off x="245834" y="4401059"/>
            <a:ext cx="11874500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 sz="1300" b="1" dirty="0">
                <a:solidFill>
                  <a:srgbClr val="8DA9DB"/>
                </a:solidFill>
              </a:rPr>
              <a:t>Issus 1. </a:t>
            </a:r>
            <a:r>
              <a:rPr lang="ko-KR" altLang="en-US" sz="1300" b="1" dirty="0">
                <a:solidFill>
                  <a:srgbClr val="8DA9DB"/>
                </a:solidFill>
              </a:rPr>
              <a:t>기상청 및 해외 날씨 </a:t>
            </a:r>
            <a:r>
              <a:rPr lang="en-US" altLang="ko-KR" sz="1300" b="1" dirty="0">
                <a:solidFill>
                  <a:srgbClr val="8DA9DB"/>
                </a:solidFill>
              </a:rPr>
              <a:t>API</a:t>
            </a:r>
            <a:r>
              <a:rPr lang="ko-KR" altLang="en-US" sz="1300" b="1" dirty="0">
                <a:solidFill>
                  <a:srgbClr val="8DA9DB"/>
                </a:solidFill>
              </a:rPr>
              <a:t>의 제약사항 발생</a:t>
            </a:r>
            <a:endParaRPr lang="en-US" altLang="ko-KR" sz="1300" b="1" i="0" u="none" strike="noStrike" cap="none" dirty="0">
              <a:solidFill>
                <a:srgbClr val="8DA9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ko-KR" altLang="en-US" sz="1300" b="1" dirty="0">
                <a:solidFill>
                  <a:srgbClr val="595959"/>
                </a:solidFill>
              </a:rPr>
              <a:t>문제 및 한계</a:t>
            </a:r>
            <a:endParaRPr lang="en-US" altLang="ko-KR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기상청 </a:t>
            </a:r>
            <a:r>
              <a:rPr lang="en-US" altLang="ko-KR" sz="1300" dirty="0">
                <a:solidFill>
                  <a:srgbClr val="595959"/>
                </a:solidFill>
              </a:rPr>
              <a:t>API: </a:t>
            </a:r>
            <a:r>
              <a:rPr lang="ko-KR" altLang="en-US" sz="1300" dirty="0">
                <a:solidFill>
                  <a:srgbClr val="595959"/>
                </a:solidFill>
              </a:rPr>
              <a:t>예측에 필요한 세부 파라미터</a:t>
            </a:r>
            <a:r>
              <a:rPr lang="en-US" altLang="ko-KR" sz="1300" dirty="0">
                <a:solidFill>
                  <a:srgbClr val="595959"/>
                </a:solidFill>
              </a:rPr>
              <a:t>(</a:t>
            </a:r>
            <a:r>
              <a:rPr lang="ko-KR" altLang="en-US" sz="1300" dirty="0">
                <a:solidFill>
                  <a:srgbClr val="595959"/>
                </a:solidFill>
              </a:rPr>
              <a:t>시간별 강수확률</a:t>
            </a:r>
            <a:r>
              <a:rPr lang="en-US" altLang="ko-KR" sz="1300" dirty="0">
                <a:solidFill>
                  <a:srgbClr val="595959"/>
                </a:solidFill>
              </a:rPr>
              <a:t>, </a:t>
            </a:r>
            <a:r>
              <a:rPr lang="ko-KR" altLang="en-US" sz="1300" dirty="0">
                <a:solidFill>
                  <a:srgbClr val="595959"/>
                </a:solidFill>
              </a:rPr>
              <a:t>습도 동</a:t>
            </a:r>
            <a:r>
              <a:rPr lang="en-US" altLang="ko-KR" sz="1300" dirty="0">
                <a:solidFill>
                  <a:srgbClr val="595959"/>
                </a:solidFill>
              </a:rPr>
              <a:t>) </a:t>
            </a:r>
            <a:r>
              <a:rPr lang="ko-KR" altLang="en-US" sz="1300" dirty="0">
                <a:solidFill>
                  <a:srgbClr val="595959"/>
                </a:solidFill>
              </a:rPr>
              <a:t>조합의 한계</a:t>
            </a:r>
            <a:endParaRPr lang="en-US" altLang="ko-KR" sz="1300" dirty="0">
              <a:solidFill>
                <a:srgbClr val="595959"/>
              </a:solidFill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해외 날씨 </a:t>
            </a:r>
            <a:r>
              <a:rPr lang="en-US" altLang="ko-KR" sz="1300" dirty="0">
                <a:solidFill>
                  <a:srgbClr val="595959"/>
                </a:solidFill>
              </a:rPr>
              <a:t>API: API KEY</a:t>
            </a:r>
            <a:r>
              <a:rPr lang="ko-KR" altLang="en-US" sz="1300" dirty="0">
                <a:solidFill>
                  <a:srgbClr val="595959"/>
                </a:solidFill>
              </a:rPr>
              <a:t> 승인 대기 지연 및 중장기 예보 조회 시 유료 과금 발생</a:t>
            </a:r>
            <a:endParaRPr lang="ko-KR" altLang="en-US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ko-KR" altLang="en-US" sz="1300" b="1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Open-</a:t>
            </a:r>
            <a:r>
              <a:rPr lang="en-US" altLang="ko-KR" sz="13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Meteo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도입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API KEY 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인증 없이 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일간 시간별 기상 데이터를 수집</a:t>
            </a:r>
            <a:endParaRPr lang="en-US" altLang="ko-KR" sz="1300" dirty="0">
              <a:solidFill>
                <a:srgbClr val="595959"/>
              </a:solidFill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타켓팅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인덱싱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전체 시계열 중 방문 집중 시간대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낮</a:t>
            </a:r>
            <a:r>
              <a:rPr lang="en-US" altLang="ko-KR" sz="1300" dirty="0">
                <a:solidFill>
                  <a:srgbClr val="595959"/>
                </a:solidFill>
              </a:rPr>
              <a:t> 12</a:t>
            </a:r>
            <a:r>
              <a:rPr lang="ko-KR" altLang="en-US" sz="1300" dirty="0">
                <a:solidFill>
                  <a:srgbClr val="595959"/>
                </a:solidFill>
              </a:rPr>
              <a:t>시</a:t>
            </a:r>
            <a:r>
              <a:rPr lang="en-US" altLang="ko-KR" sz="1300" dirty="0">
                <a:solidFill>
                  <a:srgbClr val="595959"/>
                </a:solidFill>
              </a:rPr>
              <a:t>)</a:t>
            </a:r>
            <a:r>
              <a:rPr lang="ko-KR" altLang="en-US" sz="1300" dirty="0">
                <a:solidFill>
                  <a:srgbClr val="595959"/>
                </a:solidFill>
              </a:rPr>
              <a:t>만 추출하여 파이프라인 경량화</a:t>
            </a:r>
            <a:endParaRPr lang="en-US" altLang="ko-KR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66;p30">
            <a:extLst>
              <a:ext uri="{FF2B5EF4-FFF2-40B4-BE49-F238E27FC236}">
                <a16:creationId xmlns:a16="http://schemas.microsoft.com/office/drawing/2014/main" id="{F19F05CB-885B-C7BC-CE89-88D6A7D185A3}"/>
              </a:ext>
            </a:extLst>
          </p:cNvPr>
          <p:cNvSpPr/>
          <p:nvPr/>
        </p:nvSpPr>
        <p:spPr>
          <a:xfrm>
            <a:off x="151326" y="4539749"/>
            <a:ext cx="101147" cy="113869"/>
          </a:xfrm>
          <a:custGeom>
            <a:avLst/>
            <a:gdLst/>
            <a:ahLst/>
            <a:cxnLst/>
            <a:rect l="l" t="t" r="r" b="b"/>
            <a:pathLst>
              <a:path w="450214" h="506845" extrusionOk="0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>
            <a:noFill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" name="Google Shape;220;p4">
            <a:extLst>
              <a:ext uri="{FF2B5EF4-FFF2-40B4-BE49-F238E27FC236}">
                <a16:creationId xmlns:a16="http://schemas.microsoft.com/office/drawing/2014/main" id="{D82B1C05-ECA6-719E-1C1C-1A86188087B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3;p4">
            <a:extLst>
              <a:ext uri="{FF2B5EF4-FFF2-40B4-BE49-F238E27FC236}">
                <a16:creationId xmlns:a16="http://schemas.microsoft.com/office/drawing/2014/main" id="{3BA8F33C-5C2D-6AF7-04A1-7D84393218F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20272352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5;p4">
            <a:extLst>
              <a:ext uri="{FF2B5EF4-FFF2-40B4-BE49-F238E27FC236}">
                <a16:creationId xmlns:a16="http://schemas.microsoft.com/office/drawing/2014/main" id="{ED445CAA-E1D4-C5BE-D371-37114978E4D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530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606136CF-6348-6891-498E-0417AC04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">
            <a:extLst>
              <a:ext uri="{FF2B5EF4-FFF2-40B4-BE49-F238E27FC236}">
                <a16:creationId xmlns:a16="http://schemas.microsoft.com/office/drawing/2014/main" id="{BE52BBA1-BF86-BF5B-CB68-5BDF7EA34E2E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8" name="Google Shape;558;p30">
            <a:extLst>
              <a:ext uri="{FF2B5EF4-FFF2-40B4-BE49-F238E27FC236}">
                <a16:creationId xmlns:a16="http://schemas.microsoft.com/office/drawing/2014/main" id="{C39A818F-3599-90E3-68E9-70BBDEDD5DDE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9" name="Google Shape;559;p30">
              <a:extLst>
                <a:ext uri="{FF2B5EF4-FFF2-40B4-BE49-F238E27FC236}">
                  <a16:creationId xmlns:a16="http://schemas.microsoft.com/office/drawing/2014/main" id="{3AA81B5E-24AF-0FA1-471B-506106B7EB10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30">
              <a:extLst>
                <a:ext uri="{FF2B5EF4-FFF2-40B4-BE49-F238E27FC236}">
                  <a16:creationId xmlns:a16="http://schemas.microsoft.com/office/drawing/2014/main" id="{E9298180-298F-EA89-0814-F634A9BD6A3D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0">
              <a:extLst>
                <a:ext uri="{FF2B5EF4-FFF2-40B4-BE49-F238E27FC236}">
                  <a16:creationId xmlns:a16="http://schemas.microsoft.com/office/drawing/2014/main" id="{731EE432-FB46-178E-47E1-5C7A6A2D9B1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4400" b="1" i="0" u="none" strike="noStrike" cap="none" dirty="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30">
            <a:extLst>
              <a:ext uri="{FF2B5EF4-FFF2-40B4-BE49-F238E27FC236}">
                <a16:creationId xmlns:a16="http://schemas.microsoft.com/office/drawing/2014/main" id="{4F440CDB-2C0D-8810-E010-CCFCF9897DD3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0">
            <a:extLst>
              <a:ext uri="{FF2B5EF4-FFF2-40B4-BE49-F238E27FC236}">
                <a16:creationId xmlns:a16="http://schemas.microsoft.com/office/drawing/2014/main" id="{7C98FF13-97E8-8061-F19B-6A6934E81A92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4" name="Google Shape;564;p30">
            <a:extLst>
              <a:ext uri="{FF2B5EF4-FFF2-40B4-BE49-F238E27FC236}">
                <a16:creationId xmlns:a16="http://schemas.microsoft.com/office/drawing/2014/main" id="{FC2B0CF1-B2DC-EF37-9599-7DFB6B6570EA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565" name="Google Shape;565;p30">
              <a:extLst>
                <a:ext uri="{FF2B5EF4-FFF2-40B4-BE49-F238E27FC236}">
                  <a16:creationId xmlns:a16="http://schemas.microsoft.com/office/drawing/2014/main" id="{B4261B16-BC60-DD1A-60B6-D24D6337DEFE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>
                <a:buSzPts val="1800"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위치 기반 기상 예보 데이터 수집 파이프라인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6" name="Google Shape;566;p30">
              <a:extLst>
                <a:ext uri="{FF2B5EF4-FFF2-40B4-BE49-F238E27FC236}">
                  <a16:creationId xmlns:a16="http://schemas.microsoft.com/office/drawing/2014/main" id="{261AFE94-7285-0760-62A6-A5F61345F88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68" name="Google Shape;568;p30">
            <a:extLst>
              <a:ext uri="{FF2B5EF4-FFF2-40B4-BE49-F238E27FC236}">
                <a16:creationId xmlns:a16="http://schemas.microsoft.com/office/drawing/2014/main" id="{38FC8FE0-1CD1-DE7D-28AD-153BFDB2FEC9}"/>
              </a:ext>
            </a:extLst>
          </p:cNvPr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30">
            <a:extLst>
              <a:ext uri="{FF2B5EF4-FFF2-40B4-BE49-F238E27FC236}">
                <a16:creationId xmlns:a16="http://schemas.microsoft.com/office/drawing/2014/main" id="{08F83C95-9D17-E236-D03D-07C6A69A495E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0" name="Google Shape;570;p30" descr="EMB0000378c3f3d">
              <a:extLst>
                <a:ext uri="{FF2B5EF4-FFF2-40B4-BE49-F238E27FC236}">
                  <a16:creationId xmlns:a16="http://schemas.microsoft.com/office/drawing/2014/main" id="{9CB1321E-8AB1-19DE-21C8-71CF1DAB0EE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30">
              <a:extLst>
                <a:ext uri="{FF2B5EF4-FFF2-40B4-BE49-F238E27FC236}">
                  <a16:creationId xmlns:a16="http://schemas.microsoft.com/office/drawing/2014/main" id="{D8DF6561-D8FD-7B0A-0E2C-77CC23DD343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Text 28">
            <a:extLst>
              <a:ext uri="{FF2B5EF4-FFF2-40B4-BE49-F238E27FC236}">
                <a16:creationId xmlns:a16="http://schemas.microsoft.com/office/drawing/2014/main" id="{26B2BA9C-A84C-C9BD-3518-B91FC6B4302E}"/>
              </a:ext>
            </a:extLst>
          </p:cNvPr>
          <p:cNvSpPr/>
          <p:nvPr/>
        </p:nvSpPr>
        <p:spPr>
          <a:xfrm>
            <a:off x="4102446" y="2340715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팀</a:t>
            </a:r>
            <a:endParaRPr lang="en-US" sz="1000" dirty="0"/>
          </a:p>
        </p:txBody>
      </p:sp>
      <p:sp>
        <p:nvSpPr>
          <p:cNvPr id="26" name="Text 76">
            <a:extLst>
              <a:ext uri="{FF2B5EF4-FFF2-40B4-BE49-F238E27FC236}">
                <a16:creationId xmlns:a16="http://schemas.microsoft.com/office/drawing/2014/main" id="{488E616A-BF85-FC03-B5AF-E2C216359569}"/>
              </a:ext>
            </a:extLst>
          </p:cNvPr>
          <p:cNvSpPr/>
          <p:nvPr/>
        </p:nvSpPr>
        <p:spPr>
          <a:xfrm>
            <a:off x="9841339" y="4735411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팀</a:t>
            </a:r>
            <a:endParaRPr lang="en-US" sz="10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8FE381A-3CE8-51D7-37FF-6ABC8B7285D8}"/>
              </a:ext>
            </a:extLst>
          </p:cNvPr>
          <p:cNvSpPr/>
          <p:nvPr/>
        </p:nvSpPr>
        <p:spPr>
          <a:xfrm>
            <a:off x="7085277" y="2116398"/>
            <a:ext cx="4520854" cy="2848905"/>
          </a:xfrm>
          <a:prstGeom prst="roundRect">
            <a:avLst>
              <a:gd name="adj" fmla="val 2682"/>
            </a:avLst>
          </a:prstGeom>
          <a:solidFill>
            <a:srgbClr val="1E1E1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Consolas" panose="020B0609020204030204" pitchFamily="49" charset="0"/>
              </a:rPr>
              <a:t>[</a:t>
            </a:r>
            <a:r>
              <a:rPr lang="ko-KR" altLang="en-US" sz="800" dirty="0">
                <a:latin typeface="Consolas" panose="020B0609020204030204" pitchFamily="49" charset="0"/>
              </a:rPr>
              <a:t>토큰 사용량</a:t>
            </a:r>
            <a:r>
              <a:rPr lang="en-US" altLang="ko-KR" sz="800" dirty="0">
                <a:latin typeface="Consolas" panose="020B0609020204030204" pitchFamily="49" charset="0"/>
              </a:rPr>
              <a:t>] </a:t>
            </a:r>
            <a:r>
              <a:rPr lang="ko-KR" altLang="en-US" sz="800" dirty="0">
                <a:latin typeface="Consolas" panose="020B0609020204030204" pitchFamily="49" charset="0"/>
              </a:rPr>
              <a:t>입력</a:t>
            </a:r>
            <a:r>
              <a:rPr lang="en-US" altLang="ko-KR" sz="800" dirty="0">
                <a:latin typeface="Consolas" panose="020B0609020204030204" pitchFamily="49" charset="0"/>
              </a:rPr>
              <a:t>: 1815 | </a:t>
            </a:r>
            <a:r>
              <a:rPr lang="ko-KR" altLang="en-US" sz="800" dirty="0">
                <a:latin typeface="Consolas" panose="020B0609020204030204" pitchFamily="49" charset="0"/>
              </a:rPr>
              <a:t>출력</a:t>
            </a:r>
            <a:r>
              <a:rPr lang="en-US" altLang="ko-KR" sz="800" dirty="0">
                <a:latin typeface="Consolas" panose="020B0609020204030204" pitchFamily="49" charset="0"/>
              </a:rPr>
              <a:t>: 1205 | </a:t>
            </a:r>
            <a:r>
              <a:rPr lang="ko-KR" altLang="en-US" sz="800" dirty="0">
                <a:latin typeface="Consolas" panose="020B0609020204030204" pitchFamily="49" charset="0"/>
              </a:rPr>
              <a:t>총합</a:t>
            </a:r>
            <a:r>
              <a:rPr lang="en-US" altLang="ko-KR" sz="800" dirty="0">
                <a:latin typeface="Consolas" panose="020B0609020204030204" pitchFamily="49" charset="0"/>
              </a:rPr>
              <a:t>: 3020</a:t>
            </a:r>
          </a:p>
          <a:p>
            <a:endParaRPr lang="en-US" altLang="ko-KR" sz="800" dirty="0">
              <a:latin typeface="Consolas" panose="020B0609020204030204" pitchFamily="49" charset="0"/>
            </a:endParaRPr>
          </a:p>
          <a:p>
            <a:r>
              <a:rPr lang="en-US" altLang="ko-KR" sz="800" dirty="0">
                <a:latin typeface="Consolas" panose="020B0609020204030204" pitchFamily="49" charset="0"/>
              </a:rPr>
              <a:t>--- UI </a:t>
            </a:r>
            <a:r>
              <a:rPr lang="ko-KR" altLang="en-US" sz="800" dirty="0">
                <a:latin typeface="Consolas" panose="020B0609020204030204" pitchFamily="49" charset="0"/>
              </a:rPr>
              <a:t>팀 전달용 최종 </a:t>
            </a:r>
            <a:r>
              <a:rPr lang="en-US" altLang="ko-KR" sz="800" dirty="0">
                <a:latin typeface="Consolas" panose="020B0609020204030204" pitchFamily="49" charset="0"/>
              </a:rPr>
              <a:t>JSON ---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"status": "success",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"</a:t>
            </a:r>
            <a:r>
              <a:rPr lang="en-US" altLang="ko-KR" sz="800" dirty="0" err="1">
                <a:latin typeface="Consolas" panose="020B0609020204030204" pitchFamily="49" charset="0"/>
              </a:rPr>
              <a:t>major_summary</a:t>
            </a:r>
            <a:r>
              <a:rPr lang="en-US" altLang="ko-KR" sz="800" dirty="0">
                <a:latin typeface="Consolas" panose="020B0609020204030204" pitchFamily="49" charset="0"/>
              </a:rPr>
              <a:t>": "8</a:t>
            </a:r>
            <a:r>
              <a:rPr lang="ko-KR" altLang="en-US" sz="800" dirty="0">
                <a:latin typeface="Consolas" panose="020B0609020204030204" pitchFamily="49" charset="0"/>
              </a:rPr>
              <a:t>월 </a:t>
            </a:r>
            <a:r>
              <a:rPr lang="en-US" altLang="ko-KR" sz="800" dirty="0">
                <a:latin typeface="Consolas" panose="020B0609020204030204" pitchFamily="49" charset="0"/>
              </a:rPr>
              <a:t>15</a:t>
            </a:r>
            <a:r>
              <a:rPr lang="ko-KR" altLang="en-US" sz="800" dirty="0">
                <a:latin typeface="Consolas" panose="020B0609020204030204" pitchFamily="49" charset="0"/>
              </a:rPr>
              <a:t>일부터 여름축제와 야간개장</a:t>
            </a:r>
            <a:r>
              <a:rPr lang="en-US" altLang="ko-KR" sz="800" dirty="0">
                <a:latin typeface="Consolas" panose="020B0609020204030204" pitchFamily="49" charset="0"/>
              </a:rPr>
              <a:t>·</a:t>
            </a:r>
            <a:r>
              <a:rPr lang="ko-KR" altLang="en-US" sz="800" dirty="0">
                <a:latin typeface="Consolas" panose="020B0609020204030204" pitchFamily="49" charset="0"/>
              </a:rPr>
              <a:t>불꽃쇼가 시작되어 이번 주말 방문객이 집중될 것으로 예상됩니다</a:t>
            </a:r>
            <a:r>
              <a:rPr lang="en-US" altLang="ko-KR" sz="800" dirty="0">
                <a:latin typeface="Consolas" panose="020B0609020204030204" pitchFamily="49" charset="0"/>
              </a:rPr>
              <a:t>. </a:t>
            </a:r>
            <a:r>
              <a:rPr lang="ko-KR" altLang="en-US" sz="800" dirty="0">
                <a:latin typeface="Consolas" panose="020B0609020204030204" pitchFamily="49" charset="0"/>
              </a:rPr>
              <a:t>기차여행과 </a:t>
            </a:r>
            <a:r>
              <a:rPr lang="ko-KR" altLang="en-US" sz="800" dirty="0" err="1">
                <a:latin typeface="Consolas" panose="020B0609020204030204" pitchFamily="49" charset="0"/>
              </a:rPr>
              <a:t>펀하우스는</a:t>
            </a:r>
            <a:r>
              <a:rPr lang="ko-KR" altLang="en-US" sz="800" dirty="0">
                <a:latin typeface="Consolas" panose="020B0609020204030204" pitchFamily="49" charset="0"/>
              </a:rPr>
              <a:t> 운휴 중이며</a:t>
            </a:r>
            <a:r>
              <a:rPr lang="en-US" altLang="ko-KR" sz="800" dirty="0"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latin typeface="Consolas" panose="020B0609020204030204" pitchFamily="49" charset="0"/>
              </a:rPr>
              <a:t>몽키빌리지는</a:t>
            </a:r>
            <a:r>
              <a:rPr lang="ko-KR" altLang="en-US" sz="800" dirty="0">
                <a:latin typeface="Consolas" panose="020B0609020204030204" pitchFamily="49" charset="0"/>
              </a:rPr>
              <a:t> 별도 안내 시까지 관람이 중단됩니다</a:t>
            </a:r>
            <a:r>
              <a:rPr lang="en-US" altLang="ko-KR" sz="800" dirty="0">
                <a:latin typeface="Consolas" panose="020B0609020204030204" pitchFamily="49" charset="0"/>
              </a:rPr>
              <a:t>.",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"</a:t>
            </a:r>
            <a:r>
              <a:rPr lang="en-US" altLang="ko-KR" sz="800" dirty="0" err="1">
                <a:latin typeface="Consolas" panose="020B0609020204030204" pitchFamily="49" charset="0"/>
              </a:rPr>
              <a:t>notices_list</a:t>
            </a:r>
            <a:r>
              <a:rPr lang="en-US" altLang="ko-KR" sz="800" dirty="0">
                <a:latin typeface="Consolas" panose="020B0609020204030204" pitchFamily="49" charset="0"/>
              </a:rPr>
              <a:t>": [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{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  "category": "</a:t>
            </a:r>
            <a:r>
              <a:rPr lang="ko-KR" altLang="en-US" sz="800" dirty="0">
                <a:latin typeface="Consolas" panose="020B0609020204030204" pitchFamily="49" charset="0"/>
              </a:rPr>
              <a:t>축제</a:t>
            </a:r>
            <a:r>
              <a:rPr lang="en-US" altLang="ko-KR" sz="800" dirty="0">
                <a:latin typeface="Consolas" panose="020B0609020204030204" pitchFamily="49" charset="0"/>
              </a:rPr>
              <a:t>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  "title": "</a:t>
            </a:r>
            <a:r>
              <a:rPr lang="ko-KR" altLang="en-US" sz="800" dirty="0" err="1">
                <a:latin typeface="Consolas" panose="020B0609020204030204" pitchFamily="49" charset="0"/>
              </a:rPr>
              <a:t>오월드</a:t>
            </a:r>
            <a:r>
              <a:rPr lang="ko-KR" altLang="en-US" sz="800" dirty="0">
                <a:latin typeface="Consolas" panose="020B0609020204030204" pitchFamily="49" charset="0"/>
              </a:rPr>
              <a:t> 여름축제 오픈</a:t>
            </a:r>
            <a:r>
              <a:rPr lang="en-US" altLang="ko-KR" sz="800" dirty="0">
                <a:latin typeface="Consolas" panose="020B0609020204030204" pitchFamily="49" charset="0"/>
              </a:rPr>
              <a:t>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  "</a:t>
            </a:r>
            <a:r>
              <a:rPr lang="en-US" altLang="ko-KR" sz="800" dirty="0" err="1">
                <a:latin typeface="Consolas" panose="020B0609020204030204" pitchFamily="49" charset="0"/>
              </a:rPr>
              <a:t>date_string</a:t>
            </a:r>
            <a:r>
              <a:rPr lang="en-US" altLang="ko-KR" sz="800" dirty="0">
                <a:latin typeface="Consolas" panose="020B0609020204030204" pitchFamily="49" charset="0"/>
              </a:rPr>
              <a:t>": "08.15",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  "</a:t>
            </a:r>
            <a:r>
              <a:rPr lang="en-US" altLang="ko-KR" sz="800" dirty="0" err="1">
                <a:latin typeface="Consolas" panose="020B0609020204030204" pitchFamily="49" charset="0"/>
              </a:rPr>
              <a:t>status_tag</a:t>
            </a:r>
            <a:r>
              <a:rPr lang="en-US" altLang="ko-KR" sz="800" dirty="0">
                <a:latin typeface="Consolas" panose="020B0609020204030204" pitchFamily="49" charset="0"/>
              </a:rPr>
              <a:t>": "D-1",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  "</a:t>
            </a:r>
            <a:r>
              <a:rPr lang="en-US" altLang="ko-KR" sz="800" dirty="0" err="1">
                <a:latin typeface="Consolas" panose="020B0609020204030204" pitchFamily="49" charset="0"/>
              </a:rPr>
              <a:t>url</a:t>
            </a:r>
            <a:r>
              <a:rPr lang="en-US" altLang="ko-KR" sz="800" dirty="0">
                <a:latin typeface="Consolas" panose="020B0609020204030204" pitchFamily="49" charset="0"/>
              </a:rPr>
              <a:t>": "https://www.oworld.kr/newkfsweb/kfi/kfs/linkage/selectDccoLinkage.do?bbsIdx=25202&amp;mn=KFS_34_01_09_01&amp;bbscd=9&amp;menucd=916"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  },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],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  "</a:t>
            </a:r>
            <a:r>
              <a:rPr lang="en-US" altLang="ko-KR" sz="800" dirty="0" err="1">
                <a:latin typeface="Consolas" panose="020B0609020204030204" pitchFamily="49" charset="0"/>
              </a:rPr>
              <a:t>event_board_url</a:t>
            </a:r>
            <a:r>
              <a:rPr lang="en-US" altLang="ko-KR" sz="800" dirty="0">
                <a:latin typeface="Consolas" panose="020B0609020204030204" pitchFamily="49" charset="0"/>
              </a:rPr>
              <a:t>": "https://www.oworld.kr/newkfsweb/kfi/kfs/event/selectDccoEventList.do?mn=KFS_34_02_03_01"</a:t>
            </a:r>
          </a:p>
          <a:p>
            <a:r>
              <a:rPr lang="en-US" altLang="ko-KR" sz="800" dirty="0">
                <a:latin typeface="Consolas" panose="020B0609020204030204" pitchFamily="49" charset="0"/>
              </a:rPr>
              <a:t>}</a:t>
            </a:r>
            <a:endParaRPr lang="ko-KR" altLang="en-US" sz="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C2129E-4AA3-E086-0133-CC74867A0084}"/>
              </a:ext>
            </a:extLst>
          </p:cNvPr>
          <p:cNvSpPr txBox="1"/>
          <p:nvPr/>
        </p:nvSpPr>
        <p:spPr>
          <a:xfrm>
            <a:off x="252473" y="4061742"/>
            <a:ext cx="3539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400" b="1" i="0" u="none" strike="noStrike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트러블 슈팅</a:t>
            </a:r>
            <a:endParaRPr lang="ko-KR" altLang="en-US" dirty="0"/>
          </a:p>
        </p:txBody>
      </p:sp>
      <p:sp>
        <p:nvSpPr>
          <p:cNvPr id="22" name="Google Shape;572;p30">
            <a:extLst>
              <a:ext uri="{FF2B5EF4-FFF2-40B4-BE49-F238E27FC236}">
                <a16:creationId xmlns:a16="http://schemas.microsoft.com/office/drawing/2014/main" id="{5D87DD93-CC03-0079-C885-85D815EB7537}"/>
              </a:ext>
            </a:extLst>
          </p:cNvPr>
          <p:cNvSpPr txBox="1"/>
          <p:nvPr/>
        </p:nvSpPr>
        <p:spPr>
          <a:xfrm>
            <a:off x="245834" y="4401059"/>
            <a:ext cx="11874500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altLang="ko-KR" sz="1300" b="1" dirty="0">
                <a:solidFill>
                  <a:srgbClr val="8DA9DB"/>
                </a:solidFill>
              </a:rPr>
              <a:t>Issus 2. </a:t>
            </a:r>
            <a:r>
              <a:rPr lang="ko-KR" altLang="en-US" sz="1300" b="1" dirty="0">
                <a:solidFill>
                  <a:srgbClr val="8DA9DB"/>
                </a:solidFill>
              </a:rPr>
              <a:t>토큰 최적화 및 </a:t>
            </a:r>
            <a:r>
              <a:rPr lang="en-US" altLang="ko-KR" sz="1300" b="1" dirty="0">
                <a:solidFill>
                  <a:srgbClr val="8DA9DB"/>
                </a:solidFill>
              </a:rPr>
              <a:t>AI </a:t>
            </a:r>
            <a:r>
              <a:rPr lang="ko-KR" altLang="en-US" sz="1300" b="1" dirty="0">
                <a:solidFill>
                  <a:srgbClr val="8DA9DB"/>
                </a:solidFill>
              </a:rPr>
              <a:t>환각 제어</a:t>
            </a:r>
            <a:endParaRPr lang="en-US" altLang="ko-KR" sz="1300" b="1" i="0" u="none" strike="noStrike" cap="none" dirty="0">
              <a:solidFill>
                <a:srgbClr val="8DA9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r>
              <a:rPr lang="ko-KR" altLang="en-US" sz="1300" b="1" dirty="0">
                <a:solidFill>
                  <a:srgbClr val="595959"/>
                </a:solidFill>
              </a:rPr>
              <a:t>문제 및 한계</a:t>
            </a:r>
            <a:endParaRPr lang="en-US" altLang="ko-KR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비용 폭증</a:t>
            </a:r>
            <a:r>
              <a:rPr lang="en-US" altLang="ko-KR" sz="1300" dirty="0">
                <a:solidFill>
                  <a:srgbClr val="595959"/>
                </a:solidFill>
              </a:rPr>
              <a:t>: Vision API </a:t>
            </a:r>
            <a:r>
              <a:rPr lang="ko-KR" altLang="en-US" sz="1300" dirty="0">
                <a:solidFill>
                  <a:srgbClr val="595959"/>
                </a:solidFill>
              </a:rPr>
              <a:t>및 </a:t>
            </a:r>
            <a:r>
              <a:rPr lang="en-US" altLang="ko-KR" sz="1300" dirty="0">
                <a:solidFill>
                  <a:srgbClr val="595959"/>
                </a:solidFill>
              </a:rPr>
              <a:t>Base64 </a:t>
            </a:r>
            <a:r>
              <a:rPr lang="ko-KR" altLang="en-US" sz="1300" dirty="0">
                <a:solidFill>
                  <a:srgbClr val="595959"/>
                </a:solidFill>
              </a:rPr>
              <a:t>인코딩 사용으로 인해 단일 </a:t>
            </a:r>
            <a:r>
              <a:rPr lang="ko-KR" altLang="en-US" sz="1300" dirty="0" err="1">
                <a:solidFill>
                  <a:srgbClr val="595959"/>
                </a:solidFill>
              </a:rPr>
              <a:t>호출당</a:t>
            </a:r>
            <a:r>
              <a:rPr lang="ko-KR" altLang="en-US" sz="1300" dirty="0">
                <a:solidFill>
                  <a:srgbClr val="595959"/>
                </a:solidFill>
              </a:rPr>
              <a:t> 과도한 토큰 소모 발생</a:t>
            </a:r>
            <a:endParaRPr lang="en-US" altLang="ko-KR" sz="1300" dirty="0">
              <a:solidFill>
                <a:srgbClr val="595959"/>
              </a:solidFill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환각 및 오판 위험</a:t>
            </a:r>
            <a:r>
              <a:rPr lang="en-US" altLang="ko-KR" sz="1300" dirty="0">
                <a:solidFill>
                  <a:srgbClr val="595959"/>
                </a:solidFill>
              </a:rPr>
              <a:t>: </a:t>
            </a:r>
            <a:r>
              <a:rPr lang="ko-KR" altLang="en-US" sz="1300" dirty="0">
                <a:solidFill>
                  <a:srgbClr val="595959"/>
                </a:solidFill>
              </a:rPr>
              <a:t>본문 텍스트 없이 포스터 이미지만 등록된 게시글의 경우 </a:t>
            </a:r>
            <a:r>
              <a:rPr lang="ko-KR" altLang="en-US" sz="1300" dirty="0" err="1">
                <a:solidFill>
                  <a:srgbClr val="595959"/>
                </a:solidFill>
              </a:rPr>
              <a:t>크롤링</a:t>
            </a:r>
            <a:r>
              <a:rPr lang="ko-KR" altLang="en-US" sz="1300" dirty="0">
                <a:solidFill>
                  <a:srgbClr val="595959"/>
                </a:solidFill>
              </a:rPr>
              <a:t> 데이터가 부재하여 </a:t>
            </a:r>
            <a:r>
              <a:rPr lang="en-US" altLang="ko-KR" sz="1300" dirty="0">
                <a:solidFill>
                  <a:srgbClr val="595959"/>
                </a:solidFill>
              </a:rPr>
              <a:t>AI</a:t>
            </a:r>
            <a:r>
              <a:rPr lang="ko-KR" altLang="en-US" sz="1300" dirty="0">
                <a:solidFill>
                  <a:srgbClr val="595959"/>
                </a:solidFill>
              </a:rPr>
              <a:t>가 </a:t>
            </a:r>
            <a:r>
              <a:rPr lang="en-US" altLang="ko-KR" sz="1300" dirty="0">
                <a:solidFill>
                  <a:srgbClr val="595959"/>
                </a:solidFill>
              </a:rPr>
              <a:t>‘</a:t>
            </a:r>
            <a:r>
              <a:rPr lang="ko-KR" altLang="en-US" sz="1300" dirty="0">
                <a:solidFill>
                  <a:srgbClr val="595959"/>
                </a:solidFill>
              </a:rPr>
              <a:t>특이사항</a:t>
            </a:r>
            <a:r>
              <a:rPr lang="en-US" altLang="ko-KR" sz="1300" dirty="0">
                <a:solidFill>
                  <a:srgbClr val="595959"/>
                </a:solidFill>
              </a:rPr>
              <a:t> </a:t>
            </a:r>
            <a:r>
              <a:rPr lang="ko-KR" altLang="en-US" sz="1300" dirty="0">
                <a:solidFill>
                  <a:srgbClr val="595959"/>
                </a:solidFill>
              </a:rPr>
              <a:t>없음</a:t>
            </a:r>
            <a:r>
              <a:rPr lang="en-US" altLang="ko-KR" sz="1300" dirty="0">
                <a:solidFill>
                  <a:srgbClr val="595959"/>
                </a:solidFill>
              </a:rPr>
              <a:t>’</a:t>
            </a:r>
            <a:r>
              <a:rPr lang="ko-KR" altLang="en-US" sz="1300" dirty="0">
                <a:solidFill>
                  <a:srgbClr val="595959"/>
                </a:solidFill>
              </a:rPr>
              <a:t>으로 오판할 위험</a:t>
            </a:r>
            <a:endParaRPr lang="ko-KR" altLang="en-US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ko-KR" altLang="en-US" sz="1300" b="1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텍스트 중심 </a:t>
            </a:r>
            <a:r>
              <a:rPr lang="ko-KR" altLang="en-US" sz="13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피봇팅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모델 전환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3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정규식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공백 압축 및 글자 수 제한을 통해 토큰 소모량 </a:t>
            </a:r>
            <a:r>
              <a:rPr lang="en-US" altLang="ko-KR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80% </a:t>
            </a: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절감</a:t>
            </a:r>
            <a:endParaRPr lang="en-US" altLang="ko-KR" sz="1300" dirty="0">
              <a:solidFill>
                <a:srgbClr val="595959"/>
              </a:solidFill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ko-KR" altLang="en-US" sz="13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r>
              <a:rPr lang="en-US" altLang="ko-KR" sz="1300" dirty="0">
                <a:solidFill>
                  <a:srgbClr val="595959"/>
                </a:solidFill>
              </a:rPr>
              <a:t> </a:t>
            </a:r>
            <a:r>
              <a:rPr lang="ko-KR" altLang="en-US" sz="1300" dirty="0">
                <a:solidFill>
                  <a:srgbClr val="595959"/>
                </a:solidFill>
              </a:rPr>
              <a:t>필수 맥락 결합</a:t>
            </a:r>
            <a:r>
              <a:rPr lang="en-US" altLang="ko-KR" sz="1300" dirty="0">
                <a:solidFill>
                  <a:srgbClr val="595959"/>
                </a:solidFill>
              </a:rPr>
              <a:t>: </a:t>
            </a:r>
            <a:r>
              <a:rPr lang="ko-KR" altLang="en-US" sz="1300" dirty="0">
                <a:solidFill>
                  <a:srgbClr val="595959"/>
                </a:solidFill>
              </a:rPr>
              <a:t>텍스트가 </a:t>
            </a:r>
            <a:r>
              <a:rPr lang="ko-KR" altLang="en-US" sz="1300" dirty="0" err="1">
                <a:solidFill>
                  <a:srgbClr val="595959"/>
                </a:solidFill>
              </a:rPr>
              <a:t>비어있더라도</a:t>
            </a:r>
            <a:r>
              <a:rPr lang="ko-KR" altLang="en-US" sz="1300" dirty="0">
                <a:solidFill>
                  <a:srgbClr val="595959"/>
                </a:solidFill>
              </a:rPr>
              <a:t> </a:t>
            </a:r>
            <a:r>
              <a:rPr lang="en-US" altLang="ko-KR" sz="1300" dirty="0">
                <a:solidFill>
                  <a:srgbClr val="595959"/>
                </a:solidFill>
              </a:rPr>
              <a:t>‘</a:t>
            </a:r>
            <a:r>
              <a:rPr lang="ko-KR" altLang="en-US" sz="1300" dirty="0">
                <a:solidFill>
                  <a:srgbClr val="595959"/>
                </a:solidFill>
              </a:rPr>
              <a:t>제목</a:t>
            </a:r>
            <a:r>
              <a:rPr lang="en-US" altLang="ko-KR" sz="1300" dirty="0">
                <a:solidFill>
                  <a:srgbClr val="595959"/>
                </a:solidFill>
              </a:rPr>
              <a:t>’</a:t>
            </a:r>
            <a:r>
              <a:rPr lang="ko-KR" altLang="en-US" sz="1300" dirty="0">
                <a:solidFill>
                  <a:srgbClr val="595959"/>
                </a:solidFill>
              </a:rPr>
              <a:t>을 필수 </a:t>
            </a:r>
            <a:r>
              <a:rPr lang="en-US" altLang="ko-KR" sz="1300" dirty="0">
                <a:solidFill>
                  <a:srgbClr val="595959"/>
                </a:solidFill>
              </a:rPr>
              <a:t>Context</a:t>
            </a:r>
            <a:r>
              <a:rPr lang="ko-KR" altLang="en-US" sz="1300" dirty="0">
                <a:solidFill>
                  <a:srgbClr val="595959"/>
                </a:solidFill>
              </a:rPr>
              <a:t>로 주입하여 핵심 키워드 기반 상황 유추</a:t>
            </a:r>
            <a:endParaRPr lang="en-US" altLang="ko-KR" sz="13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66;p30">
            <a:extLst>
              <a:ext uri="{FF2B5EF4-FFF2-40B4-BE49-F238E27FC236}">
                <a16:creationId xmlns:a16="http://schemas.microsoft.com/office/drawing/2014/main" id="{B998F0CF-7F42-7617-C6EB-D97EE7D729CB}"/>
              </a:ext>
            </a:extLst>
          </p:cNvPr>
          <p:cNvSpPr/>
          <p:nvPr/>
        </p:nvSpPr>
        <p:spPr>
          <a:xfrm>
            <a:off x="151326" y="4539749"/>
            <a:ext cx="101147" cy="113869"/>
          </a:xfrm>
          <a:custGeom>
            <a:avLst/>
            <a:gdLst/>
            <a:ahLst/>
            <a:cxnLst/>
            <a:rect l="l" t="t" r="r" b="b"/>
            <a:pathLst>
              <a:path w="450214" h="506845" extrusionOk="0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>
            <a:noFill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E63EF4-13D7-C9F7-5F7F-B5638933D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65" y="2124121"/>
            <a:ext cx="6557488" cy="1779383"/>
          </a:xfrm>
          <a:prstGeom prst="rect">
            <a:avLst/>
          </a:prstGeom>
        </p:spPr>
      </p:pic>
      <p:pic>
        <p:nvPicPr>
          <p:cNvPr id="2" name="Google Shape;220;p4">
            <a:extLst>
              <a:ext uri="{FF2B5EF4-FFF2-40B4-BE49-F238E27FC236}">
                <a16:creationId xmlns:a16="http://schemas.microsoft.com/office/drawing/2014/main" id="{BF3F401F-31B6-45DE-95E8-7018A657F0C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3;p4">
            <a:extLst>
              <a:ext uri="{FF2B5EF4-FFF2-40B4-BE49-F238E27FC236}">
                <a16:creationId xmlns:a16="http://schemas.microsoft.com/office/drawing/2014/main" id="{49EE9F3B-4C97-93E4-5161-13A403831C2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20272352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5;p4">
            <a:extLst>
              <a:ext uri="{FF2B5EF4-FFF2-40B4-BE49-F238E27FC236}">
                <a16:creationId xmlns:a16="http://schemas.microsoft.com/office/drawing/2014/main" id="{E0D5BA61-F3A2-A168-5D9B-36C011CE239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58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8D1B9D13-BEC6-125A-B51F-98CA49FD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8">
            <a:extLst>
              <a:ext uri="{FF2B5EF4-FFF2-40B4-BE49-F238E27FC236}">
                <a16:creationId xmlns:a16="http://schemas.microsoft.com/office/drawing/2014/main" id="{131BF744-4009-E61D-6547-F1D310C1CE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>
            <a:extLst>
              <a:ext uri="{FF2B5EF4-FFF2-40B4-BE49-F238E27FC236}">
                <a16:creationId xmlns:a16="http://schemas.microsoft.com/office/drawing/2014/main" id="{2B234065-7E25-6CD0-CAA2-2266B2291DA4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8">
            <a:extLst>
              <a:ext uri="{FF2B5EF4-FFF2-40B4-BE49-F238E27FC236}">
                <a16:creationId xmlns:a16="http://schemas.microsoft.com/office/drawing/2014/main" id="{C478CED6-E4E6-11D4-A4D7-3866067CF73A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8">
              <a:extLst>
                <a:ext uri="{FF2B5EF4-FFF2-40B4-BE49-F238E27FC236}">
                  <a16:creationId xmlns:a16="http://schemas.microsoft.com/office/drawing/2014/main" id="{C53DD942-F236-BD15-42F4-A71D09272F2E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8">
              <a:extLst>
                <a:ext uri="{FF2B5EF4-FFF2-40B4-BE49-F238E27FC236}">
                  <a16:creationId xmlns:a16="http://schemas.microsoft.com/office/drawing/2014/main" id="{C3CCD173-823B-1FEA-56CC-1A7A32E8D7D4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>
              <a:extLst>
                <a:ext uri="{FF2B5EF4-FFF2-40B4-BE49-F238E27FC236}">
                  <a16:creationId xmlns:a16="http://schemas.microsoft.com/office/drawing/2014/main" id="{EDA9F2E3-9CAA-B7A1-AA75-221BBCE00AF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8">
            <a:extLst>
              <a:ext uri="{FF2B5EF4-FFF2-40B4-BE49-F238E27FC236}">
                <a16:creationId xmlns:a16="http://schemas.microsoft.com/office/drawing/2014/main" id="{F5F03416-D7D6-8AFC-2A52-47BF468E1F9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>
            <a:extLst>
              <a:ext uri="{FF2B5EF4-FFF2-40B4-BE49-F238E27FC236}">
                <a16:creationId xmlns:a16="http://schemas.microsoft.com/office/drawing/2014/main" id="{92E0EA59-1A63-410B-3521-24E86D52D14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8">
            <a:extLst>
              <a:ext uri="{FF2B5EF4-FFF2-40B4-BE49-F238E27FC236}">
                <a16:creationId xmlns:a16="http://schemas.microsoft.com/office/drawing/2014/main" id="{F41566EE-12DA-76FC-B092-9AFEFBCE65C4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684" name="Google Shape;684;p8">
              <a:extLst>
                <a:ext uri="{FF2B5EF4-FFF2-40B4-BE49-F238E27FC236}">
                  <a16:creationId xmlns:a16="http://schemas.microsoft.com/office/drawing/2014/main" id="{509DABD0-7D52-16A3-93A3-519F94AFBA1C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기능 통합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8">
              <a:extLst>
                <a:ext uri="{FF2B5EF4-FFF2-40B4-BE49-F238E27FC236}">
                  <a16:creationId xmlns:a16="http://schemas.microsoft.com/office/drawing/2014/main" id="{3DD7360B-11B5-0AE4-AE35-B34A063249A4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87" name="Google Shape;687;p8">
            <a:extLst>
              <a:ext uri="{FF2B5EF4-FFF2-40B4-BE49-F238E27FC236}">
                <a16:creationId xmlns:a16="http://schemas.microsoft.com/office/drawing/2014/main" id="{D2314D40-A97F-050D-6B94-26F5268E8124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8">
            <a:extLst>
              <a:ext uri="{FF2B5EF4-FFF2-40B4-BE49-F238E27FC236}">
                <a16:creationId xmlns:a16="http://schemas.microsoft.com/office/drawing/2014/main" id="{F1D5A5DA-210A-1060-8AA3-D6DA25656F2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89" name="Google Shape;689;p8" descr="EMB0000378c3f3d">
              <a:extLst>
                <a:ext uri="{FF2B5EF4-FFF2-40B4-BE49-F238E27FC236}">
                  <a16:creationId xmlns:a16="http://schemas.microsoft.com/office/drawing/2014/main" id="{B6099007-1279-0FEA-83C3-A0CECBC2E5E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8">
              <a:extLst>
                <a:ext uri="{FF2B5EF4-FFF2-40B4-BE49-F238E27FC236}">
                  <a16:creationId xmlns:a16="http://schemas.microsoft.com/office/drawing/2014/main" id="{38DF7D25-3CAC-6B10-FD9A-70EB3921ED4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8">
            <a:extLst>
              <a:ext uri="{FF2B5EF4-FFF2-40B4-BE49-F238E27FC236}">
                <a16:creationId xmlns:a16="http://schemas.microsoft.com/office/drawing/2014/main" id="{3B30C7D1-566A-A067-4261-21501984D796}"/>
              </a:ext>
            </a:extLst>
          </p:cNvPr>
          <p:cNvSpPr txBox="1"/>
          <p:nvPr/>
        </p:nvSpPr>
        <p:spPr>
          <a:xfrm>
            <a:off x="5987844" y="2002949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각 </a:t>
            </a:r>
            <a:r>
              <a:rPr lang="ko-KR" alt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모델별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dirty="0"/>
              <a:t>I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nput </a:t>
            </a:r>
            <a:r>
              <a:rPr lang="en-US" altLang="ko-KR" dirty="0"/>
              <a:t>F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eature 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</a:t>
            </a:r>
            <a:r>
              <a:rPr lang="en-US" altLang="ko-KR" dirty="0">
                <a:solidFill>
                  <a:srgbClr val="3A3838"/>
                </a:solidFill>
                <a:latin typeface="Malgun Gothic"/>
                <a:ea typeface="Malgun Gothic"/>
                <a:sym typeface="Malgun Gothic"/>
              </a:rPr>
              <a:t>-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dirty="0"/>
              <a:t>Ui Output Data </a:t>
            </a:r>
            <a:endParaRPr lang="ko-KR" alt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3D5C8FF-AC49-6DBF-E165-CA2ACB8AD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484" y="2298756"/>
            <a:ext cx="3768034" cy="35428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61FF49-3CE8-377E-6B4F-0C407C9A33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9517" y="2304848"/>
            <a:ext cx="1954528" cy="3534279"/>
          </a:xfrm>
          <a:prstGeom prst="rect">
            <a:avLst/>
          </a:prstGeom>
        </p:spPr>
      </p:pic>
      <p:sp>
        <p:nvSpPr>
          <p:cNvPr id="40" name="Google Shape;428;p7">
            <a:extLst>
              <a:ext uri="{FF2B5EF4-FFF2-40B4-BE49-F238E27FC236}">
                <a16:creationId xmlns:a16="http://schemas.microsoft.com/office/drawing/2014/main" id="{D41D4277-D9B9-14B4-BF3B-8216DF4D7E22}"/>
              </a:ext>
            </a:extLst>
          </p:cNvPr>
          <p:cNvSpPr txBox="1"/>
          <p:nvPr/>
        </p:nvSpPr>
        <p:spPr>
          <a:xfrm>
            <a:off x="1199909" y="3460367"/>
            <a:ext cx="4712319" cy="30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모델 </a:t>
            </a:r>
            <a:r>
              <a:rPr lang="en-US" altLang="ko-KR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input feature</a:t>
            </a:r>
            <a:r>
              <a:rPr lang="ko-KR" altLang="en-US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와 </a:t>
            </a:r>
            <a:r>
              <a:rPr lang="en-US" altLang="ko-KR" sz="1400" b="0" i="0" u="none" strike="noStrike" cap="none" dirty="0" err="1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ui</a:t>
            </a:r>
            <a:r>
              <a:rPr lang="en-US" altLang="ko-KR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 output </a:t>
            </a:r>
            <a:r>
              <a:rPr lang="ko-KR" altLang="en-US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Arial"/>
                <a:sym typeface="Malgun Gothic"/>
              </a:rPr>
              <a:t>데이터 생성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35;p7">
            <a:extLst>
              <a:ext uri="{FF2B5EF4-FFF2-40B4-BE49-F238E27FC236}">
                <a16:creationId xmlns:a16="http://schemas.microsoft.com/office/drawing/2014/main" id="{AB3092E2-953D-770B-3EFF-058F296F5C34}"/>
              </a:ext>
            </a:extLst>
          </p:cNvPr>
          <p:cNvSpPr txBox="1"/>
          <p:nvPr/>
        </p:nvSpPr>
        <p:spPr>
          <a:xfrm>
            <a:off x="1164862" y="4180469"/>
            <a:ext cx="4453413" cy="36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방문객 수 회귀 모델과 혼잡도 분류 모델 실행 후 이용자 점수</a:t>
            </a:r>
            <a:r>
              <a:rPr lang="en-US" altLang="ko-KR" dirty="0"/>
              <a:t>·</a:t>
            </a:r>
            <a:r>
              <a:rPr lang="ko-KR" altLang="en-US" dirty="0"/>
              <a:t>날씨 점수 계산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438;p7">
            <a:extLst>
              <a:ext uri="{FF2B5EF4-FFF2-40B4-BE49-F238E27FC236}">
                <a16:creationId xmlns:a16="http://schemas.microsoft.com/office/drawing/2014/main" id="{A59CF1C7-6B23-0C86-6C6E-DCB759219E7A}"/>
              </a:ext>
            </a:extLst>
          </p:cNvPr>
          <p:cNvSpPr txBox="1"/>
          <p:nvPr/>
        </p:nvSpPr>
        <p:spPr>
          <a:xfrm>
            <a:off x="1199911" y="2432082"/>
            <a:ext cx="4571272" cy="27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api.meto.com</a:t>
            </a:r>
            <a:r>
              <a:rPr lang="ko-KR" altLang="en-US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</a:t>
            </a:r>
            <a:r>
              <a:rPr lang="en-US" altLang="ko-KR" dirty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en-US" altLang="ko-KR" sz="1400" b="0" i="0" u="none" strike="noStrike" cap="none" dirty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pi</a:t>
            </a:r>
            <a:r>
              <a:rPr lang="ko-KR" altLang="en-US" sz="14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날짜별 실제 날씨 조회</a:t>
            </a:r>
            <a:endParaRPr sz="1400" b="0" i="0" u="none" strike="noStrike" cap="none" dirty="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439;p7">
            <a:extLst>
              <a:ext uri="{FF2B5EF4-FFF2-40B4-BE49-F238E27FC236}">
                <a16:creationId xmlns:a16="http://schemas.microsoft.com/office/drawing/2014/main" id="{B5C4A372-6D2C-B2DC-EA30-C941F42CBFDB}"/>
              </a:ext>
            </a:extLst>
          </p:cNvPr>
          <p:cNvSpPr txBox="1"/>
          <p:nvPr/>
        </p:nvSpPr>
        <p:spPr>
          <a:xfrm>
            <a:off x="1619196" y="2619964"/>
            <a:ext cx="1805533" cy="32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기온</a:t>
            </a:r>
            <a:r>
              <a:rPr lang="en-US" altLang="ko-KR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습도</a:t>
            </a:r>
            <a:r>
              <a:rPr lang="en-US" altLang="ko-KR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강수확률</a:t>
            </a:r>
            <a:r>
              <a:rPr lang="ko-KR" sz="1200" b="0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</a:t>
            </a:r>
            <a:endParaRPr sz="1200" b="0" i="0" u="none" strike="noStrike" cap="none" dirty="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444;p7">
            <a:extLst>
              <a:ext uri="{FF2B5EF4-FFF2-40B4-BE49-F238E27FC236}">
                <a16:creationId xmlns:a16="http://schemas.microsoft.com/office/drawing/2014/main" id="{79476E05-1F0C-7194-D259-03A4BDF616B0}"/>
              </a:ext>
            </a:extLst>
          </p:cNvPr>
          <p:cNvSpPr/>
          <p:nvPr/>
        </p:nvSpPr>
        <p:spPr>
          <a:xfrm>
            <a:off x="1270669" y="2731214"/>
            <a:ext cx="388710" cy="150938"/>
          </a:xfrm>
          <a:prstGeom prst="roundRect">
            <a:avLst>
              <a:gd name="adj" fmla="val 16667"/>
            </a:avLst>
          </a:prstGeom>
          <a:solidFill>
            <a:srgbClr val="FFD8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endParaRPr sz="12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451;p7">
            <a:extLst>
              <a:ext uri="{FF2B5EF4-FFF2-40B4-BE49-F238E27FC236}">
                <a16:creationId xmlns:a16="http://schemas.microsoft.com/office/drawing/2014/main" id="{B99018BF-B5BE-0A84-1DA2-A1AAB5FC60A8}"/>
              </a:ext>
            </a:extLst>
          </p:cNvPr>
          <p:cNvSpPr txBox="1"/>
          <p:nvPr/>
        </p:nvSpPr>
        <p:spPr>
          <a:xfrm>
            <a:off x="1197863" y="5245448"/>
            <a:ext cx="3788610" cy="27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dirty="0">
                <a:solidFill>
                  <a:srgbClr val="3A3838"/>
                </a:solidFill>
                <a:latin typeface="Malgun Gothic"/>
                <a:ea typeface="Malgun Gothic"/>
                <a:sym typeface="Malgun Gothic"/>
              </a:rPr>
              <a:t>날짜별 </a:t>
            </a:r>
            <a:r>
              <a:rPr lang="en-US" altLang="ko-KR" dirty="0">
                <a:solidFill>
                  <a:srgbClr val="3A3838"/>
                </a:solidFill>
                <a:latin typeface="Malgun Gothic"/>
                <a:ea typeface="Malgun Gothic"/>
                <a:sym typeface="Malgun Gothic"/>
              </a:rPr>
              <a:t>UI </a:t>
            </a:r>
            <a:r>
              <a:rPr lang="ko-KR" altLang="en-US" dirty="0">
                <a:solidFill>
                  <a:srgbClr val="3A3838"/>
                </a:solidFill>
                <a:latin typeface="Malgun Gothic"/>
                <a:ea typeface="Malgun Gothic"/>
                <a:sym typeface="Malgun Gothic"/>
              </a:rPr>
              <a:t>출력 데이터를 생성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452;p7">
            <a:extLst>
              <a:ext uri="{FF2B5EF4-FFF2-40B4-BE49-F238E27FC236}">
                <a16:creationId xmlns:a16="http://schemas.microsoft.com/office/drawing/2014/main" id="{0602309C-216D-74D8-8F7B-45BD53CD400A}"/>
              </a:ext>
            </a:extLst>
          </p:cNvPr>
          <p:cNvSpPr txBox="1"/>
          <p:nvPr/>
        </p:nvSpPr>
        <p:spPr>
          <a:xfrm>
            <a:off x="1636578" y="5401464"/>
            <a:ext cx="3894514" cy="32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</a:t>
            </a:r>
            <a:r>
              <a:rPr lang="ko-KR" altLang="en-US" sz="1200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형태로 필요한 정보 생성</a:t>
            </a:r>
            <a:endParaRPr sz="1200" b="0" i="0" u="none" strike="noStrike" cap="none" dirty="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444;p7">
            <a:extLst>
              <a:ext uri="{FF2B5EF4-FFF2-40B4-BE49-F238E27FC236}">
                <a16:creationId xmlns:a16="http://schemas.microsoft.com/office/drawing/2014/main" id="{2C1C94FE-93B5-F6CE-3C8C-16EC2B3A57DD}"/>
              </a:ext>
            </a:extLst>
          </p:cNvPr>
          <p:cNvSpPr/>
          <p:nvPr/>
        </p:nvSpPr>
        <p:spPr>
          <a:xfrm>
            <a:off x="1290031" y="5504340"/>
            <a:ext cx="386374" cy="150939"/>
          </a:xfrm>
          <a:prstGeom prst="roundRect">
            <a:avLst>
              <a:gd name="adj" fmla="val 16667"/>
            </a:avLst>
          </a:prstGeom>
          <a:solidFill>
            <a:srgbClr val="3378C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endParaRPr sz="12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" name="Google Shape;445;p7">
            <a:extLst>
              <a:ext uri="{FF2B5EF4-FFF2-40B4-BE49-F238E27FC236}">
                <a16:creationId xmlns:a16="http://schemas.microsoft.com/office/drawing/2014/main" id="{60A9580C-67E1-8694-A678-14F69E9531A0}"/>
              </a:ext>
            </a:extLst>
          </p:cNvPr>
          <p:cNvGrpSpPr/>
          <p:nvPr/>
        </p:nvGrpSpPr>
        <p:grpSpPr>
          <a:xfrm>
            <a:off x="870148" y="5961422"/>
            <a:ext cx="9751481" cy="598712"/>
            <a:chOff x="2857501" y="5534844"/>
            <a:chExt cx="8902656" cy="673099"/>
          </a:xfrm>
        </p:grpSpPr>
        <p:sp>
          <p:nvSpPr>
            <p:cNvPr id="7" name="Google Shape;446;p7">
              <a:extLst>
                <a:ext uri="{FF2B5EF4-FFF2-40B4-BE49-F238E27FC236}">
                  <a16:creationId xmlns:a16="http://schemas.microsoft.com/office/drawing/2014/main" id="{5BBFB0AE-F6FB-429D-76C1-86EE422E98B2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451;p7">
              <a:extLst>
                <a:ext uri="{FF2B5EF4-FFF2-40B4-BE49-F238E27FC236}">
                  <a16:creationId xmlns:a16="http://schemas.microsoft.com/office/drawing/2014/main" id="{96ABA140-56F4-3EBB-E947-C3D056A03E24}"/>
                </a:ext>
              </a:extLst>
            </p:cNvPr>
            <p:cNvSpPr txBox="1"/>
            <p:nvPr/>
          </p:nvSpPr>
          <p:spPr>
            <a:xfrm>
              <a:off x="3276220" y="5601324"/>
              <a:ext cx="6956033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TextBox 645">
            <a:extLst>
              <a:ext uri="{FF2B5EF4-FFF2-40B4-BE49-F238E27FC236}">
                <a16:creationId xmlns:a16="http://schemas.microsoft.com/office/drawing/2014/main" id="{BA67A81A-BD5B-9A25-A9D0-923CB858BE07}"/>
              </a:ext>
            </a:extLst>
          </p:cNvPr>
          <p:cNvSpPr txBox="1"/>
          <p:nvPr/>
        </p:nvSpPr>
        <p:spPr>
          <a:xfrm>
            <a:off x="3599185" y="5978549"/>
            <a:ext cx="615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통합과정에서 각 </a:t>
            </a:r>
            <a:r>
              <a:rPr lang="ko-KR" altLang="en-US" sz="1400" b="1" i="0" u="none" strike="noStrike" cap="none" dirty="0" err="1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모델별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불일치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회의를 통해 총 </a:t>
            </a:r>
            <a:r>
              <a:rPr lang="en-US" altLang="ko-KR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개의 </a:t>
            </a:r>
            <a:r>
              <a:rPr lang="en-US" altLang="ko-KR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통합 </a:t>
            </a:r>
            <a:endParaRPr lang="ko-KR" altLang="en-US" sz="1200" b="1" i="0" u="none" strike="noStrike" cap="none" dirty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7" name="Google Shape;419;p12">
            <a:extLst>
              <a:ext uri="{FF2B5EF4-FFF2-40B4-BE49-F238E27FC236}">
                <a16:creationId xmlns:a16="http://schemas.microsoft.com/office/drawing/2014/main" id="{4604EE1A-697D-5361-B260-82DE1CC86523}"/>
              </a:ext>
            </a:extLst>
          </p:cNvPr>
          <p:cNvCxnSpPr>
            <a:cxnSpLocks/>
          </p:cNvCxnSpPr>
          <p:nvPr/>
        </p:nvCxnSpPr>
        <p:spPr>
          <a:xfrm>
            <a:off x="3738439" y="6342967"/>
            <a:ext cx="507140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" name="Google Shape;220;p4">
            <a:extLst>
              <a:ext uri="{FF2B5EF4-FFF2-40B4-BE49-F238E27FC236}">
                <a16:creationId xmlns:a16="http://schemas.microsoft.com/office/drawing/2014/main" id="{1224508B-152A-1CA2-EE1A-099304BDC91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3;p4">
            <a:extLst>
              <a:ext uri="{FF2B5EF4-FFF2-40B4-BE49-F238E27FC236}">
                <a16:creationId xmlns:a16="http://schemas.microsoft.com/office/drawing/2014/main" id="{E0BCE5E2-0879-5719-B362-99CBEC86452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20272352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242;p4">
            <a:extLst>
              <a:ext uri="{FF2B5EF4-FFF2-40B4-BE49-F238E27FC236}">
                <a16:creationId xmlns:a16="http://schemas.microsoft.com/office/drawing/2014/main" id="{B55AA987-964D-FC2B-05F6-3C2A8FD1E5A2}"/>
              </a:ext>
            </a:extLst>
          </p:cNvPr>
          <p:cNvGrpSpPr/>
          <p:nvPr/>
        </p:nvGrpSpPr>
        <p:grpSpPr>
          <a:xfrm>
            <a:off x="748191" y="2512137"/>
            <a:ext cx="408282" cy="388046"/>
            <a:chOff x="450324" y="2128945"/>
            <a:chExt cx="889526" cy="845440"/>
          </a:xfrm>
        </p:grpSpPr>
        <p:sp>
          <p:nvSpPr>
            <p:cNvPr id="12" name="Google Shape;243;p4">
              <a:extLst>
                <a:ext uri="{FF2B5EF4-FFF2-40B4-BE49-F238E27FC236}">
                  <a16:creationId xmlns:a16="http://schemas.microsoft.com/office/drawing/2014/main" id="{29E562DD-3ECA-D53A-97B8-6FBF7FBE8B86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244;p4">
              <a:extLst>
                <a:ext uri="{FF2B5EF4-FFF2-40B4-BE49-F238E27FC236}">
                  <a16:creationId xmlns:a16="http://schemas.microsoft.com/office/drawing/2014/main" id="{794D9749-4377-61EE-B4B2-3685135FCF26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245;p4">
              <a:extLst>
                <a:ext uri="{FF2B5EF4-FFF2-40B4-BE49-F238E27FC236}">
                  <a16:creationId xmlns:a16="http://schemas.microsoft.com/office/drawing/2014/main" id="{C11C637F-1790-BFF5-A996-A979A1032138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702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252;p4">
            <a:extLst>
              <a:ext uri="{FF2B5EF4-FFF2-40B4-BE49-F238E27FC236}">
                <a16:creationId xmlns:a16="http://schemas.microsoft.com/office/drawing/2014/main" id="{F33B5E79-8620-6F21-3702-BD69A0624EA2}"/>
              </a:ext>
            </a:extLst>
          </p:cNvPr>
          <p:cNvGrpSpPr/>
          <p:nvPr/>
        </p:nvGrpSpPr>
        <p:grpSpPr>
          <a:xfrm>
            <a:off x="746144" y="3411394"/>
            <a:ext cx="418718" cy="380422"/>
            <a:chOff x="427587" y="2066948"/>
            <a:chExt cx="912263" cy="828829"/>
          </a:xfrm>
        </p:grpSpPr>
        <p:sp>
          <p:nvSpPr>
            <p:cNvPr id="16" name="Google Shape;253;p4">
              <a:extLst>
                <a:ext uri="{FF2B5EF4-FFF2-40B4-BE49-F238E27FC236}">
                  <a16:creationId xmlns:a16="http://schemas.microsoft.com/office/drawing/2014/main" id="{B8FEFCC9-5487-01BC-3740-42A2F3A7CC93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" name="Google Shape;254;p4">
              <a:extLst>
                <a:ext uri="{FF2B5EF4-FFF2-40B4-BE49-F238E27FC236}">
                  <a16:creationId xmlns:a16="http://schemas.microsoft.com/office/drawing/2014/main" id="{9D10AADD-871F-A528-9194-6551561A4850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255;p4">
              <a:extLst>
                <a:ext uri="{FF2B5EF4-FFF2-40B4-BE49-F238E27FC236}">
                  <a16:creationId xmlns:a16="http://schemas.microsoft.com/office/drawing/2014/main" id="{0D9F4D74-E186-7A0A-CC4A-CD146198F454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ko-KR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242;p4">
            <a:extLst>
              <a:ext uri="{FF2B5EF4-FFF2-40B4-BE49-F238E27FC236}">
                <a16:creationId xmlns:a16="http://schemas.microsoft.com/office/drawing/2014/main" id="{FF5D236C-E86D-0F38-86D9-7E66812D5E55}"/>
              </a:ext>
            </a:extLst>
          </p:cNvPr>
          <p:cNvGrpSpPr/>
          <p:nvPr/>
        </p:nvGrpSpPr>
        <p:grpSpPr>
          <a:xfrm>
            <a:off x="755806" y="4354476"/>
            <a:ext cx="408282" cy="351966"/>
            <a:chOff x="450324" y="2128945"/>
            <a:chExt cx="889526" cy="766832"/>
          </a:xfrm>
        </p:grpSpPr>
        <p:sp>
          <p:nvSpPr>
            <p:cNvPr id="20" name="Google Shape;243;p4">
              <a:extLst>
                <a:ext uri="{FF2B5EF4-FFF2-40B4-BE49-F238E27FC236}">
                  <a16:creationId xmlns:a16="http://schemas.microsoft.com/office/drawing/2014/main" id="{C6DB5CD0-1215-8C17-B809-2E9D59EC4F89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3378C8"/>
            </a:solidFill>
            <a:ln w="12700" cap="flat" cmpd="sng">
              <a:solidFill>
                <a:srgbClr val="3378C8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" name="Google Shape;244;p4">
              <a:extLst>
                <a:ext uri="{FF2B5EF4-FFF2-40B4-BE49-F238E27FC236}">
                  <a16:creationId xmlns:a16="http://schemas.microsoft.com/office/drawing/2014/main" id="{8BE60EB2-DBBE-FD2A-8D8C-85AC75F5FB8A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2069C2">
                    <a:alpha val="13333"/>
                  </a:srgbClr>
                </a:gs>
                <a:gs pos="69000">
                  <a:srgbClr val="FFFFFF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" name="Google Shape;245;p4">
              <a:extLst>
                <a:ext uri="{FF2B5EF4-FFF2-40B4-BE49-F238E27FC236}">
                  <a16:creationId xmlns:a16="http://schemas.microsoft.com/office/drawing/2014/main" id="{BAC17587-79D5-C9D4-732C-F7C97BFDA672}"/>
                </a:ext>
              </a:extLst>
            </p:cNvPr>
            <p:cNvSpPr txBox="1"/>
            <p:nvPr/>
          </p:nvSpPr>
          <p:spPr>
            <a:xfrm>
              <a:off x="616568" y="2271886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</a:rPr>
                <a:t>3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252;p4">
            <a:extLst>
              <a:ext uri="{FF2B5EF4-FFF2-40B4-BE49-F238E27FC236}">
                <a16:creationId xmlns:a16="http://schemas.microsoft.com/office/drawing/2014/main" id="{E8011535-06B5-679A-7580-541A928DC18A}"/>
              </a:ext>
            </a:extLst>
          </p:cNvPr>
          <p:cNvGrpSpPr/>
          <p:nvPr/>
        </p:nvGrpSpPr>
        <p:grpSpPr>
          <a:xfrm>
            <a:off x="766242" y="5299460"/>
            <a:ext cx="408282" cy="351966"/>
            <a:chOff x="450324" y="2128945"/>
            <a:chExt cx="889526" cy="766832"/>
          </a:xfrm>
        </p:grpSpPr>
        <p:sp>
          <p:nvSpPr>
            <p:cNvPr id="24" name="Google Shape;253;p4">
              <a:extLst>
                <a:ext uri="{FF2B5EF4-FFF2-40B4-BE49-F238E27FC236}">
                  <a16:creationId xmlns:a16="http://schemas.microsoft.com/office/drawing/2014/main" id="{E7FDCD35-0F6D-013B-00E8-D4A2240A6E60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D85C"/>
            </a:solidFill>
            <a:ln w="12700" cap="flat" cmpd="sng">
              <a:solidFill>
                <a:srgbClr val="FFD85C"/>
              </a:solidFill>
              <a:prstDash val="solid"/>
              <a:miter lim="8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" name="Google Shape;254;p4">
              <a:extLst>
                <a:ext uri="{FF2B5EF4-FFF2-40B4-BE49-F238E27FC236}">
                  <a16:creationId xmlns:a16="http://schemas.microsoft.com/office/drawing/2014/main" id="{7E089E8B-B7C4-084C-F347-40316DED5727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/>
              <a:ahLst/>
              <a:cxnLst/>
              <a:rect l="l" t="t" r="r" b="b"/>
              <a:pathLst>
                <a:path w="751712" h="766419" extrusionOk="0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0">
                  <a:srgbClr val="FFD85C">
                    <a:alpha val="38431"/>
                  </a:srgbClr>
                </a:gs>
                <a:gs pos="69000">
                  <a:srgbClr val="FFFFFF">
                    <a:alpha val="33333"/>
                  </a:srgbClr>
                </a:gs>
                <a:gs pos="100000">
                  <a:srgbClr val="FFFFFF">
                    <a:alpha val="33333"/>
                  </a:srgbClr>
                </a:gs>
              </a:gsLst>
              <a:lin ang="15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55;p4">
              <a:extLst>
                <a:ext uri="{FF2B5EF4-FFF2-40B4-BE49-F238E27FC236}">
                  <a16:creationId xmlns:a16="http://schemas.microsoft.com/office/drawing/2014/main" id="{8B90AE6A-8BAD-E825-4060-0AF36CD7450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</a:rPr>
                <a:t>4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8964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CA8B801A-ECDC-5ABC-7FC2-4B74669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8">
            <a:extLst>
              <a:ext uri="{FF2B5EF4-FFF2-40B4-BE49-F238E27FC236}">
                <a16:creationId xmlns:a16="http://schemas.microsoft.com/office/drawing/2014/main" id="{8E0941F3-FA5B-4291-BA10-288C3AE495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>
            <a:extLst>
              <a:ext uri="{FF2B5EF4-FFF2-40B4-BE49-F238E27FC236}">
                <a16:creationId xmlns:a16="http://schemas.microsoft.com/office/drawing/2014/main" id="{9DCE0C6E-B271-EF63-DCE2-43D6BDB3BC60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8">
            <a:extLst>
              <a:ext uri="{FF2B5EF4-FFF2-40B4-BE49-F238E27FC236}">
                <a16:creationId xmlns:a16="http://schemas.microsoft.com/office/drawing/2014/main" id="{2A00CBE4-3095-DD0C-A0F7-DC5D70A7611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8">
              <a:extLst>
                <a:ext uri="{FF2B5EF4-FFF2-40B4-BE49-F238E27FC236}">
                  <a16:creationId xmlns:a16="http://schemas.microsoft.com/office/drawing/2014/main" id="{8663374D-2FBD-8619-3C92-99A70CAF5D9A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8">
              <a:extLst>
                <a:ext uri="{FF2B5EF4-FFF2-40B4-BE49-F238E27FC236}">
                  <a16:creationId xmlns:a16="http://schemas.microsoft.com/office/drawing/2014/main" id="{E5644B60-7A18-9E40-3FD4-418C2617AA1A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altLang="en-US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lang="ko-KR" alt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>
              <a:extLst>
                <a:ext uri="{FF2B5EF4-FFF2-40B4-BE49-F238E27FC236}">
                  <a16:creationId xmlns:a16="http://schemas.microsoft.com/office/drawing/2014/main" id="{B6D2A51A-2D8B-36DB-BCBE-EA9E50735C7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8">
            <a:extLst>
              <a:ext uri="{FF2B5EF4-FFF2-40B4-BE49-F238E27FC236}">
                <a16:creationId xmlns:a16="http://schemas.microsoft.com/office/drawing/2014/main" id="{6107451D-3307-3023-A80A-C920CFF5AA3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>
            <a:extLst>
              <a:ext uri="{FF2B5EF4-FFF2-40B4-BE49-F238E27FC236}">
                <a16:creationId xmlns:a16="http://schemas.microsoft.com/office/drawing/2014/main" id="{808915D3-42B2-BC3C-5E7C-0E88758F3D2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8">
            <a:extLst>
              <a:ext uri="{FF2B5EF4-FFF2-40B4-BE49-F238E27FC236}">
                <a16:creationId xmlns:a16="http://schemas.microsoft.com/office/drawing/2014/main" id="{FF76297B-FBBE-F7B5-0793-32E6443C2718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684" name="Google Shape;684;p8">
              <a:extLst>
                <a:ext uri="{FF2B5EF4-FFF2-40B4-BE49-F238E27FC236}">
                  <a16:creationId xmlns:a16="http://schemas.microsoft.com/office/drawing/2014/main" id="{133F792F-A52C-A0A6-A619-A61A2ABA5626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기능 통합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8">
              <a:extLst>
                <a:ext uri="{FF2B5EF4-FFF2-40B4-BE49-F238E27FC236}">
                  <a16:creationId xmlns:a16="http://schemas.microsoft.com/office/drawing/2014/main" id="{2C989BE6-07AF-6C65-7221-D66F6B425348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87" name="Google Shape;687;p8">
            <a:extLst>
              <a:ext uri="{FF2B5EF4-FFF2-40B4-BE49-F238E27FC236}">
                <a16:creationId xmlns:a16="http://schemas.microsoft.com/office/drawing/2014/main" id="{10A306F3-8A83-2788-1D82-E851C69EE576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8">
            <a:extLst>
              <a:ext uri="{FF2B5EF4-FFF2-40B4-BE49-F238E27FC236}">
                <a16:creationId xmlns:a16="http://schemas.microsoft.com/office/drawing/2014/main" id="{006DE6AE-069F-F6D5-7B35-C8064B56C9CD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89" name="Google Shape;689;p8" descr="EMB0000378c3f3d">
              <a:extLst>
                <a:ext uri="{FF2B5EF4-FFF2-40B4-BE49-F238E27FC236}">
                  <a16:creationId xmlns:a16="http://schemas.microsoft.com/office/drawing/2014/main" id="{EB05FA0A-DED9-0346-85CB-822F6A54836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8">
              <a:extLst>
                <a:ext uri="{FF2B5EF4-FFF2-40B4-BE49-F238E27FC236}">
                  <a16:creationId xmlns:a16="http://schemas.microsoft.com/office/drawing/2014/main" id="{FAB9E468-FB82-A734-560D-97DD312EFA9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8">
            <a:extLst>
              <a:ext uri="{FF2B5EF4-FFF2-40B4-BE49-F238E27FC236}">
                <a16:creationId xmlns:a16="http://schemas.microsoft.com/office/drawing/2014/main" id="{891D69C0-3963-4168-6C1D-1B441807D988}"/>
              </a:ext>
            </a:extLst>
          </p:cNvPr>
          <p:cNvSpPr txBox="1"/>
          <p:nvPr/>
        </p:nvSpPr>
        <p:spPr>
          <a:xfrm>
            <a:off x="841771" y="2154432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프로젝트 기능 구성도</a:t>
            </a:r>
            <a:endParaRPr lang="ko-KR" alt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" name="Google Shape;445;p7">
            <a:extLst>
              <a:ext uri="{FF2B5EF4-FFF2-40B4-BE49-F238E27FC236}">
                <a16:creationId xmlns:a16="http://schemas.microsoft.com/office/drawing/2014/main" id="{A1833BFE-6DF7-CC51-E039-236837B7D32C}"/>
              </a:ext>
            </a:extLst>
          </p:cNvPr>
          <p:cNvGrpSpPr/>
          <p:nvPr/>
        </p:nvGrpSpPr>
        <p:grpSpPr>
          <a:xfrm>
            <a:off x="889811" y="5961422"/>
            <a:ext cx="9751481" cy="598712"/>
            <a:chOff x="2857501" y="5534844"/>
            <a:chExt cx="8902656" cy="673099"/>
          </a:xfrm>
        </p:grpSpPr>
        <p:sp>
          <p:nvSpPr>
            <p:cNvPr id="7" name="Google Shape;446;p7">
              <a:extLst>
                <a:ext uri="{FF2B5EF4-FFF2-40B4-BE49-F238E27FC236}">
                  <a16:creationId xmlns:a16="http://schemas.microsoft.com/office/drawing/2014/main" id="{1BB8C272-F2E2-0EC9-1700-C64DB46B98FE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451;p7">
              <a:extLst>
                <a:ext uri="{FF2B5EF4-FFF2-40B4-BE49-F238E27FC236}">
                  <a16:creationId xmlns:a16="http://schemas.microsoft.com/office/drawing/2014/main" id="{D9758975-5D85-2ACB-1FC9-4D686A1F2CF3}"/>
                </a:ext>
              </a:extLst>
            </p:cNvPr>
            <p:cNvSpPr txBox="1"/>
            <p:nvPr/>
          </p:nvSpPr>
          <p:spPr>
            <a:xfrm>
              <a:off x="3276220" y="5601324"/>
              <a:ext cx="6956033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TextBox 645">
            <a:extLst>
              <a:ext uri="{FF2B5EF4-FFF2-40B4-BE49-F238E27FC236}">
                <a16:creationId xmlns:a16="http://schemas.microsoft.com/office/drawing/2014/main" id="{C2C6E1DE-AC79-C1D9-266C-874DC72E544F}"/>
              </a:ext>
            </a:extLst>
          </p:cNvPr>
          <p:cNvSpPr txBox="1"/>
          <p:nvPr/>
        </p:nvSpPr>
        <p:spPr>
          <a:xfrm>
            <a:off x="3717170" y="5978549"/>
            <a:ext cx="615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후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과정에서 출력 이슈</a:t>
            </a:r>
            <a:endParaRPr lang="ko-KR" altLang="en-US" sz="1400" b="1" i="0" u="none" strike="noStrike" cap="none" dirty="0">
              <a:solidFill>
                <a:srgbClr val="8DA9D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 </a:t>
            </a:r>
            <a:r>
              <a:rPr lang="ko-KR" altLang="en-US" sz="1200" b="1" i="0" u="none" strike="noStrike" cap="none" dirty="0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출력값과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다른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값이 나와 출력형식 조정</a:t>
            </a:r>
            <a:endParaRPr lang="ko-KR" altLang="en-US" sz="1200" b="1" i="0" u="none" strike="noStrike" cap="none" dirty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7" name="Google Shape;419;p12">
            <a:extLst>
              <a:ext uri="{FF2B5EF4-FFF2-40B4-BE49-F238E27FC236}">
                <a16:creationId xmlns:a16="http://schemas.microsoft.com/office/drawing/2014/main" id="{20EB986F-61F0-444F-AD08-E3EB3C685701}"/>
              </a:ext>
            </a:extLst>
          </p:cNvPr>
          <p:cNvCxnSpPr>
            <a:cxnSpLocks/>
          </p:cNvCxnSpPr>
          <p:nvPr/>
        </p:nvCxnSpPr>
        <p:spPr>
          <a:xfrm>
            <a:off x="3856424" y="6342967"/>
            <a:ext cx="507140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F91F841-8D02-C075-0BE2-F803347EA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71" y="2540143"/>
            <a:ext cx="3932692" cy="3026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C48CA1-BA0C-A5DB-1055-5F86AD543CFE}"/>
              </a:ext>
            </a:extLst>
          </p:cNvPr>
          <p:cNvSpPr txBox="1"/>
          <p:nvPr/>
        </p:nvSpPr>
        <p:spPr>
          <a:xfrm>
            <a:off x="5608235" y="2457836"/>
            <a:ext cx="477646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oworld_openai_pipeline.py</a:t>
            </a:r>
          </a:p>
          <a:p>
            <a:pPr>
              <a:buSzPts val="1400"/>
            </a:pP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외부 데이터 수집</a:t>
            </a:r>
            <a:r>
              <a:rPr lang="en-US" altLang="ko-K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날짜</a:t>
            </a:r>
            <a:r>
              <a:rPr lang="en-US" altLang="ko-KR" sz="1200" dirty="0"/>
              <a:t>·</a:t>
            </a:r>
            <a:r>
              <a:rPr lang="ko-KR" altLang="en-US" sz="1200" dirty="0"/>
              <a:t>날씨 </a:t>
            </a:r>
            <a:r>
              <a:rPr lang="ko-KR" altLang="en-US" sz="1200" dirty="0" err="1"/>
              <a:t>전처리</a:t>
            </a:r>
            <a:r>
              <a:rPr lang="en-US" altLang="ko-KR" sz="1200" dirty="0"/>
              <a:t>,</a:t>
            </a:r>
            <a:r>
              <a:rPr lang="ko-KR" altLang="en-US" sz="1200" dirty="0"/>
              <a:t> 모델 서비스 호출</a:t>
            </a:r>
            <a:r>
              <a:rPr lang="en-US" altLang="ko-KR" sz="1200" dirty="0"/>
              <a:t>, </a:t>
            </a:r>
          </a:p>
          <a:p>
            <a:pPr>
              <a:buSzPts val="1400"/>
            </a:pPr>
            <a:r>
              <a:rPr lang="ko-KR" altLang="en-US" sz="1200" dirty="0"/>
              <a:t>공지사항 결합</a:t>
            </a:r>
            <a:r>
              <a:rPr lang="en-US" altLang="ko-KR" sz="1200" dirty="0"/>
              <a:t>, UI </a:t>
            </a:r>
            <a:r>
              <a:rPr lang="ko-KR" altLang="en-US" sz="1200" dirty="0"/>
              <a:t>출력 생성</a:t>
            </a:r>
            <a:endParaRPr lang="en-US" altLang="ko-KR" sz="1200" dirty="0"/>
          </a:p>
          <a:p>
            <a:pPr>
              <a:buSzPts val="1400"/>
            </a:pPr>
            <a:endParaRPr lang="en-US" altLang="ko-KR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ml_service.py</a:t>
            </a:r>
          </a:p>
          <a:p>
            <a:pPr>
              <a:buSzPts val="1400"/>
            </a:pP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모델 입력 검증</a:t>
            </a:r>
            <a:r>
              <a:rPr lang="en-US" altLang="ko-K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/>
              <a:t>모델을 실행해 값 도출</a:t>
            </a:r>
            <a:r>
              <a:rPr lang="en-US" altLang="ko-KR" sz="1200" dirty="0"/>
              <a:t>, </a:t>
            </a:r>
            <a:r>
              <a:rPr lang="ko-KR" altLang="en-US" sz="1200" dirty="0"/>
              <a:t>이용자 점수</a:t>
            </a:r>
            <a:r>
              <a:rPr lang="en-US" altLang="ko-KR" sz="1200" dirty="0"/>
              <a:t>·</a:t>
            </a:r>
            <a:r>
              <a:rPr lang="ko-KR" altLang="en-US" sz="1200" dirty="0"/>
              <a:t>날씨 점수 계산</a:t>
            </a:r>
            <a:r>
              <a:rPr lang="en-US" altLang="ko-KR" sz="1200" dirty="0"/>
              <a:t>, </a:t>
            </a: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 결과 반환</a:t>
            </a:r>
            <a:endParaRPr lang="en-US" altLang="ko-KR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dirty="0"/>
          </a:p>
          <a:p>
            <a:pPr>
              <a:buSzPts val="1400"/>
            </a:pPr>
            <a:r>
              <a:rPr lang="en-US" altLang="ko-KR" sz="1200" b="1" dirty="0"/>
              <a:t>- weather.py, notice.py</a:t>
            </a:r>
          </a:p>
          <a:p>
            <a:pPr>
              <a:buSzPts val="1400"/>
            </a:pPr>
            <a:r>
              <a:rPr lang="ko-KR" altLang="en-US" sz="1200" dirty="0"/>
              <a:t> </a:t>
            </a:r>
            <a:r>
              <a:rPr lang="ko-KR" altLang="en-US" sz="1200" dirty="0" err="1"/>
              <a:t>오월드</a:t>
            </a:r>
            <a:r>
              <a:rPr lang="ko-KR" altLang="en-US" sz="1200" dirty="0"/>
              <a:t> 위치의 실제 날씨와 공지를 수집하고 파이프라인에 전달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dirty="0"/>
              <a:t>- visitor_score.py, weather_score.py</a:t>
            </a:r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예상 방문객 수와 기온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강수확률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습도를 각각 추천 점수로 변환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visitor_estimation_model.cbm</a:t>
            </a: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catboost_classifier.cbm</a:t>
            </a:r>
            <a:endParaRPr lang="en-US" altLang="ko-KR" sz="1200" b="1" dirty="0"/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예상 방문객 수를 출력하는 학습모델과</a:t>
            </a:r>
            <a:r>
              <a:rPr lang="en-US" altLang="ko-KR" sz="1200" dirty="0"/>
              <a:t> </a:t>
            </a:r>
            <a:r>
              <a:rPr lang="ko-KR" altLang="en-US" sz="1200" dirty="0"/>
              <a:t>그 혼잡도를 계산하는 모델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1187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1" name="Google Shape;451;p3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2" name="Google Shape;452;p3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3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3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458" name="Google Shape;458;p3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 ① 메인 화면 구성과 핵심 기능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0" name="Google Shape;460;p30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UI 팀 : 구현 결과</a:t>
            </a:r>
            <a:endParaRPr sz="1400" b="1" i="0" u="none" strike="noStrike" cap="non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3" name="Google Shape;463;p30" descr="EMB0000378c3f3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7" name="Rounded Rectangle 466"/>
          <p:cNvSpPr/>
          <p:nvPr/>
        </p:nvSpPr>
        <p:spPr>
          <a:xfrm>
            <a:off x="7571231" y="2304288"/>
            <a:ext cx="4123944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7790688" y="2505456"/>
            <a:ext cx="292608" cy="292608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8193023" y="2478024"/>
            <a:ext cx="328269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향후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10일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예측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추이</a:t>
            </a:r>
            <a:endParaRPr sz="1300">
              <a:solidFill>
                <a:srgbClr val="3F3F3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</a:endParaRPr>
          </a:p>
        </p:txBody>
      </p:sp>
      <p:sp>
        <p:nvSpPr>
          <p:cNvPr id="470" name="TextBox 469"/>
          <p:cNvSpPr txBox="1"/>
          <p:nvPr/>
        </p:nvSpPr>
        <p:spPr>
          <a:xfrm>
            <a:off x="8193023" y="2761488"/>
            <a:ext cx="3282696" cy="424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막대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색으로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</a:t>
            </a:r>
            <a:r>
              <a:rPr sz="1100" b="0" err="1">
                <a:solidFill>
                  <a:srgbClr val="8BBB96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여유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E1B07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보통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CE4C3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)를,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파란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테두리로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추천일을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구분한다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1" name="Rounded Rectangle 470"/>
          <p:cNvSpPr/>
          <p:nvPr/>
        </p:nvSpPr>
        <p:spPr>
          <a:xfrm>
            <a:off x="7571231" y="3374136"/>
            <a:ext cx="4123944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7790688" y="3575304"/>
            <a:ext cx="292608" cy="292608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8193023" y="3547872"/>
            <a:ext cx="3282696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날짜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선택</a:t>
            </a:r>
            <a:endParaRPr sz="1300">
              <a:solidFill>
                <a:srgbClr val="3F3F3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</a:endParaRPr>
          </a:p>
        </p:txBody>
      </p:sp>
      <p:sp>
        <p:nvSpPr>
          <p:cNvPr id="474" name="TextBox 473"/>
          <p:cNvSpPr txBox="1"/>
          <p:nvPr/>
        </p:nvSpPr>
        <p:spPr>
          <a:xfrm>
            <a:off x="8193023" y="3831335"/>
            <a:ext cx="3282696" cy="424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막대를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클릭하면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예상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입장객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혼잡도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날씨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기온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강수확률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습도가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즉시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갱신된다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7571231" y="4443983"/>
            <a:ext cx="4123944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7790688" y="4645151"/>
            <a:ext cx="292608" cy="292608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8193023" y="4617720"/>
            <a:ext cx="3282696" cy="223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추천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사이드바</a:t>
            </a:r>
            <a:endParaRPr sz="1300">
              <a:solidFill>
                <a:srgbClr val="3F3F3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</a:endParaRPr>
          </a:p>
        </p:txBody>
      </p:sp>
      <p:sp>
        <p:nvSpPr>
          <p:cNvPr id="478" name="TextBox 477"/>
          <p:cNvSpPr txBox="1"/>
          <p:nvPr/>
        </p:nvSpPr>
        <p:spPr>
          <a:xfrm>
            <a:off x="8193023" y="4901183"/>
            <a:ext cx="3282696" cy="424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최종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카드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점수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상세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날씨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한산함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종합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),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다음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후보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3건을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함께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제공한다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9" name="Rounded Rectangle 478"/>
          <p:cNvSpPr/>
          <p:nvPr/>
        </p:nvSpPr>
        <p:spPr>
          <a:xfrm>
            <a:off x="7571231" y="5513831"/>
            <a:ext cx="4123944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7790688" y="5714999"/>
            <a:ext cx="292608" cy="292608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8193023" y="5687568"/>
            <a:ext cx="3282696" cy="223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축제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·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행사</a:t>
            </a:r>
            <a:r>
              <a:rPr sz="13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300" err="1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공지</a:t>
            </a:r>
            <a:endParaRPr sz="1300">
              <a:solidFill>
                <a:srgbClr val="3F3F3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"/>
            </a:endParaRPr>
          </a:p>
        </p:txBody>
      </p:sp>
      <p:sp>
        <p:nvSpPr>
          <p:cNvPr id="482" name="TextBox 481"/>
          <p:cNvSpPr txBox="1"/>
          <p:nvPr/>
        </p:nvSpPr>
        <p:spPr>
          <a:xfrm>
            <a:off x="8193023" y="5971031"/>
            <a:ext cx="3282696" cy="424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오월드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게시판을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크롤링해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방문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전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점검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축제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안내를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사이드바에서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확인한다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8D69EF-7ED5-9C51-5192-D4F14E2FF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730" y="2393678"/>
            <a:ext cx="6893771" cy="41310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1" name="Google Shape;451;p3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2" name="Google Shape;452;p3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3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3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458" name="Google Shape;458;p3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과정 ② 데이터 흐름 — 수신 · 캐시 · 계산 · 렌더링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0" name="Google Shape;460;p30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UI 팀 : 구현 과정</a:t>
            </a:r>
            <a:endParaRPr sz="1400" b="1" i="0" u="none" strike="noStrike" cap="non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3" name="Google Shape;463;p30" descr="EMB0000378c3f3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Rounded Rectangle 464"/>
          <p:cNvSpPr/>
          <p:nvPr/>
        </p:nvSpPr>
        <p:spPr>
          <a:xfrm>
            <a:off x="539496" y="2267712"/>
            <a:ext cx="11155680" cy="365760"/>
          </a:xfrm>
          <a:prstGeom prst="roundRect">
            <a:avLst>
              <a:gd name="adj" fmla="val 12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6" name="TextBox 465"/>
          <p:cNvSpPr txBox="1"/>
          <p:nvPr/>
        </p:nvSpPr>
        <p:spPr>
          <a:xfrm>
            <a:off x="740664" y="2346781"/>
            <a:ext cx="10753344" cy="2076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Streamlit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은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조작이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있을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때마다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스크립트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전체를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다시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실행한다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.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따라서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수신부에는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반드시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캐시를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걸고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,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느린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작업은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뒤로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 </a:t>
            </a:r>
            <a:r>
              <a:rPr sz="125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미룬다</a:t>
            </a:r>
            <a:r>
              <a:rPr sz="125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.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539496" y="2724912"/>
            <a:ext cx="258775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8" name="Rounded Rectangle 467"/>
          <p:cNvSpPr/>
          <p:nvPr/>
        </p:nvSpPr>
        <p:spPr>
          <a:xfrm>
            <a:off x="539496" y="4818888"/>
            <a:ext cx="2587752" cy="118872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1659636" y="2926080"/>
            <a:ext cx="347472" cy="347472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722376" y="3364991"/>
            <a:ext cx="2221992" cy="249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수신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722376" y="3657600"/>
            <a:ext cx="2221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data_provider.py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777240" y="3950208"/>
            <a:ext cx="2112264" cy="653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기상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API · ML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회귀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/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분류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)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크롤링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결과를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받아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UI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수신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스키마로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정규화한다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3127248" y="3685031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CED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474" name="Rounded Rectangle 473"/>
          <p:cNvSpPr/>
          <p:nvPr/>
        </p:nvSpPr>
        <p:spPr>
          <a:xfrm>
            <a:off x="3383280" y="2724912"/>
            <a:ext cx="258775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5" name="Rounded Rectangle 474"/>
          <p:cNvSpPr/>
          <p:nvPr/>
        </p:nvSpPr>
        <p:spPr>
          <a:xfrm>
            <a:off x="3383280" y="4818888"/>
            <a:ext cx="2587752" cy="11887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4503420" y="2926080"/>
            <a:ext cx="347472" cy="3474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3566160" y="3364991"/>
            <a:ext cx="2221992" cy="249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캐시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3566160" y="3657600"/>
            <a:ext cx="2221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app.py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3621024" y="3950208"/>
            <a:ext cx="2112264" cy="653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st.cache_data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(persist="disk") 로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저장하고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1시간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6시간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주기로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갱신한다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5971032" y="3685031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CED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6227064" y="2724912"/>
            <a:ext cx="258775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2" name="Rounded Rectangle 481"/>
          <p:cNvSpPr/>
          <p:nvPr/>
        </p:nvSpPr>
        <p:spPr>
          <a:xfrm>
            <a:off x="6227064" y="4818888"/>
            <a:ext cx="2587752" cy="118872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7347204" y="2926080"/>
            <a:ext cx="347472" cy="347472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6409944" y="3364991"/>
            <a:ext cx="2221992" cy="249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계산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6409944" y="3657600"/>
            <a:ext cx="2221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app.py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6464808" y="3950208"/>
            <a:ext cx="2112264" cy="653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선호도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가중치로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날짜별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최종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점수를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매기고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정렬해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추천일과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다음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후보를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정한다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8814816" y="3685031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CEDC"/>
                </a:solidFill>
                <a:latin typeface="Malgun Gothic"/>
                <a:ea typeface="Malgun Gothic"/>
                <a:cs typeface="Malgun Gothic"/>
              </a:rPr>
              <a:t>▶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9070848" y="2724912"/>
            <a:ext cx="2587752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9" name="Rounded Rectangle 488"/>
          <p:cNvSpPr/>
          <p:nvPr/>
        </p:nvSpPr>
        <p:spPr>
          <a:xfrm>
            <a:off x="9070848" y="4818888"/>
            <a:ext cx="2587752" cy="11887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10190988" y="2926080"/>
            <a:ext cx="347472" cy="34747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9253728" y="3364991"/>
            <a:ext cx="2221992" cy="249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F3F3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"/>
              </a:rPr>
              <a:t>렌더링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253728" y="3657600"/>
            <a:ext cx="2221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app.py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9308592" y="3950208"/>
            <a:ext cx="2112264" cy="653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그래프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지표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·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카드를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먼저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그리고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스크립트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맨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끝에서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공지를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받아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채운다</a:t>
            </a:r>
            <a:r>
              <a:rPr sz="110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94" name="Rounded Rectangle 493"/>
          <p:cNvSpPr/>
          <p:nvPr/>
        </p:nvSpPr>
        <p:spPr>
          <a:xfrm>
            <a:off x="539496" y="5102352"/>
            <a:ext cx="6858000" cy="1325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5" name="TextBox 494"/>
          <p:cNvSpPr txBox="1"/>
          <p:nvPr/>
        </p:nvSpPr>
        <p:spPr>
          <a:xfrm>
            <a:off x="777240" y="524865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구현 과정에서 함께 정한 규칙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777240" y="5559552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진입은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오늘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슬라이더를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움직이면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추천일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막대를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누르면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그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날짜</a:t>
            </a:r>
            <a:endParaRPr sz="1050" b="0">
              <a:solidFill>
                <a:srgbClr val="3A3838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예보를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받지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못한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날은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추천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후보에서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빼고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그래프에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'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예보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없음'으로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sz="1050" b="0">
              <a:solidFill>
                <a:srgbClr val="3A3838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색 ·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폰트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규칙은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theme.py 로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빼내고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모르는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라벨은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기본색으로</a:t>
            </a:r>
            <a:r>
              <a:rPr sz="10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처리</a:t>
            </a:r>
            <a:endParaRPr sz="1050" b="0">
              <a:solidFill>
                <a:srgbClr val="3A383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DFDD9D-670C-729C-9F30-4B43F8973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588" y="5099603"/>
            <a:ext cx="4244310" cy="13380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1" name="Google Shape;451;p3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2" name="Google Shape;452;p3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3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3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458" name="Google Shape;458;p3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과정 ③ 사용자 선호도 기반 추천 로직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0" name="Google Shape;460;p30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UI 팀 : 구현 과정</a:t>
            </a:r>
            <a:endParaRPr sz="1400" b="1" i="0" u="none" strike="noStrike" cap="non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3" name="Google Shape;463;p30" descr="EMB0000378c3f3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Rounded Rectangle 464"/>
          <p:cNvSpPr/>
          <p:nvPr/>
        </p:nvSpPr>
        <p:spPr>
          <a:xfrm>
            <a:off x="539496" y="2286000"/>
            <a:ext cx="11155680" cy="1078992"/>
          </a:xfrm>
          <a:prstGeom prst="roundRect">
            <a:avLst>
              <a:gd name="adj" fmla="val 5000"/>
            </a:avLst>
          </a:prstGeom>
          <a:solidFill>
            <a:srgbClr val="FCFDFE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6" name="Rounded Rectangle 465"/>
          <p:cNvSpPr/>
          <p:nvPr/>
        </p:nvSpPr>
        <p:spPr>
          <a:xfrm>
            <a:off x="539496" y="2377440"/>
            <a:ext cx="54864" cy="896112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Box 466"/>
              <p:cNvSpPr txBox="1"/>
              <p:nvPr/>
            </p:nvSpPr>
            <p:spPr>
              <a:xfrm>
                <a:off x="822960" y="2465590"/>
                <a:ext cx="10607040" cy="7198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700" b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최종 </a:t>
                </a:r>
                <a:r>
                  <a:rPr lang="ko-KR" altLang="en-US" sz="1700" b="1" err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점수</a:t>
                </a:r>
                <a:r>
                  <a:rPr lang="ko-KR" altLang="en-US" sz="1700" b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en-US" altLang="ko-KR" sz="1700" b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= </a:t>
                </a:r>
                <a:r>
                  <a:rPr lang="ko-KR" altLang="en-US" sz="1700" b="1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</a:rPr>
                  <a:t>날씨</a:t>
                </a:r>
                <a:r>
                  <a:rPr lang="ko-KR" altLang="en-US" sz="1700" b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en-US" altLang="ko-KR" sz="1700" b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</a:rPr>
                  <a:t>Score × </a:t>
                </a:r>
                <a:r>
                  <a:rPr lang="ko-KR" altLang="en-US" sz="1700" b="1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</a:rPr>
                  <a:t>날씨</a:t>
                </a:r>
                <a:r>
                  <a:rPr lang="ko-KR" altLang="en-US" sz="1700" b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</a:rPr>
                  <a:t> 가중치</a:t>
                </a:r>
                <a:r>
                  <a:rPr lang="ko-KR" altLang="en-US" sz="1700" b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en-US" altLang="ko-KR" sz="1700" b="1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</a:rPr>
                  <a:t>+ </a:t>
                </a:r>
                <a:r>
                  <a:rPr lang="ko-KR" altLang="en-US" sz="1700" b="1" err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이용자</a:t>
                </a:r>
                <a:r>
                  <a:rPr lang="ko-KR" altLang="en-US" sz="1700" b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en-US" altLang="ko-KR" sz="1700" b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Score × </a:t>
                </a:r>
                <a:r>
                  <a:rPr lang="ko-KR" altLang="en-US" sz="1700" b="1" err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한산함</a:t>
                </a:r>
                <a:r>
                  <a:rPr lang="ko-KR" altLang="en-US" sz="1700" b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ko-KR" altLang="en-US" sz="1700" b="1" err="1">
                    <a:solidFill>
                      <a:srgbClr val="FFC000"/>
                    </a:solidFill>
                    <a:latin typeface="Malgun Gothic"/>
                    <a:ea typeface="Malgun Gothic"/>
                    <a:cs typeface="Malgun Gothic"/>
                  </a:rPr>
                  <a:t>가중치</a:t>
                </a:r>
                <a:endParaRPr lang="ko-KR" altLang="en-US" sz="1700" b="1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ko-KR" alt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슬라이더</a:t>
                </a:r>
                <a:r>
                  <a:rPr lang="en-US" altLang="ko-KR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(0~10)</a:t>
                </a:r>
                <a:r>
                  <a:rPr lang="ko-KR" alt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를 통해 날씨 가중치와 한산함 가중치 계산 </a:t>
                </a:r>
                <a:r>
                  <a:rPr lang="en-US" altLang="ko-KR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(</a:t>
                </a:r>
                <a:r>
                  <a:rPr lang="ko-KR" alt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입력값 </a:t>
                </a:r>
                <a:r>
                  <a:rPr lang="en-US" altLang="ko-KR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= </a:t>
                </a:r>
                <a:r>
                  <a:rPr lang="en-US" altLang="ko-KR" sz="115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ω</a:t>
                </a:r>
                <a:r>
                  <a:rPr lang="ko-KR" altLang="en-US" sz="115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일 때</a:t>
                </a:r>
                <a:r>
                  <a:rPr lang="en-US" altLang="ko-KR" sz="115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,</a:t>
                </a:r>
                <a:r>
                  <a:rPr lang="ko-KR" altLang="en-US" sz="115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 날씨 가중치 </a:t>
                </a:r>
                <a:r>
                  <a:rPr lang="en-US" altLang="ko-KR" sz="115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=</a:t>
                </a:r>
                <a:r>
                  <a:rPr lang="ko-KR" alt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5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</m:ctrlPr>
                      </m:fPr>
                      <m:num>
                        <m:r>
                          <a:rPr lang="ko-KR" altLang="en-US" sz="115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𝜔</m:t>
                        </m:r>
                      </m:num>
                      <m:den>
                        <m:r>
                          <a:rPr lang="en-US" altLang="ko-KR" sz="115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 , </a:t>
                </a:r>
                <a:r>
                  <a:rPr lang="ko-KR" altLang="en-US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한산함 가중치 </a:t>
                </a:r>
                <a:r>
                  <a:rPr lang="en-US" altLang="ko-KR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5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</m:ctrlPr>
                      </m:fPr>
                      <m:num>
                        <m:r>
                          <a:rPr lang="en-US" altLang="ko-KR" sz="1150" b="0" i="1" smtClean="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10−</m:t>
                        </m:r>
                        <m:r>
                          <a:rPr lang="ko-KR" altLang="en-US" sz="115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𝜔</m:t>
                        </m:r>
                      </m:num>
                      <m:den>
                        <m:r>
                          <a:rPr lang="en-US" altLang="ko-KR" sz="115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  <a:ea typeface="Malgun Gothic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altLang="ko-KR" sz="1150" b="0">
                    <a:solidFill>
                      <a:srgbClr val="595959"/>
                    </a:solidFill>
                    <a:latin typeface="Malgun Gothic"/>
                    <a:ea typeface="Malgun Gothic"/>
                    <a:cs typeface="Malgun Gothic"/>
                  </a:rPr>
                  <a:t> ) </a:t>
                </a:r>
                <a:endParaRPr sz="1150" b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endParaRPr>
              </a:p>
            </p:txBody>
          </p:sp>
        </mc:Choice>
        <mc:Fallback>
          <p:sp>
            <p:nvSpPr>
              <p:cNvPr id="467" name="TextBox 4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465590"/>
                <a:ext cx="10607040" cy="719812"/>
              </a:xfrm>
              <a:prstGeom prst="rect">
                <a:avLst/>
              </a:prstGeom>
              <a:blipFill>
                <a:blip r:embed="rId6"/>
                <a:stretch>
                  <a:fillRect l="-1207" t="-3361" b="-42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" name="Rounded Rectangle 467"/>
          <p:cNvSpPr/>
          <p:nvPr/>
        </p:nvSpPr>
        <p:spPr>
          <a:xfrm>
            <a:off x="539496" y="3584448"/>
            <a:ext cx="3602736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9" name="Rounded Rectangle 468"/>
          <p:cNvSpPr/>
          <p:nvPr/>
        </p:nvSpPr>
        <p:spPr>
          <a:xfrm>
            <a:off x="539496" y="3584448"/>
            <a:ext cx="54864" cy="138988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0" name="TextBox 469"/>
          <p:cNvSpPr txBox="1"/>
          <p:nvPr/>
        </p:nvSpPr>
        <p:spPr>
          <a:xfrm>
            <a:off x="813815" y="3785615"/>
            <a:ext cx="3099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← 한산한 날 우선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813815" y="4087368"/>
            <a:ext cx="3099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슬라이더 0~3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813815" y="4361688"/>
            <a:ext cx="309981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비가 오거나 덥고 추워도 사람이 적은 날을 먼저 추천한다.</a:t>
            </a:r>
          </a:p>
        </p:txBody>
      </p:sp>
      <p:sp>
        <p:nvSpPr>
          <p:cNvPr id="473" name="Rounded Rectangle 472"/>
          <p:cNvSpPr/>
          <p:nvPr/>
        </p:nvSpPr>
        <p:spPr>
          <a:xfrm>
            <a:off x="4315968" y="3584448"/>
            <a:ext cx="3602736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4" name="Rounded Rectangle 473"/>
          <p:cNvSpPr/>
          <p:nvPr/>
        </p:nvSpPr>
        <p:spPr>
          <a:xfrm>
            <a:off x="4315968" y="3584448"/>
            <a:ext cx="54864" cy="1389888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5" name="TextBox 474"/>
          <p:cNvSpPr txBox="1"/>
          <p:nvPr/>
        </p:nvSpPr>
        <p:spPr>
          <a:xfrm>
            <a:off x="4590288" y="3785615"/>
            <a:ext cx="3099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균형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4590288" y="4087368"/>
            <a:ext cx="3099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기본값 5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4590288" y="4361688"/>
            <a:ext cx="309981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날씨와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혼잡도를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50 : 50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으로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반영해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무난한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날을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고른다</a:t>
            </a: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78" name="Rounded Rectangle 477"/>
          <p:cNvSpPr/>
          <p:nvPr/>
        </p:nvSpPr>
        <p:spPr>
          <a:xfrm>
            <a:off x="8092440" y="3584448"/>
            <a:ext cx="3602736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9" name="Rounded Rectangle 478"/>
          <p:cNvSpPr/>
          <p:nvPr/>
        </p:nvSpPr>
        <p:spPr>
          <a:xfrm>
            <a:off x="8092440" y="3584448"/>
            <a:ext cx="54864" cy="1389888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0" name="TextBox 479"/>
          <p:cNvSpPr txBox="1"/>
          <p:nvPr/>
        </p:nvSpPr>
        <p:spPr>
          <a:xfrm>
            <a:off x="8366760" y="3785615"/>
            <a:ext cx="3099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좋은 날씨 우선 →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8366760" y="4087368"/>
            <a:ext cx="3099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슬라이더 7~10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8366760" y="4361688"/>
            <a:ext cx="309981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사람이 많아도 쾌적하고 비가 오지 않는 날을 먼저 추천한다.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539496" y="6455663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A8290"/>
                </a:solidFill>
                <a:latin typeface="Malgun Gothic"/>
                <a:ea typeface="Malgun Gothic"/>
                <a:cs typeface="Malgun Gothic"/>
              </a:rPr>
              <a:t>※ 예보를 받지 못한 날은 점수를 신뢰할 수 없어 추천 후보에서 제외한다.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1CA828D-305D-0407-04B8-AC876D781E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7368" y="5081566"/>
            <a:ext cx="3372880" cy="132660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8107B8B-8365-6279-5D90-C4908CE0E3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39" y="5079959"/>
            <a:ext cx="3270592" cy="1284264"/>
          </a:xfrm>
          <a:prstGeom prst="rect">
            <a:avLst/>
          </a:prstGeom>
        </p:spPr>
      </p:pic>
      <p:pic>
        <p:nvPicPr>
          <p:cNvPr id="2" name="Google Shape;221;p4">
            <a:extLst>
              <a:ext uri="{FF2B5EF4-FFF2-40B4-BE49-F238E27FC236}">
                <a16:creationId xmlns:a16="http://schemas.microsoft.com/office/drawing/2014/main" id="{7AD88447-3394-EAD1-2994-B3A02D08866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211657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4;p4">
            <a:extLst>
              <a:ext uri="{FF2B5EF4-FFF2-40B4-BE49-F238E27FC236}">
                <a16:creationId xmlns:a16="http://schemas.microsoft.com/office/drawing/2014/main" id="{748CB851-CAB5-952B-BB1F-87B916D3C62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1" name="Google Shape;451;p3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2" name="Google Shape;452;p3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3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3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458" name="Google Shape;458;p3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이슈 01 — 공지 로딩이 메인 화면 전체를 막음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0" name="Google Shape;460;p30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UI 팀 : 이슈 및 해결</a:t>
            </a:r>
            <a:endParaRPr sz="1400" b="1" i="0" u="none" strike="noStrike" cap="non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30"/>
          <p:cNvPicPr preferRelativeResize="0"/>
          <p:nvPr/>
        </p:nvPicPr>
        <p:blipFill rotWithShape="1">
          <a:blip r:embed="rId2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3" name="Google Shape;463;p30" descr="EMB0000378c3f3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Rounded Rectangle 464"/>
          <p:cNvSpPr/>
          <p:nvPr/>
        </p:nvSpPr>
        <p:spPr>
          <a:xfrm>
            <a:off x="539496" y="2267712"/>
            <a:ext cx="7296912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6" name="Rounded Rectangle 465"/>
          <p:cNvSpPr/>
          <p:nvPr/>
        </p:nvSpPr>
        <p:spPr>
          <a:xfrm>
            <a:off x="539496" y="2359152"/>
            <a:ext cx="50292" cy="713232"/>
          </a:xfrm>
          <a:prstGeom prst="roundRect">
            <a:avLst>
              <a:gd name="adj" fmla="val 50000"/>
            </a:avLst>
          </a:prstGeom>
          <a:solidFill>
            <a:srgbClr val="D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7" name="TextBox 466"/>
          <p:cNvSpPr txBox="1"/>
          <p:nvPr/>
        </p:nvSpPr>
        <p:spPr>
          <a:xfrm>
            <a:off x="758952" y="2267712"/>
            <a:ext cx="960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0453F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719072" y="2374136"/>
            <a:ext cx="5897880" cy="683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사이트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첫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진입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시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수십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초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동안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빈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화면에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로딩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스피너만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표시되었다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비교적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빠르게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도착해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그래프와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수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있는데도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부가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데이터인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기다리는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동안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화면에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아무것도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그려지지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않았다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69" name="Rounded Rectangle 468"/>
          <p:cNvSpPr/>
          <p:nvPr/>
        </p:nvSpPr>
        <p:spPr>
          <a:xfrm>
            <a:off x="539496" y="3255264"/>
            <a:ext cx="729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0" name="Rounded Rectangle 469"/>
          <p:cNvSpPr/>
          <p:nvPr/>
        </p:nvSpPr>
        <p:spPr>
          <a:xfrm>
            <a:off x="539496" y="3346704"/>
            <a:ext cx="50292" cy="73152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1" name="TextBox 470"/>
          <p:cNvSpPr txBox="1"/>
          <p:nvPr/>
        </p:nvSpPr>
        <p:spPr>
          <a:xfrm>
            <a:off x="758952" y="3255264"/>
            <a:ext cx="960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719072" y="3370832"/>
            <a:ext cx="5897880" cy="683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fetch_bundle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()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하나로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묶어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받고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있었다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게시판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크롤링과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OpenAI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요약을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거쳐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훨씬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오래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걸린다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Streamlit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은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스크립트를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위에서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아래로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실행하므로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상단에서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막히면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그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아래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전혀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그려지지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않는다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3" name="Rounded Rectangle 472"/>
          <p:cNvSpPr/>
          <p:nvPr/>
        </p:nvSpPr>
        <p:spPr>
          <a:xfrm>
            <a:off x="539496" y="4261104"/>
            <a:ext cx="729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4" name="Rounded Rectangle 473"/>
          <p:cNvSpPr/>
          <p:nvPr/>
        </p:nvSpPr>
        <p:spPr>
          <a:xfrm>
            <a:off x="539496" y="4352544"/>
            <a:ext cx="50292" cy="731520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5" name="TextBox 474"/>
          <p:cNvSpPr txBox="1"/>
          <p:nvPr/>
        </p:nvSpPr>
        <p:spPr>
          <a:xfrm>
            <a:off x="758952" y="4261104"/>
            <a:ext cx="960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719072" y="4376672"/>
            <a:ext cx="5897880" cy="683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데이터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수신을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fetch_forecast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() 와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fetch_notice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() 로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분리했다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예측을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먼저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받아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메인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완성한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뒤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스크립트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맨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끝에서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호출하도록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순서를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바꾸고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영역에는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로딩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스피너를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표시해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빈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공간을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방치하지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않았다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539496" y="5266944"/>
            <a:ext cx="729691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8" name="Rounded Rectangle 477"/>
          <p:cNvSpPr/>
          <p:nvPr/>
        </p:nvSpPr>
        <p:spPr>
          <a:xfrm>
            <a:off x="539496" y="5358383"/>
            <a:ext cx="50292" cy="603503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9" name="TextBox 478"/>
          <p:cNvSpPr txBox="1"/>
          <p:nvPr/>
        </p:nvSpPr>
        <p:spPr>
          <a:xfrm>
            <a:off x="758952" y="5266944"/>
            <a:ext cx="9601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7A57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719072" y="5435298"/>
            <a:ext cx="5897880" cy="449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전체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처리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시간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자체는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동일하지만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, 첫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화면이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뜨기까지의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시간이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크게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줄었다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사용자는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공지가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준비되는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동안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이미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로딩된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추천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날짜와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그래프를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 볼 수 </a:t>
            </a:r>
            <a:r>
              <a:rPr sz="1150" b="0" err="1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있다</a:t>
            </a:r>
            <a:r>
              <a:rPr sz="1150" b="0">
                <a:solidFill>
                  <a:srgbClr val="3A3838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Malgun Gothic"/>
              </a:rPr>
              <a:t>.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539496" y="6126480"/>
            <a:ext cx="11155680" cy="411480"/>
          </a:xfrm>
          <a:prstGeom prst="roundRect">
            <a:avLst>
              <a:gd name="adj" fmla="val 12000"/>
            </a:avLst>
          </a:prstGeom>
          <a:solidFill>
            <a:srgbClr val="FFFDF3"/>
          </a:solidFill>
          <a:ln w="12700">
            <a:solidFill>
              <a:srgbClr val="F2E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2" name="Rounded Rectangle 481"/>
          <p:cNvSpPr/>
          <p:nvPr/>
        </p:nvSpPr>
        <p:spPr>
          <a:xfrm>
            <a:off x="539496" y="6190488"/>
            <a:ext cx="54864" cy="28346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3" name="TextBox 482"/>
          <p:cNvSpPr txBox="1"/>
          <p:nvPr/>
        </p:nvSpPr>
        <p:spPr>
          <a:xfrm>
            <a:off x="777240" y="612648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배운</a:t>
            </a:r>
            <a:r>
              <a:rPr sz="12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점 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기능상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결함이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없어도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로딩이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수십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초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이어지면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'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느려서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쓰는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화면'이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된다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 총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소요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시간이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첫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유의미한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화면까지의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시간을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봐야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E80863-9E9C-F19B-BB1E-A0A6C675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741" y="2590597"/>
            <a:ext cx="3696122" cy="2932792"/>
          </a:xfrm>
          <a:prstGeom prst="rect">
            <a:avLst/>
          </a:prstGeom>
        </p:spPr>
      </p:pic>
      <p:pic>
        <p:nvPicPr>
          <p:cNvPr id="2" name="Google Shape;221;p4">
            <a:extLst>
              <a:ext uri="{FF2B5EF4-FFF2-40B4-BE49-F238E27FC236}">
                <a16:creationId xmlns:a16="http://schemas.microsoft.com/office/drawing/2014/main" id="{8D86A4F4-D15C-E86F-736A-90C5B8FE9AE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1657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4;p4">
            <a:extLst>
              <a:ext uri="{FF2B5EF4-FFF2-40B4-BE49-F238E27FC236}">
                <a16:creationId xmlns:a16="http://schemas.microsoft.com/office/drawing/2014/main" id="{EF689E81-5958-202E-BF0F-A54754F0FB2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A9AC-AA29-4C69-B137-43F2E7B6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0">
            <a:extLst>
              <a:ext uri="{FF2B5EF4-FFF2-40B4-BE49-F238E27FC236}">
                <a16:creationId xmlns:a16="http://schemas.microsoft.com/office/drawing/2014/main" id="{5D8E280A-669C-E61A-7672-23F90B08F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>
            <a:extLst>
              <a:ext uri="{FF2B5EF4-FFF2-40B4-BE49-F238E27FC236}">
                <a16:creationId xmlns:a16="http://schemas.microsoft.com/office/drawing/2014/main" id="{657969B4-AF42-CD45-90E7-7E30C1CDEFE8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1" name="Google Shape;451;p30">
            <a:extLst>
              <a:ext uri="{FF2B5EF4-FFF2-40B4-BE49-F238E27FC236}">
                <a16:creationId xmlns:a16="http://schemas.microsoft.com/office/drawing/2014/main" id="{FA3319BD-63DB-AA26-6361-8330651822D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87432A09-3809-E47C-EBAE-CF6F47A6D12F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D9754C13-6EEA-7EDC-FC3E-9D6B107CC8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C91E6F2A-D073-76F3-E53F-606AEAA5670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30">
            <a:extLst>
              <a:ext uri="{FF2B5EF4-FFF2-40B4-BE49-F238E27FC236}">
                <a16:creationId xmlns:a16="http://schemas.microsoft.com/office/drawing/2014/main" id="{680A4E06-3F79-A27F-3B06-C399FA2D1D5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>
            <a:extLst>
              <a:ext uri="{FF2B5EF4-FFF2-40B4-BE49-F238E27FC236}">
                <a16:creationId xmlns:a16="http://schemas.microsoft.com/office/drawing/2014/main" id="{89ADC74C-A06D-1FB8-784E-06466C17D018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0">
            <a:extLst>
              <a:ext uri="{FF2B5EF4-FFF2-40B4-BE49-F238E27FC236}">
                <a16:creationId xmlns:a16="http://schemas.microsoft.com/office/drawing/2014/main" id="{14F022F7-70BC-8E59-6F6B-9CF2BF5DCEF9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5EA484C7-1F0F-926C-7713-C69917663EA9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이슈 02 — 재시작할 때마다 캐시가 사라져 API 재호출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6B48A32E-96D6-1555-93D6-EC22F58453A2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0" name="Google Shape;460;p30">
            <a:extLst>
              <a:ext uri="{FF2B5EF4-FFF2-40B4-BE49-F238E27FC236}">
                <a16:creationId xmlns:a16="http://schemas.microsoft.com/office/drawing/2014/main" id="{F299933F-6964-CEC1-F418-DA9BC2AC0BCC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UI 팀 : 이슈 및 해결</a:t>
            </a:r>
            <a:endParaRPr sz="1400" b="1" i="0" u="none" strike="noStrike" cap="non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30">
            <a:extLst>
              <a:ext uri="{FF2B5EF4-FFF2-40B4-BE49-F238E27FC236}">
                <a16:creationId xmlns:a16="http://schemas.microsoft.com/office/drawing/2014/main" id="{9BB41E50-4BF3-D359-8A7F-8D11F338EF8A}"/>
              </a:ext>
            </a:extLst>
          </p:cNvPr>
          <p:cNvPicPr preferRelativeResize="0"/>
          <p:nvPr/>
        </p:nvPicPr>
        <p:blipFill rotWithShape="1">
          <a:blip r:embed="rId3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0">
            <a:extLst>
              <a:ext uri="{FF2B5EF4-FFF2-40B4-BE49-F238E27FC236}">
                <a16:creationId xmlns:a16="http://schemas.microsoft.com/office/drawing/2014/main" id="{2F4292AA-20AD-0DB8-B821-3F8BA8FF3B11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463" name="Google Shape;463;p30" descr="EMB0000378c3f3d">
              <a:extLst>
                <a:ext uri="{FF2B5EF4-FFF2-40B4-BE49-F238E27FC236}">
                  <a16:creationId xmlns:a16="http://schemas.microsoft.com/office/drawing/2014/main" id="{730F6E4B-95DD-CC04-291C-5E4D67E7FC7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0">
              <a:extLst>
                <a:ext uri="{FF2B5EF4-FFF2-40B4-BE49-F238E27FC236}">
                  <a16:creationId xmlns:a16="http://schemas.microsoft.com/office/drawing/2014/main" id="{1E878E28-0A4E-2BCA-2D24-FACE82B08F8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Rounded Rectangle 480">
            <a:extLst>
              <a:ext uri="{FF2B5EF4-FFF2-40B4-BE49-F238E27FC236}">
                <a16:creationId xmlns:a16="http://schemas.microsoft.com/office/drawing/2014/main" id="{34A0852C-1A10-2A8C-2CC2-DA308E231EC2}"/>
              </a:ext>
            </a:extLst>
          </p:cNvPr>
          <p:cNvSpPr/>
          <p:nvPr/>
        </p:nvSpPr>
        <p:spPr>
          <a:xfrm>
            <a:off x="539496" y="6126480"/>
            <a:ext cx="11155680" cy="411480"/>
          </a:xfrm>
          <a:prstGeom prst="roundRect">
            <a:avLst>
              <a:gd name="adj" fmla="val 12000"/>
            </a:avLst>
          </a:prstGeom>
          <a:solidFill>
            <a:srgbClr val="FFFDF3"/>
          </a:solidFill>
          <a:ln w="12700">
            <a:solidFill>
              <a:srgbClr val="F2E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481">
            <a:extLst>
              <a:ext uri="{FF2B5EF4-FFF2-40B4-BE49-F238E27FC236}">
                <a16:creationId xmlns:a16="http://schemas.microsoft.com/office/drawing/2014/main" id="{F009B2BF-4261-5DDC-949F-7FCE7F2E2007}"/>
              </a:ext>
            </a:extLst>
          </p:cNvPr>
          <p:cNvSpPr/>
          <p:nvPr/>
        </p:nvSpPr>
        <p:spPr>
          <a:xfrm>
            <a:off x="539496" y="6190488"/>
            <a:ext cx="54864" cy="28346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E1A76-DA48-6142-F812-F4AFB03696BE}"/>
              </a:ext>
            </a:extLst>
          </p:cNvPr>
          <p:cNvSpPr txBox="1"/>
          <p:nvPr/>
        </p:nvSpPr>
        <p:spPr>
          <a:xfrm>
            <a:off x="777240" y="6228890"/>
            <a:ext cx="10789920" cy="206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200" b="1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배운</a:t>
            </a:r>
            <a:r>
              <a:rPr sz="12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 점  </a:t>
            </a:r>
            <a:r>
              <a:rPr lang="ko-KR" altLang="en-US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캐시는 프로젝트를 거의 완성한 뒤에 붙일 것이 아니라</a:t>
            </a:r>
            <a:r>
              <a:rPr lang="en-US" altLang="ko-KR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외부 호출을 처음 넣는 시점부터 계획해서 함께 정했어야 했다</a:t>
            </a:r>
            <a:r>
              <a:rPr lang="en-US" altLang="ko-KR" sz="12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150" b="0">
              <a:solidFill>
                <a:srgbClr val="3A383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72">
            <a:extLst>
              <a:ext uri="{FF2B5EF4-FFF2-40B4-BE49-F238E27FC236}">
                <a16:creationId xmlns:a16="http://schemas.microsoft.com/office/drawing/2014/main" id="{B3C6B908-74E9-0A5C-C745-F9AB3514FA76}"/>
              </a:ext>
            </a:extLst>
          </p:cNvPr>
          <p:cNvSpPr/>
          <p:nvPr/>
        </p:nvSpPr>
        <p:spPr>
          <a:xfrm>
            <a:off x="539496" y="3972624"/>
            <a:ext cx="11155680" cy="200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473">
            <a:extLst>
              <a:ext uri="{FF2B5EF4-FFF2-40B4-BE49-F238E27FC236}">
                <a16:creationId xmlns:a16="http://schemas.microsoft.com/office/drawing/2014/main" id="{CBA033C3-E2E3-6BF1-4F8F-9C2CE4D3E179}"/>
              </a:ext>
            </a:extLst>
          </p:cNvPr>
          <p:cNvSpPr/>
          <p:nvPr/>
        </p:nvSpPr>
        <p:spPr>
          <a:xfrm>
            <a:off x="539496" y="4560493"/>
            <a:ext cx="50292" cy="731520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A0DD4-112A-F551-D1AF-9B2D9E6C19FD}"/>
              </a:ext>
            </a:extLst>
          </p:cNvPr>
          <p:cNvSpPr txBox="1"/>
          <p:nvPr/>
        </p:nvSpPr>
        <p:spPr>
          <a:xfrm>
            <a:off x="718529" y="4430813"/>
            <a:ext cx="960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78C8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474" name="Rounded Rectangle 473">
            <a:extLst>
              <a:ext uri="{FF2B5EF4-FFF2-40B4-BE49-F238E27FC236}">
                <a16:creationId xmlns:a16="http://schemas.microsoft.com/office/drawing/2014/main" id="{992D687F-C98A-3D8C-DB75-4A7ABF3C0093}"/>
              </a:ext>
            </a:extLst>
          </p:cNvPr>
          <p:cNvSpPr/>
          <p:nvPr/>
        </p:nvSpPr>
        <p:spPr>
          <a:xfrm>
            <a:off x="1275458" y="4265846"/>
            <a:ext cx="2463283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5" name="Rounded Rectangle 474">
            <a:extLst>
              <a:ext uri="{FF2B5EF4-FFF2-40B4-BE49-F238E27FC236}">
                <a16:creationId xmlns:a16="http://schemas.microsoft.com/office/drawing/2014/main" id="{F2D1CA36-6CC6-D482-2543-453D269AFBD3}"/>
              </a:ext>
            </a:extLst>
          </p:cNvPr>
          <p:cNvSpPr/>
          <p:nvPr/>
        </p:nvSpPr>
        <p:spPr>
          <a:xfrm>
            <a:off x="1275458" y="5546006"/>
            <a:ext cx="2463283" cy="109728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B46952AF-E9AF-2A8E-F80A-73DBBCC05B6F}"/>
              </a:ext>
            </a:extLst>
          </p:cNvPr>
          <p:cNvSpPr/>
          <p:nvPr/>
        </p:nvSpPr>
        <p:spPr>
          <a:xfrm>
            <a:off x="1476713" y="4448726"/>
            <a:ext cx="251569" cy="274320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CB847E07-74ED-5529-D649-671D75C5FF68}"/>
              </a:ext>
            </a:extLst>
          </p:cNvPr>
          <p:cNvSpPr txBox="1"/>
          <p:nvPr/>
        </p:nvSpPr>
        <p:spPr>
          <a:xfrm>
            <a:off x="1795368" y="4448726"/>
            <a:ext cx="1750503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persist="disk"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39DE7069-A8CE-0187-5DAA-F5F1D787DD24}"/>
              </a:ext>
            </a:extLst>
          </p:cNvPr>
          <p:cNvSpPr txBox="1"/>
          <p:nvPr/>
        </p:nvSpPr>
        <p:spPr>
          <a:xfrm>
            <a:off x="1493485" y="4796198"/>
            <a:ext cx="2027229" cy="378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캐시를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디스크에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남겨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앱을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재시작한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뒤에도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그대로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재사용되게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했다</a:t>
            </a: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79" name="Rounded Rectangle 478">
            <a:extLst>
              <a:ext uri="{FF2B5EF4-FFF2-40B4-BE49-F238E27FC236}">
                <a16:creationId xmlns:a16="http://schemas.microsoft.com/office/drawing/2014/main" id="{3126A747-4F07-E6AD-8C81-A0930C3B1674}"/>
              </a:ext>
            </a:extLst>
          </p:cNvPr>
          <p:cNvSpPr/>
          <p:nvPr/>
        </p:nvSpPr>
        <p:spPr>
          <a:xfrm>
            <a:off x="3864525" y="4265846"/>
            <a:ext cx="2463283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0" name="Rounded Rectangle 479">
            <a:extLst>
              <a:ext uri="{FF2B5EF4-FFF2-40B4-BE49-F238E27FC236}">
                <a16:creationId xmlns:a16="http://schemas.microsoft.com/office/drawing/2014/main" id="{3082A94B-E2F2-8249-8978-B4B7261DF8D3}"/>
              </a:ext>
            </a:extLst>
          </p:cNvPr>
          <p:cNvSpPr/>
          <p:nvPr/>
        </p:nvSpPr>
        <p:spPr>
          <a:xfrm>
            <a:off x="3864525" y="5546006"/>
            <a:ext cx="2463283" cy="10972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C215C847-E610-8DA5-BC8F-14C6F910479C}"/>
              </a:ext>
            </a:extLst>
          </p:cNvPr>
          <p:cNvSpPr/>
          <p:nvPr/>
        </p:nvSpPr>
        <p:spPr>
          <a:xfrm>
            <a:off x="4065780" y="4448726"/>
            <a:ext cx="251569" cy="2743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54CBA45-93D4-92F6-8B35-981844DCAA50}"/>
              </a:ext>
            </a:extLst>
          </p:cNvPr>
          <p:cNvSpPr txBox="1"/>
          <p:nvPr/>
        </p:nvSpPr>
        <p:spPr>
          <a:xfrm>
            <a:off x="4384434" y="4448726"/>
            <a:ext cx="1750503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cache_slot(hours)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4019E529-B100-6B74-C3C1-E8DCE9FCEB8D}"/>
              </a:ext>
            </a:extLst>
          </p:cNvPr>
          <p:cNvSpPr txBox="1"/>
          <p:nvPr/>
        </p:nvSpPr>
        <p:spPr>
          <a:xfrm>
            <a:off x="4082552" y="4796198"/>
            <a:ext cx="2027229" cy="578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persist 는 ttl 을 무시하므로, 시간대가 바뀌면 달라지는 문자열을 키로 넘겼다 (예측 1시간 · 공지 6시간).</a:t>
            </a:r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0AAA2E82-4246-9D5E-5748-1B2FCA2A29C1}"/>
              </a:ext>
            </a:extLst>
          </p:cNvPr>
          <p:cNvSpPr/>
          <p:nvPr/>
        </p:nvSpPr>
        <p:spPr>
          <a:xfrm>
            <a:off x="6453593" y="4265846"/>
            <a:ext cx="2463283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5" name="Rounded Rectangle 484">
            <a:extLst>
              <a:ext uri="{FF2B5EF4-FFF2-40B4-BE49-F238E27FC236}">
                <a16:creationId xmlns:a16="http://schemas.microsoft.com/office/drawing/2014/main" id="{4353D543-99A2-04D2-2808-9261F21CDC90}"/>
              </a:ext>
            </a:extLst>
          </p:cNvPr>
          <p:cNvSpPr/>
          <p:nvPr/>
        </p:nvSpPr>
        <p:spPr>
          <a:xfrm>
            <a:off x="6453593" y="5546006"/>
            <a:ext cx="2463283" cy="109728"/>
          </a:xfrm>
          <a:prstGeom prst="roundRect">
            <a:avLst>
              <a:gd name="adj" fmla="val 50000"/>
            </a:avLst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D9D22E46-1FFF-4D1A-450D-649D532F9526}"/>
              </a:ext>
            </a:extLst>
          </p:cNvPr>
          <p:cNvSpPr/>
          <p:nvPr/>
        </p:nvSpPr>
        <p:spPr>
          <a:xfrm>
            <a:off x="6654848" y="4448726"/>
            <a:ext cx="251569" cy="274320"/>
          </a:xfrm>
          <a:prstGeom prst="ellipse">
            <a:avLst/>
          </a:prstGeom>
          <a:solidFill>
            <a:srgbClr val="337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9C43E6D-6DA6-F258-0AF8-4A2EA660A7E4}"/>
              </a:ext>
            </a:extLst>
          </p:cNvPr>
          <p:cNvSpPr txBox="1"/>
          <p:nvPr/>
        </p:nvSpPr>
        <p:spPr>
          <a:xfrm>
            <a:off x="6973503" y="4448726"/>
            <a:ext cx="1750503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PROVIDER_FINGERPRINT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3FCDC9A0-B5B9-345E-B7D4-08C01C51E05E}"/>
              </a:ext>
            </a:extLst>
          </p:cNvPr>
          <p:cNvSpPr txBox="1"/>
          <p:nvPr/>
        </p:nvSpPr>
        <p:spPr>
          <a:xfrm>
            <a:off x="6671619" y="4796198"/>
            <a:ext cx="2027229" cy="578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수신 파일의 해시를 키에 넣어, 구조를 고치면 낡은 캐시가 자동으로 무효화되게 했다.</a:t>
            </a:r>
          </a:p>
        </p:txBody>
      </p:sp>
      <p:sp>
        <p:nvSpPr>
          <p:cNvPr id="489" name="Rounded Rectangle 488">
            <a:extLst>
              <a:ext uri="{FF2B5EF4-FFF2-40B4-BE49-F238E27FC236}">
                <a16:creationId xmlns:a16="http://schemas.microsoft.com/office/drawing/2014/main" id="{1F199F42-F0FB-9232-42EA-B6B33CCF3123}"/>
              </a:ext>
            </a:extLst>
          </p:cNvPr>
          <p:cNvSpPr/>
          <p:nvPr/>
        </p:nvSpPr>
        <p:spPr>
          <a:xfrm>
            <a:off x="9042660" y="4265846"/>
            <a:ext cx="2463283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0" name="Rounded Rectangle 489">
            <a:extLst>
              <a:ext uri="{FF2B5EF4-FFF2-40B4-BE49-F238E27FC236}">
                <a16:creationId xmlns:a16="http://schemas.microsoft.com/office/drawing/2014/main" id="{7A8F2FA4-D43E-2FAD-8BBC-042663FCAC5D}"/>
              </a:ext>
            </a:extLst>
          </p:cNvPr>
          <p:cNvSpPr/>
          <p:nvPr/>
        </p:nvSpPr>
        <p:spPr>
          <a:xfrm>
            <a:off x="9042660" y="5546006"/>
            <a:ext cx="2463283" cy="10972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16EA0BEA-66FF-C132-8D19-B54ACCC9B106}"/>
              </a:ext>
            </a:extLst>
          </p:cNvPr>
          <p:cNvSpPr/>
          <p:nvPr/>
        </p:nvSpPr>
        <p:spPr>
          <a:xfrm>
            <a:off x="9243916" y="4448726"/>
            <a:ext cx="251569" cy="2743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05B9482E-53A7-E9DA-69A5-CEECE9B325E3}"/>
              </a:ext>
            </a:extLst>
          </p:cNvPr>
          <p:cNvSpPr txBox="1"/>
          <p:nvPr/>
        </p:nvSpPr>
        <p:spPr>
          <a:xfrm>
            <a:off x="9562569" y="4448726"/>
            <a:ext cx="1750503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.gitignore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DA4CD3F6-DE46-C7CB-547A-63028DB300E7}"/>
              </a:ext>
            </a:extLst>
          </p:cNvPr>
          <p:cNvSpPr txBox="1"/>
          <p:nvPr/>
        </p:nvSpPr>
        <p:spPr>
          <a:xfrm>
            <a:off x="9260686" y="4796198"/>
            <a:ext cx="2027229" cy="378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생성되는 .streamlit/cache/ 를 추적에서 제외했다.</a:t>
            </a:r>
          </a:p>
        </p:txBody>
      </p:sp>
      <p:sp>
        <p:nvSpPr>
          <p:cNvPr id="9" name="Rounded Rectangle 464">
            <a:extLst>
              <a:ext uri="{FF2B5EF4-FFF2-40B4-BE49-F238E27FC236}">
                <a16:creationId xmlns:a16="http://schemas.microsoft.com/office/drawing/2014/main" id="{332B8510-CB43-DD09-A8F6-7A722EBFA293}"/>
              </a:ext>
            </a:extLst>
          </p:cNvPr>
          <p:cNvSpPr/>
          <p:nvPr/>
        </p:nvSpPr>
        <p:spPr>
          <a:xfrm>
            <a:off x="539495" y="2267712"/>
            <a:ext cx="11155679" cy="71513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465">
            <a:extLst>
              <a:ext uri="{FF2B5EF4-FFF2-40B4-BE49-F238E27FC236}">
                <a16:creationId xmlns:a16="http://schemas.microsoft.com/office/drawing/2014/main" id="{82FF9E9D-A338-E958-DD87-A93E371BAA33}"/>
              </a:ext>
            </a:extLst>
          </p:cNvPr>
          <p:cNvSpPr/>
          <p:nvPr/>
        </p:nvSpPr>
        <p:spPr>
          <a:xfrm>
            <a:off x="539496" y="2381331"/>
            <a:ext cx="50292" cy="489966"/>
          </a:xfrm>
          <a:prstGeom prst="roundRect">
            <a:avLst>
              <a:gd name="adj" fmla="val 50000"/>
            </a:avLst>
          </a:prstGeom>
          <a:solidFill>
            <a:srgbClr val="D0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9D644-54A4-CB95-6832-C0DB7CA5369E}"/>
              </a:ext>
            </a:extLst>
          </p:cNvPr>
          <p:cNvSpPr txBox="1"/>
          <p:nvPr/>
        </p:nvSpPr>
        <p:spPr>
          <a:xfrm>
            <a:off x="733552" y="2169287"/>
            <a:ext cx="9601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0453F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12" name="Rounded Rectangle 468">
            <a:extLst>
              <a:ext uri="{FF2B5EF4-FFF2-40B4-BE49-F238E27FC236}">
                <a16:creationId xmlns:a16="http://schemas.microsoft.com/office/drawing/2014/main" id="{0C333ABC-9594-F36F-0112-F6D52ED4E456}"/>
              </a:ext>
            </a:extLst>
          </p:cNvPr>
          <p:cNvSpPr/>
          <p:nvPr/>
        </p:nvSpPr>
        <p:spPr>
          <a:xfrm>
            <a:off x="539496" y="3165729"/>
            <a:ext cx="11155680" cy="66059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469">
            <a:extLst>
              <a:ext uri="{FF2B5EF4-FFF2-40B4-BE49-F238E27FC236}">
                <a16:creationId xmlns:a16="http://schemas.microsoft.com/office/drawing/2014/main" id="{BEB6DE1E-ECBE-ACF2-E83A-74645013A2CA}"/>
              </a:ext>
            </a:extLst>
          </p:cNvPr>
          <p:cNvSpPr/>
          <p:nvPr/>
        </p:nvSpPr>
        <p:spPr>
          <a:xfrm>
            <a:off x="539496" y="3254011"/>
            <a:ext cx="50292" cy="50253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1D778-927A-1489-7AC7-64C3B7CC3154}"/>
              </a:ext>
            </a:extLst>
          </p:cNvPr>
          <p:cNvSpPr txBox="1"/>
          <p:nvPr/>
        </p:nvSpPr>
        <p:spPr>
          <a:xfrm>
            <a:off x="758952" y="3042539"/>
            <a:ext cx="960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32C02-455D-B24D-CA55-63A122537EB1}"/>
              </a:ext>
            </a:extLst>
          </p:cNvPr>
          <p:cNvSpPr txBox="1"/>
          <p:nvPr/>
        </p:nvSpPr>
        <p:spPr>
          <a:xfrm>
            <a:off x="1719072" y="2463749"/>
            <a:ext cx="9756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앱을 재시작할 때마다 기상 조회와 OpenAI 호출이 처음부터 다시 실행되었다.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19EB86-15B9-2ED2-0AEE-BD303CC2B9CF}"/>
              </a:ext>
            </a:extLst>
          </p:cNvPr>
          <p:cNvSpPr txBox="1"/>
          <p:nvPr/>
        </p:nvSpPr>
        <p:spPr>
          <a:xfrm>
            <a:off x="1719072" y="3276071"/>
            <a:ext cx="975664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기존에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사용하던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st.cache_data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기본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캐시는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프로세스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메모리에만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존재하며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앱을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종료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재시작하면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사라져서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캐시를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불러올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150" b="0" err="1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없었다</a:t>
            </a:r>
            <a:r>
              <a:rPr sz="1150" b="0">
                <a:solidFill>
                  <a:srgbClr val="3A383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19" name="Google Shape;221;p4">
            <a:extLst>
              <a:ext uri="{FF2B5EF4-FFF2-40B4-BE49-F238E27FC236}">
                <a16:creationId xmlns:a16="http://schemas.microsoft.com/office/drawing/2014/main" id="{CFFB1912-FC80-4AE5-C892-9B82F496FF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11657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24;p4">
            <a:extLst>
              <a:ext uri="{FF2B5EF4-FFF2-40B4-BE49-F238E27FC236}">
                <a16:creationId xmlns:a16="http://schemas.microsoft.com/office/drawing/2014/main" id="{877EB50B-E8C6-ED61-A040-8060C1BE149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2872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13"/>
          <p:cNvPicPr preferRelativeResize="0"/>
          <p:nvPr/>
        </p:nvPicPr>
        <p:blipFill rotWithShape="1">
          <a:blip r:embed="rId4">
            <a:alphaModFix/>
          </a:blip>
          <a:srcRect l="1" r="2095" b="22185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13"/>
          <p:cNvPicPr preferRelativeResize="0"/>
          <p:nvPr/>
        </p:nvPicPr>
        <p:blipFill rotWithShape="1">
          <a:blip r:embed="rId5">
            <a:alphaModFix/>
          </a:blip>
          <a:srcRect t="5760" r="51762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2" name="Google Shape;602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3" name="Google Shape;603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4" name="Google Shape;604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6" name="Google Shape;606;p13"/>
          <p:cNvPicPr preferRelativeResize="0"/>
          <p:nvPr/>
        </p:nvPicPr>
        <p:blipFill rotWithShape="1">
          <a:blip r:embed="rId6">
            <a:alphaModFix amt="27000"/>
          </a:blip>
          <a:srcRect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7" name="Google Shape;607;p13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08" name="Google Shape;608;p13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lang="ko-KR" sz="1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lang="ko-KR" sz="1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8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 b="0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 b="0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0" name="Google Shape;610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2" name="Google Shape;612;p13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13" name="Google Shape;613;p13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2941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5" name="Google Shape;615;p13"/>
            <p:cNvSpPr txBox="1"/>
            <p:nvPr/>
          </p:nvSpPr>
          <p:spPr>
            <a:xfrm>
              <a:off x="758026" y="2900049"/>
              <a:ext cx="5051965" cy="757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endParaRPr sz="18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6" name="Google Shape;616;p13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617" name="Google Shape;617;p13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451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8" name="Google Shape;618;p13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9" name="Google Shape;619;p13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1" i="0" u="none" strike="noStrike" cap="non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lang="ko-KR" sz="1800" b="1" i="0" u="none" strike="noStrike" cap="none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621" name="Google Shape;621;p13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2941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2" name="Google Shape;622;p13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3" name="Google Shape;623;p13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8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24" name="Google Shape;624;p13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625" name="Google Shape;625;p13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451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6" name="Google Shape;626;p13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627;p13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lang="ko-KR" sz="1800" b="1" i="0" u="none" strike="noStrike" cap="non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sz="1800" b="1" i="0" u="none" strike="noStrike" cap="none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8" name="Google Shape;628;p13"/>
            <p:cNvSpPr txBox="1"/>
            <p:nvPr/>
          </p:nvSpPr>
          <p:spPr>
            <a:xfrm>
              <a:off x="7774256" y="3457087"/>
              <a:ext cx="3182283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 를 이용한 검증 테스트 결과</a:t>
              </a:r>
              <a:endPara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 b="0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 b="0" i="0" u="none" strike="noStrike" cap="non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0" name="Google Shape;630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32" name="Google Shape;632;p13" descr="EMB0000378c3f3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1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3633</Words>
  <Application>Microsoft Office PowerPoint</Application>
  <PresentationFormat>와이드스크린</PresentationFormat>
  <Paragraphs>582</Paragraphs>
  <Slides>30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HY견고딕</vt:lpstr>
      <vt:lpstr>HY헤드라인M</vt:lpstr>
      <vt:lpstr>Malgun Gothic</vt:lpstr>
      <vt:lpstr>한컴 고딕</vt:lpstr>
      <vt:lpstr>Arial</vt:lpstr>
      <vt:lpstr>Calibri</vt:lpstr>
      <vt:lpstr>Cambria Math</vt:lpstr>
      <vt:lpstr>Consolas</vt:lpstr>
      <vt:lpstr>Ebrima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김준영</dc:creator>
  <cp:lastModifiedBy>EZ</cp:lastModifiedBy>
  <cp:revision>17</cp:revision>
  <dcterms:created xsi:type="dcterms:W3CDTF">2023-12-20T03:00:25Z</dcterms:created>
  <dcterms:modified xsi:type="dcterms:W3CDTF">2026-08-14T10:29:05Z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0x010100DAE3F4A420BE824F8EE9314A8C3F8B72</vt:lpwstr>
  </property>
</Properties>
</file>