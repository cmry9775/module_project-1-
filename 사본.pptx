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4"/>
  </p:notesMasterIdLst>
  <p:sldIdLst>
    <p:sldId id="274" r:id="rId2"/>
    <p:sldId id="275" r:id="rId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570">
          <p15:clr>
            <a:srgbClr val="A4A3A4"/>
          </p15:clr>
        </p15:guide>
        <p15:guide id="2" pos="325">
          <p15:clr>
            <a:srgbClr val="A4A3A4"/>
          </p15:clr>
        </p15:guide>
        <p15:guide id="3" pos="7401">
          <p15:clr>
            <a:srgbClr val="A4A3A4"/>
          </p15:clr>
        </p15:guide>
        <p15:guide id="4" pos="3840">
          <p15:clr>
            <a:srgbClr val="A4A3A4"/>
          </p15:clr>
        </p15:guide>
        <p15:guide id="5" orient="horz" pos="402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5" roundtripDataSignature="AMtx7mh00hle6wm1STnrGYN7vsIJquMrN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8128FFA-904F-43EB-9803-3A43201E72DE}">
  <a:tblStyle styleId="{E8128FFA-904F-43EB-9803-3A43201E72D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1570"/>
        <p:guide pos="325"/>
        <p:guide pos="7401"/>
        <p:guide pos="3840"/>
        <p:guide orient="horz" pos="40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5" Type="http://customschemas.google.com/relationships/presentationmetadata" Target="metadata"/><Relationship Id="rId2" Type="http://schemas.openxmlformats.org/officeDocument/2006/relationships/slide" Target="slides/slide1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8" Type="http://schemas.openxmlformats.org/officeDocument/2006/relationships/theme" Target="theme/theme1.xml"/><Relationship Id="rId4" Type="http://schemas.openxmlformats.org/officeDocument/2006/relationships/notesMaster" Target="notesMasters/notesMaster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1">
          <a:extLst>
            <a:ext uri="{FF2B5EF4-FFF2-40B4-BE49-F238E27FC236}">
              <a16:creationId xmlns:a16="http://schemas.microsoft.com/office/drawing/2014/main" id="{017EF036-9DE3-5632-0996-E83B8A816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8:notes">
            <a:extLst>
              <a:ext uri="{FF2B5EF4-FFF2-40B4-BE49-F238E27FC236}">
                <a16:creationId xmlns:a16="http://schemas.microsoft.com/office/drawing/2014/main" id="{FD818BCC-B941-5250-813A-F7AF2F0AD9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73" name="Google Shape;673;p8:notes">
            <a:extLst>
              <a:ext uri="{FF2B5EF4-FFF2-40B4-BE49-F238E27FC236}">
                <a16:creationId xmlns:a16="http://schemas.microsoft.com/office/drawing/2014/main" id="{C5CCC47E-0BBF-E169-3E07-A307B7EAC1F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834272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1">
          <a:extLst>
            <a:ext uri="{FF2B5EF4-FFF2-40B4-BE49-F238E27FC236}">
              <a16:creationId xmlns:a16="http://schemas.microsoft.com/office/drawing/2014/main" id="{32A1BB32-946C-C5C2-C62D-33A080EF0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8:notes">
            <a:extLst>
              <a:ext uri="{FF2B5EF4-FFF2-40B4-BE49-F238E27FC236}">
                <a16:creationId xmlns:a16="http://schemas.microsoft.com/office/drawing/2014/main" id="{D09ECE49-77BC-2FED-3851-5F8E62DEB6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73" name="Google Shape;673;p8:notes">
            <a:extLst>
              <a:ext uri="{FF2B5EF4-FFF2-40B4-BE49-F238E27FC236}">
                <a16:creationId xmlns:a16="http://schemas.microsoft.com/office/drawing/2014/main" id="{F8FB39B6-E44A-9171-C4FC-A84349EB65F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7620226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제목 슬라이드">
  <p:cSld name="1_제목 슬라이드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>
  <p:cSld name="TITLE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9" name="Google Shape;19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>
  <p:cSld name="OBJEC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9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9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1" name="Google Shape;31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>
  <p:cSld name="TWO_OBJECT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2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>
  <p:cSld name="TWO_OBJECTS_WITH_TEX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1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1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4" name="Google Shape;44;p21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2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6" name="Google Shape;46;p2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>
  <p:cSld name="TITLE_ONLY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>
  <p:cSld name="OBJECT_WITH_CAPTION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3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8" name="Google Shape;58;p23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9" name="Google Shape;59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>
  <p:cSld name="PICTURE_WITH_CAPTIO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4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5" name="Google Shape;65;p24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6" name="Google Shape;6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>
  <p:cSld name="VERTICAL_TEX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5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2" name="Google Shape;72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>
  <p:cSld name="VERTICAL_TITLE_AND_VERTICAL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6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6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제목 및 내용">
  <p:cSld name="1_제목 및 내용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7"/>
          <p:cNvSpPr/>
          <p:nvPr/>
        </p:nvSpPr>
        <p:spPr>
          <a:xfrm>
            <a:off x="0" y="229568"/>
            <a:ext cx="12192000" cy="31200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3" name="Google Shape;83;p27"/>
          <p:cNvSpPr txBox="1"/>
          <p:nvPr/>
        </p:nvSpPr>
        <p:spPr>
          <a:xfrm>
            <a:off x="7635810" y="6601849"/>
            <a:ext cx="3463925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ko-KR" sz="1000" b="0" i="0" u="none" strike="noStrike" cap="non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2024년도 프로젝트평가 훈련기관 신청안내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27"/>
          <p:cNvSpPr txBox="1"/>
          <p:nvPr/>
        </p:nvSpPr>
        <p:spPr>
          <a:xfrm>
            <a:off x="9005162" y="6594154"/>
            <a:ext cx="2754994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ko-KR" sz="1000" b="0" i="0" u="none" strike="noStrike" cap="non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000" b="0" i="0" u="none" strike="noStrike" cap="none">
              <a:solidFill>
                <a:srgbClr val="A5A5A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42">
          <p15:clr>
            <a:srgbClr val="FBAE40"/>
          </p15:clr>
        </p15:guide>
        <p15:guide id="2" pos="393">
          <p15:clr>
            <a:srgbClr val="FBAE40"/>
          </p15:clr>
        </p15:guide>
        <p15:guide id="3" pos="7287">
          <p15:clr>
            <a:srgbClr val="FBAE40"/>
          </p15:clr>
        </p15:guide>
        <p15:guide id="4" orient="horz" pos="1094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9" name="Google Shape;9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0" name="Google Shape;10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4">
          <a:extLst>
            <a:ext uri="{FF2B5EF4-FFF2-40B4-BE49-F238E27FC236}">
              <a16:creationId xmlns:a16="http://schemas.microsoft.com/office/drawing/2014/main" id="{8D1B9D13-BEC6-125A-B51F-98CA49FD4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5" name="Google Shape;675;p8">
            <a:extLst>
              <a:ext uri="{FF2B5EF4-FFF2-40B4-BE49-F238E27FC236}">
                <a16:creationId xmlns:a16="http://schemas.microsoft.com/office/drawing/2014/main" id="{131BF744-4009-E61D-6547-F1D310C1CE7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76" name="Google Shape;676;p8">
            <a:extLst>
              <a:ext uri="{FF2B5EF4-FFF2-40B4-BE49-F238E27FC236}">
                <a16:creationId xmlns:a16="http://schemas.microsoft.com/office/drawing/2014/main" id="{2B234065-7E25-6CD0-CAA2-2266B2291DA4}"/>
              </a:ext>
            </a:extLst>
          </p:cNvPr>
          <p:cNvSpPr/>
          <p:nvPr/>
        </p:nvSpPr>
        <p:spPr>
          <a:xfrm rot="10800000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rgbClr val="F2F2F2">
              <a:alpha val="49412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677" name="Google Shape;677;p8">
            <a:extLst>
              <a:ext uri="{FF2B5EF4-FFF2-40B4-BE49-F238E27FC236}">
                <a16:creationId xmlns:a16="http://schemas.microsoft.com/office/drawing/2014/main" id="{C478CED6-E4E6-11D4-A4D7-3866067CF73A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678" name="Google Shape;678;p8">
              <a:extLst>
                <a:ext uri="{FF2B5EF4-FFF2-40B4-BE49-F238E27FC236}">
                  <a16:creationId xmlns:a16="http://schemas.microsoft.com/office/drawing/2014/main" id="{C53DD942-F236-BD15-42F4-A71D09272F2E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ko-KR" sz="1200" b="1" i="0" u="none" strike="noStrike" cap="none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K-Digital Training</a:t>
              </a:r>
              <a:endParaRPr sz="1200" b="1" i="0" u="none" strike="noStrike" cap="none">
                <a:solidFill>
                  <a:srgbClr val="3378C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79" name="Google Shape;679;p8">
              <a:extLst>
                <a:ext uri="{FF2B5EF4-FFF2-40B4-BE49-F238E27FC236}">
                  <a16:creationId xmlns:a16="http://schemas.microsoft.com/office/drawing/2014/main" id="{C3CCD173-823B-1FEA-56CC-1A7A32E8D7D4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1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en-US" sz="2800" b="1" i="0" u="none" strike="noStrike" cap="none" dirty="0">
                  <a:solidFill>
                    <a:srgbClr val="3F3F3F"/>
                  </a:solidFill>
                  <a:latin typeface="Malgun Gothic"/>
                  <a:ea typeface="Malgun Gothic"/>
                  <a:cs typeface="Arial"/>
                  <a:sym typeface="Malgun Gothic"/>
                </a:rPr>
                <a:t>OpenAI API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0" name="Google Shape;680;p8">
              <a:extLst>
                <a:ext uri="{FF2B5EF4-FFF2-40B4-BE49-F238E27FC236}">
                  <a16:creationId xmlns:a16="http://schemas.microsoft.com/office/drawing/2014/main" id="{EDA9F2E3-9CAA-B7A1-AA75-221BBCE00AF1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0" rIns="91425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400"/>
                <a:buFont typeface="Arial"/>
                <a:buNone/>
              </a:pPr>
              <a:r>
                <a:rPr lang="ko-KR" sz="5400" b="0" i="0" u="none" strike="noStrike" cap="none">
                  <a:solidFill>
                    <a:srgbClr val="3378C8"/>
                  </a:solidFill>
                  <a:latin typeface="Arial"/>
                  <a:ea typeface="Arial"/>
                  <a:cs typeface="Arial"/>
                  <a:sym typeface="Arial"/>
                </a:rPr>
                <a:t>04</a:t>
              </a:r>
              <a:endParaRPr sz="4400" b="1" i="0" u="none" strike="noStrike" cap="none">
                <a:solidFill>
                  <a:srgbClr val="3378C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81" name="Google Shape;681;p8">
            <a:extLst>
              <a:ext uri="{FF2B5EF4-FFF2-40B4-BE49-F238E27FC236}">
                <a16:creationId xmlns:a16="http://schemas.microsoft.com/office/drawing/2014/main" id="{F5F03416-D7D6-8AFC-2A52-47BF468E1F96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2" name="Google Shape;682;p8">
            <a:extLst>
              <a:ext uri="{FF2B5EF4-FFF2-40B4-BE49-F238E27FC236}">
                <a16:creationId xmlns:a16="http://schemas.microsoft.com/office/drawing/2014/main" id="{92E0EA59-1A63-410B-3521-24E86D52D14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83" name="Google Shape;683;p8">
            <a:extLst>
              <a:ext uri="{FF2B5EF4-FFF2-40B4-BE49-F238E27FC236}">
                <a16:creationId xmlns:a16="http://schemas.microsoft.com/office/drawing/2014/main" id="{F41566EE-12DA-76FC-B092-9AFEFBCE65C4}"/>
              </a:ext>
            </a:extLst>
          </p:cNvPr>
          <p:cNvGrpSpPr/>
          <p:nvPr/>
        </p:nvGrpSpPr>
        <p:grpSpPr>
          <a:xfrm>
            <a:off x="541891" y="1430219"/>
            <a:ext cx="10526159" cy="369291"/>
            <a:chOff x="541891" y="1430219"/>
            <a:chExt cx="10526159" cy="369291"/>
          </a:xfrm>
        </p:grpSpPr>
        <p:sp>
          <p:nvSpPr>
            <p:cNvPr id="684" name="Google Shape;684;p8">
              <a:extLst>
                <a:ext uri="{FF2B5EF4-FFF2-40B4-BE49-F238E27FC236}">
                  <a16:creationId xmlns:a16="http://schemas.microsoft.com/office/drawing/2014/main" id="{509DABD0-7D52-16A3-93A3-519F94AFBA1C}"/>
                </a:ext>
              </a:extLst>
            </p:cNvPr>
            <p:cNvSpPr txBox="1"/>
            <p:nvPr/>
          </p:nvSpPr>
          <p:spPr>
            <a:xfrm>
              <a:off x="743615" y="1430219"/>
              <a:ext cx="10324435" cy="369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ko-KR" altLang="en-US" sz="1800" b="1" dirty="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전체 기능 통합</a:t>
              </a:r>
              <a:endParaRPr sz="1800" b="0" i="0" u="none" strike="noStrike" cap="none" dirty="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85" name="Google Shape;685;p8">
              <a:extLst>
                <a:ext uri="{FF2B5EF4-FFF2-40B4-BE49-F238E27FC236}">
                  <a16:creationId xmlns:a16="http://schemas.microsoft.com/office/drawing/2014/main" id="{3DD7360B-11B5-0AE4-AE35-B34A063249A4}"/>
                </a:ext>
              </a:extLst>
            </p:cNvPr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/>
              <a:ahLst/>
              <a:cxnLst/>
              <a:rect l="l" t="t" r="r" b="b"/>
              <a:pathLst>
                <a:path w="450214" h="506845" extrusionOk="0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>
              <a:noFill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pic>
        <p:nvPicPr>
          <p:cNvPr id="687" name="Google Shape;687;p8">
            <a:extLst>
              <a:ext uri="{FF2B5EF4-FFF2-40B4-BE49-F238E27FC236}">
                <a16:creationId xmlns:a16="http://schemas.microsoft.com/office/drawing/2014/main" id="{D2314D40-A97F-050D-6B94-26F5268E8124}"/>
              </a:ext>
            </a:extLst>
          </p:cNvPr>
          <p:cNvPicPr preferRelativeResize="0"/>
          <p:nvPr/>
        </p:nvPicPr>
        <p:blipFill rotWithShape="1">
          <a:blip r:embed="rId4">
            <a:alphaModFix amt="27000"/>
          </a:blip>
          <a:srcRect/>
          <a:stretch/>
        </p:blipFill>
        <p:spPr>
          <a:xfrm flipH="1">
            <a:off x="0" y="1916849"/>
            <a:ext cx="12192000" cy="2335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88" name="Google Shape;688;p8">
            <a:extLst>
              <a:ext uri="{FF2B5EF4-FFF2-40B4-BE49-F238E27FC236}">
                <a16:creationId xmlns:a16="http://schemas.microsoft.com/office/drawing/2014/main" id="{F1D5A5DA-210A-1060-8AA3-D6DA25656F26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689" name="Google Shape;689;p8" descr="EMB0000378c3f3d">
              <a:extLst>
                <a:ext uri="{FF2B5EF4-FFF2-40B4-BE49-F238E27FC236}">
                  <a16:creationId xmlns:a16="http://schemas.microsoft.com/office/drawing/2014/main" id="{B6099007-1279-0FEA-83C3-A0CECBC2E5EF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2420865" y="6027409"/>
              <a:ext cx="1180238" cy="3757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90" name="Google Shape;690;p8">
              <a:extLst>
                <a:ext uri="{FF2B5EF4-FFF2-40B4-BE49-F238E27FC236}">
                  <a16:creationId xmlns:a16="http://schemas.microsoft.com/office/drawing/2014/main" id="{38DF7D25-3CAC-6B10-FD9A-70EB3921ED40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91" name="Google Shape;691;p8">
            <a:extLst>
              <a:ext uri="{FF2B5EF4-FFF2-40B4-BE49-F238E27FC236}">
                <a16:creationId xmlns:a16="http://schemas.microsoft.com/office/drawing/2014/main" id="{3B30C7D1-566A-A067-4261-21501984D796}"/>
              </a:ext>
            </a:extLst>
          </p:cNvPr>
          <p:cNvSpPr txBox="1"/>
          <p:nvPr/>
        </p:nvSpPr>
        <p:spPr>
          <a:xfrm>
            <a:off x="5987844" y="2002949"/>
            <a:ext cx="6096000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SzPts val="1400"/>
            </a:pPr>
            <a:r>
              <a:rPr lang="en-US" altLang="ko-KR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lang="ko-KR" altLang="en-US" dirty="0"/>
              <a:t>각 </a:t>
            </a:r>
            <a:r>
              <a:rPr lang="ko-KR" altLang="en-US" sz="14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모델별</a:t>
            </a:r>
            <a:r>
              <a:rPr lang="ko-KR" alt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altLang="ko-KR" dirty="0"/>
              <a:t>I</a:t>
            </a:r>
            <a:r>
              <a:rPr lang="en-US" altLang="ko-KR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nput </a:t>
            </a:r>
            <a:r>
              <a:rPr lang="en-US" altLang="ko-KR" dirty="0"/>
              <a:t>F</a:t>
            </a:r>
            <a:r>
              <a:rPr lang="en-US" altLang="ko-KR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eature </a:t>
            </a:r>
            <a:r>
              <a:rPr lang="ko-KR" alt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altLang="ko-KR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   </a:t>
            </a:r>
            <a:r>
              <a:rPr lang="en-US" altLang="ko-KR" dirty="0">
                <a:solidFill>
                  <a:srgbClr val="3A3838"/>
                </a:solidFill>
                <a:latin typeface="Malgun Gothic"/>
                <a:ea typeface="Malgun Gothic"/>
                <a:sym typeface="Malgun Gothic"/>
              </a:rPr>
              <a:t>-</a:t>
            </a:r>
            <a:r>
              <a:rPr lang="ko-KR" alt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altLang="ko-KR" dirty="0"/>
              <a:t>Ui Output Data </a:t>
            </a:r>
            <a:endParaRPr lang="ko-KR" altLang="en-US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D3D5C8FF-AC49-6DBF-E165-CA2ACB8AD73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91484" y="2298756"/>
            <a:ext cx="3768034" cy="3542817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4961FF49-3CE8-377E-6B4F-0C407C9A33E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59517" y="2304848"/>
            <a:ext cx="1954528" cy="3534279"/>
          </a:xfrm>
          <a:prstGeom prst="rect">
            <a:avLst/>
          </a:prstGeom>
        </p:spPr>
      </p:pic>
      <p:grpSp>
        <p:nvGrpSpPr>
          <p:cNvPr id="37" name="Google Shape;422;p7">
            <a:extLst>
              <a:ext uri="{FF2B5EF4-FFF2-40B4-BE49-F238E27FC236}">
                <a16:creationId xmlns:a16="http://schemas.microsoft.com/office/drawing/2014/main" id="{17D977CD-97BB-ACB0-1DFC-02B34BD9E241}"/>
              </a:ext>
            </a:extLst>
          </p:cNvPr>
          <p:cNvGrpSpPr/>
          <p:nvPr/>
        </p:nvGrpSpPr>
        <p:grpSpPr>
          <a:xfrm>
            <a:off x="859347" y="3421953"/>
            <a:ext cx="5052881" cy="346151"/>
            <a:chOff x="2654691" y="3784081"/>
            <a:chExt cx="9221535" cy="389158"/>
          </a:xfrm>
        </p:grpSpPr>
        <p:grpSp>
          <p:nvGrpSpPr>
            <p:cNvPr id="39" name="Google Shape;424;p7">
              <a:extLst>
                <a:ext uri="{FF2B5EF4-FFF2-40B4-BE49-F238E27FC236}">
                  <a16:creationId xmlns:a16="http://schemas.microsoft.com/office/drawing/2014/main" id="{42D4F5E1-0B97-687E-2897-D2A61CB41E68}"/>
                </a:ext>
              </a:extLst>
            </p:cNvPr>
            <p:cNvGrpSpPr/>
            <p:nvPr/>
          </p:nvGrpSpPr>
          <p:grpSpPr>
            <a:xfrm>
              <a:off x="2654691" y="3784081"/>
              <a:ext cx="418718" cy="380422"/>
              <a:chOff x="427587" y="2066948"/>
              <a:chExt cx="912263" cy="828829"/>
            </a:xfrm>
          </p:grpSpPr>
          <p:sp>
            <p:nvSpPr>
              <p:cNvPr id="41" name="Google Shape;425;p7">
                <a:extLst>
                  <a:ext uri="{FF2B5EF4-FFF2-40B4-BE49-F238E27FC236}">
                    <a16:creationId xmlns:a16="http://schemas.microsoft.com/office/drawing/2014/main" id="{2C74E227-5CD0-7FAD-170C-B89FACCA46C8}"/>
                  </a:ext>
                </a:extLst>
              </p:cNvPr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3378C8"/>
              </a:solidFill>
              <a:ln w="12700" cap="flat" cmpd="sng">
                <a:solidFill>
                  <a:srgbClr val="3378C8"/>
                </a:solidFill>
                <a:prstDash val="solid"/>
                <a:miter lim="8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42" name="Google Shape;426;p7">
                <a:extLst>
                  <a:ext uri="{FF2B5EF4-FFF2-40B4-BE49-F238E27FC236}">
                    <a16:creationId xmlns:a16="http://schemas.microsoft.com/office/drawing/2014/main" id="{245BE317-0C42-B48A-C11D-4994E44FEA0E}"/>
                  </a:ext>
                </a:extLst>
              </p:cNvPr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/>
                <a:ahLst/>
                <a:cxnLst/>
                <a:rect l="l" t="t" r="r" b="b"/>
                <a:pathLst>
                  <a:path w="751712" h="766419" extrusionOk="0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0">
                    <a:srgbClr val="2069C2">
                      <a:alpha val="13333"/>
                    </a:srgbClr>
                  </a:gs>
                  <a:gs pos="69000">
                    <a:srgbClr val="FFFFFF">
                      <a:alpha val="2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43" name="Google Shape;427;p7">
                <a:extLst>
                  <a:ext uri="{FF2B5EF4-FFF2-40B4-BE49-F238E27FC236}">
                    <a16:creationId xmlns:a16="http://schemas.microsoft.com/office/drawing/2014/main" id="{CB95BC14-AC05-CE3B-EBA1-102332C58F92}"/>
                  </a:ext>
                </a:extLst>
              </p:cNvPr>
              <p:cNvSpPr txBox="1"/>
              <p:nvPr/>
            </p:nvSpPr>
            <p:spPr>
              <a:xfrm>
                <a:off x="616568" y="2271884"/>
                <a:ext cx="557043" cy="536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lang="ko-KR" sz="16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2</a:t>
                </a: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0" name="Google Shape;428;p7">
              <a:extLst>
                <a:ext uri="{FF2B5EF4-FFF2-40B4-BE49-F238E27FC236}">
                  <a16:creationId xmlns:a16="http://schemas.microsoft.com/office/drawing/2014/main" id="{D41D4277-D9B9-14B4-BF3B-8216DF4D7E22}"/>
                </a:ext>
              </a:extLst>
            </p:cNvPr>
            <p:cNvSpPr txBox="1"/>
            <p:nvPr/>
          </p:nvSpPr>
          <p:spPr>
            <a:xfrm>
              <a:off x="3276218" y="3827268"/>
              <a:ext cx="8600008" cy="34597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ko-KR" altLang="en-US" sz="1400" b="0" i="0" u="none" strike="noStrike" cap="none" dirty="0">
                  <a:solidFill>
                    <a:srgbClr val="3A3838"/>
                  </a:solidFill>
                  <a:latin typeface="Malgun Gothic"/>
                  <a:ea typeface="Malgun Gothic"/>
                  <a:cs typeface="Arial"/>
                  <a:sym typeface="Malgun Gothic"/>
                </a:rPr>
                <a:t>모델 </a:t>
              </a:r>
              <a:r>
                <a:rPr lang="en-US" altLang="ko-KR" sz="1400" b="0" i="0" u="none" strike="noStrike" cap="none" dirty="0">
                  <a:solidFill>
                    <a:srgbClr val="3A3838"/>
                  </a:solidFill>
                  <a:latin typeface="Malgun Gothic"/>
                  <a:ea typeface="Malgun Gothic"/>
                  <a:cs typeface="Arial"/>
                  <a:sym typeface="Malgun Gothic"/>
                </a:rPr>
                <a:t>input feature</a:t>
              </a:r>
              <a:r>
                <a:rPr lang="ko-KR" altLang="en-US" sz="1400" b="0" i="0" u="none" strike="noStrike" cap="none" dirty="0">
                  <a:solidFill>
                    <a:srgbClr val="3A3838"/>
                  </a:solidFill>
                  <a:latin typeface="Malgun Gothic"/>
                  <a:ea typeface="Malgun Gothic"/>
                  <a:cs typeface="Arial"/>
                  <a:sym typeface="Malgun Gothic"/>
                </a:rPr>
                <a:t>와 </a:t>
              </a:r>
              <a:r>
                <a:rPr lang="en-US" altLang="ko-KR" sz="1400" b="0" i="0" u="none" strike="noStrike" cap="none" dirty="0" err="1">
                  <a:solidFill>
                    <a:srgbClr val="3A3838"/>
                  </a:solidFill>
                  <a:latin typeface="Malgun Gothic"/>
                  <a:ea typeface="Malgun Gothic"/>
                  <a:cs typeface="Arial"/>
                  <a:sym typeface="Malgun Gothic"/>
                </a:rPr>
                <a:t>ui</a:t>
              </a:r>
              <a:r>
                <a:rPr lang="en-US" altLang="ko-KR" sz="1400" b="0" i="0" u="none" strike="noStrike" cap="none" dirty="0">
                  <a:solidFill>
                    <a:srgbClr val="3A3838"/>
                  </a:solidFill>
                  <a:latin typeface="Malgun Gothic"/>
                  <a:ea typeface="Malgun Gothic"/>
                  <a:cs typeface="Arial"/>
                  <a:sym typeface="Malgun Gothic"/>
                </a:rPr>
                <a:t> output </a:t>
              </a:r>
              <a:r>
                <a:rPr lang="ko-KR" altLang="en-US" sz="1400" b="0" i="0" u="none" strike="noStrike" cap="none" dirty="0">
                  <a:solidFill>
                    <a:srgbClr val="3A3838"/>
                  </a:solidFill>
                  <a:latin typeface="Malgun Gothic"/>
                  <a:ea typeface="Malgun Gothic"/>
                  <a:cs typeface="Arial"/>
                  <a:sym typeface="Malgun Gothic"/>
                </a:rPr>
                <a:t>데이터 생성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4" name="Google Shape;429;p7">
            <a:extLst>
              <a:ext uri="{FF2B5EF4-FFF2-40B4-BE49-F238E27FC236}">
                <a16:creationId xmlns:a16="http://schemas.microsoft.com/office/drawing/2014/main" id="{69E71318-DBB5-C9EE-7F79-B5070E40EE8D}"/>
              </a:ext>
            </a:extLst>
          </p:cNvPr>
          <p:cNvGrpSpPr/>
          <p:nvPr/>
        </p:nvGrpSpPr>
        <p:grpSpPr>
          <a:xfrm>
            <a:off x="859347" y="4180469"/>
            <a:ext cx="4758928" cy="516471"/>
            <a:chOff x="2654691" y="4520445"/>
            <a:chExt cx="8737577" cy="580641"/>
          </a:xfrm>
        </p:grpSpPr>
        <p:grpSp>
          <p:nvGrpSpPr>
            <p:cNvPr id="46" name="Google Shape;431;p7">
              <a:extLst>
                <a:ext uri="{FF2B5EF4-FFF2-40B4-BE49-F238E27FC236}">
                  <a16:creationId xmlns:a16="http://schemas.microsoft.com/office/drawing/2014/main" id="{D0F78DDD-BABF-7EE7-1657-3C7C85289E24}"/>
                </a:ext>
              </a:extLst>
            </p:cNvPr>
            <p:cNvGrpSpPr/>
            <p:nvPr/>
          </p:nvGrpSpPr>
          <p:grpSpPr>
            <a:xfrm>
              <a:off x="2654691" y="4720664"/>
              <a:ext cx="418718" cy="380422"/>
              <a:chOff x="427587" y="2066948"/>
              <a:chExt cx="912263" cy="828829"/>
            </a:xfrm>
          </p:grpSpPr>
          <p:sp>
            <p:nvSpPr>
              <p:cNvPr id="48" name="Google Shape;432;p7">
                <a:extLst>
                  <a:ext uri="{FF2B5EF4-FFF2-40B4-BE49-F238E27FC236}">
                    <a16:creationId xmlns:a16="http://schemas.microsoft.com/office/drawing/2014/main" id="{AE4A8E4E-9747-BD4A-E78B-A4432BF975A1}"/>
                  </a:ext>
                </a:extLst>
              </p:cNvPr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3378C8"/>
              </a:solidFill>
              <a:ln w="12700" cap="flat" cmpd="sng">
                <a:solidFill>
                  <a:srgbClr val="3378C8"/>
                </a:solidFill>
                <a:prstDash val="solid"/>
                <a:miter lim="8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49" name="Google Shape;433;p7">
                <a:extLst>
                  <a:ext uri="{FF2B5EF4-FFF2-40B4-BE49-F238E27FC236}">
                    <a16:creationId xmlns:a16="http://schemas.microsoft.com/office/drawing/2014/main" id="{D3A93FE1-B118-F104-F03E-8C1075D4A00D}"/>
                  </a:ext>
                </a:extLst>
              </p:cNvPr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/>
                <a:ahLst/>
                <a:cxnLst/>
                <a:rect l="l" t="t" r="r" b="b"/>
                <a:pathLst>
                  <a:path w="751712" h="766419" extrusionOk="0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0">
                    <a:srgbClr val="2069C2">
                      <a:alpha val="13333"/>
                    </a:srgbClr>
                  </a:gs>
                  <a:gs pos="69000">
                    <a:srgbClr val="FFFFFF">
                      <a:alpha val="2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50" name="Google Shape;434;p7">
                <a:extLst>
                  <a:ext uri="{FF2B5EF4-FFF2-40B4-BE49-F238E27FC236}">
                    <a16:creationId xmlns:a16="http://schemas.microsoft.com/office/drawing/2014/main" id="{451DEFD8-F2B5-6C8F-F47B-1494811698F0}"/>
                  </a:ext>
                </a:extLst>
              </p:cNvPr>
              <p:cNvSpPr txBox="1"/>
              <p:nvPr/>
            </p:nvSpPr>
            <p:spPr>
              <a:xfrm>
                <a:off x="616568" y="2271884"/>
                <a:ext cx="557043" cy="536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lang="ko-KR" sz="16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3</a:t>
                </a: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7" name="Google Shape;435;p7">
              <a:extLst>
                <a:ext uri="{FF2B5EF4-FFF2-40B4-BE49-F238E27FC236}">
                  <a16:creationId xmlns:a16="http://schemas.microsoft.com/office/drawing/2014/main" id="{AB3092E2-953D-770B-3EFF-058F296F5C34}"/>
                </a:ext>
              </a:extLst>
            </p:cNvPr>
            <p:cNvSpPr txBox="1"/>
            <p:nvPr/>
          </p:nvSpPr>
          <p:spPr>
            <a:xfrm>
              <a:off x="3215628" y="4520445"/>
              <a:ext cx="8176640" cy="4154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ko-KR" altLang="en-US" sz="14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방문객 수 회귀 모델과 혼잡도 분류 모델 실행 후 이용자 점수</a:t>
              </a:r>
              <a:r>
                <a:rPr lang="en-US" altLang="ko-KR" dirty="0"/>
                <a:t>·</a:t>
              </a:r>
              <a:r>
                <a:rPr lang="ko-KR" altLang="en-US" dirty="0"/>
                <a:t>날씨 점수 계산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1" name="Google Shape;436;p7">
            <a:extLst>
              <a:ext uri="{FF2B5EF4-FFF2-40B4-BE49-F238E27FC236}">
                <a16:creationId xmlns:a16="http://schemas.microsoft.com/office/drawing/2014/main" id="{14D21318-24CF-6C09-2B67-9D58EEDA129F}"/>
              </a:ext>
            </a:extLst>
          </p:cNvPr>
          <p:cNvGrpSpPr/>
          <p:nvPr/>
        </p:nvGrpSpPr>
        <p:grpSpPr>
          <a:xfrm>
            <a:off x="859348" y="2432082"/>
            <a:ext cx="4911835" cy="516361"/>
            <a:chOff x="2654691" y="2787639"/>
            <a:chExt cx="8964129" cy="580517"/>
          </a:xfrm>
        </p:grpSpPr>
        <p:sp>
          <p:nvSpPr>
            <p:cNvPr id="53" name="Google Shape;438;p7">
              <a:extLst>
                <a:ext uri="{FF2B5EF4-FFF2-40B4-BE49-F238E27FC236}">
                  <a16:creationId xmlns:a16="http://schemas.microsoft.com/office/drawing/2014/main" id="{A59CF1C7-6B23-0C86-6C6E-DCB759219E7A}"/>
                </a:ext>
              </a:extLst>
            </p:cNvPr>
            <p:cNvSpPr txBox="1"/>
            <p:nvPr/>
          </p:nvSpPr>
          <p:spPr>
            <a:xfrm>
              <a:off x="3276221" y="2787639"/>
              <a:ext cx="8342599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altLang="ko-KR" dirty="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api.meto.com</a:t>
              </a:r>
              <a:r>
                <a:rPr lang="ko-KR" altLang="en-US" dirty="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의 </a:t>
              </a:r>
              <a:r>
                <a:rPr lang="en-US" altLang="ko-KR" dirty="0" err="1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a</a:t>
              </a:r>
              <a:r>
                <a:rPr lang="en-US" altLang="ko-KR" sz="1400" b="0" i="0" u="none" strike="noStrike" cap="none" dirty="0" err="1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pi</a:t>
              </a:r>
              <a:r>
                <a:rPr lang="ko-KR" altLang="en-US" sz="1400" b="0" i="0" u="none" strike="noStrike" cap="none" dirty="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로 날짜별 실제 날씨 조회</a:t>
              </a:r>
              <a:endParaRPr sz="1400" b="0" i="0" u="none" strike="noStrike" cap="none" dirty="0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4" name="Google Shape;439;p7">
              <a:extLst>
                <a:ext uri="{FF2B5EF4-FFF2-40B4-BE49-F238E27FC236}">
                  <a16:creationId xmlns:a16="http://schemas.microsoft.com/office/drawing/2014/main" id="{B5C4A372-6D2C-B2DC-EA30-C941F42CBFDB}"/>
                </a:ext>
              </a:extLst>
            </p:cNvPr>
            <p:cNvSpPr txBox="1"/>
            <p:nvPr/>
          </p:nvSpPr>
          <p:spPr>
            <a:xfrm>
              <a:off x="4041418" y="2998865"/>
              <a:ext cx="3295109" cy="369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ko-KR" altLang="en-US" sz="1200" dirty="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기온</a:t>
              </a:r>
              <a:r>
                <a:rPr lang="en-US" altLang="ko-KR" sz="1200" dirty="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, </a:t>
              </a:r>
              <a:r>
                <a:rPr lang="ko-KR" altLang="en-US" sz="1200" dirty="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습도</a:t>
              </a:r>
              <a:r>
                <a:rPr lang="en-US" altLang="ko-KR" sz="1200" dirty="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, </a:t>
              </a:r>
              <a:r>
                <a:rPr lang="ko-KR" altLang="en-US" sz="1200" dirty="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강수확률</a:t>
              </a:r>
              <a:r>
                <a:rPr lang="ko-KR" sz="1200" b="0" i="0" u="none" strike="noStrike" cap="none" dirty="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등</a:t>
              </a:r>
              <a:endParaRPr sz="1200" b="0" i="0" u="none" strike="noStrike" cap="none" dirty="0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grpSp>
          <p:nvGrpSpPr>
            <p:cNvPr id="55" name="Google Shape;440;p7">
              <a:extLst>
                <a:ext uri="{FF2B5EF4-FFF2-40B4-BE49-F238E27FC236}">
                  <a16:creationId xmlns:a16="http://schemas.microsoft.com/office/drawing/2014/main" id="{F0C0EEC2-F4EB-21FD-5064-8C049B312822}"/>
                </a:ext>
              </a:extLst>
            </p:cNvPr>
            <p:cNvGrpSpPr/>
            <p:nvPr/>
          </p:nvGrpSpPr>
          <p:grpSpPr>
            <a:xfrm>
              <a:off x="2654691" y="2847498"/>
              <a:ext cx="418718" cy="416501"/>
              <a:chOff x="427587" y="2066948"/>
              <a:chExt cx="912263" cy="907435"/>
            </a:xfrm>
          </p:grpSpPr>
          <p:sp>
            <p:nvSpPr>
              <p:cNvPr id="57" name="Google Shape;441;p7">
                <a:extLst>
                  <a:ext uri="{FF2B5EF4-FFF2-40B4-BE49-F238E27FC236}">
                    <a16:creationId xmlns:a16="http://schemas.microsoft.com/office/drawing/2014/main" id="{81A8811D-B28F-322E-369A-DA482E832AF6}"/>
                  </a:ext>
                </a:extLst>
              </p:cNvPr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3378C8"/>
              </a:solidFill>
              <a:ln w="12700" cap="flat" cmpd="sng">
                <a:solidFill>
                  <a:srgbClr val="3378C8"/>
                </a:solidFill>
                <a:prstDash val="solid"/>
                <a:miter lim="8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58" name="Google Shape;442;p7">
                <a:extLst>
                  <a:ext uri="{FF2B5EF4-FFF2-40B4-BE49-F238E27FC236}">
                    <a16:creationId xmlns:a16="http://schemas.microsoft.com/office/drawing/2014/main" id="{1675D816-13AB-5767-BEFC-B89E2D2F16F8}"/>
                  </a:ext>
                </a:extLst>
              </p:cNvPr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/>
                <a:ahLst/>
                <a:cxnLst/>
                <a:rect l="l" t="t" r="r" b="b"/>
                <a:pathLst>
                  <a:path w="751712" h="766419" extrusionOk="0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0">
                    <a:srgbClr val="2069C2">
                      <a:alpha val="13333"/>
                    </a:srgbClr>
                  </a:gs>
                  <a:gs pos="69000">
                    <a:srgbClr val="FFFFFF">
                      <a:alpha val="2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59" name="Google Shape;443;p7">
                <a:extLst>
                  <a:ext uri="{FF2B5EF4-FFF2-40B4-BE49-F238E27FC236}">
                    <a16:creationId xmlns:a16="http://schemas.microsoft.com/office/drawing/2014/main" id="{30D2A617-1AAD-41FE-15B4-C3038316D65D}"/>
                  </a:ext>
                </a:extLst>
              </p:cNvPr>
              <p:cNvSpPr txBox="1"/>
              <p:nvPr/>
            </p:nvSpPr>
            <p:spPr>
              <a:xfrm>
                <a:off x="616568" y="2271884"/>
                <a:ext cx="557043" cy="7024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lang="ko-KR" sz="1600" b="0" i="0" u="none" strike="noStrike" cap="none" dirty="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1</a:t>
                </a:r>
                <a:endParaRPr sz="1200" b="0" i="0" u="none" strike="noStrike" cap="none" dirty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6" name="Google Shape;444;p7">
              <a:extLst>
                <a:ext uri="{FF2B5EF4-FFF2-40B4-BE49-F238E27FC236}">
                  <a16:creationId xmlns:a16="http://schemas.microsoft.com/office/drawing/2014/main" id="{79476E05-1F0C-7194-D259-03A4BDF616B0}"/>
                </a:ext>
              </a:extLst>
            </p:cNvPr>
            <p:cNvSpPr/>
            <p:nvPr/>
          </p:nvSpPr>
          <p:spPr>
            <a:xfrm>
              <a:off x="3405354" y="3123937"/>
              <a:ext cx="709398" cy="169692"/>
            </a:xfrm>
            <a:prstGeom prst="roundRect">
              <a:avLst>
                <a:gd name="adj" fmla="val 16667"/>
              </a:avLst>
            </a:prstGeom>
            <a:solidFill>
              <a:srgbClr val="FFD85C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ko-KR" sz="1200" b="1" i="0" u="none" strike="noStrike" cap="none" dirty="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예시</a:t>
              </a:r>
              <a:endParaRPr sz="1200" b="1" i="0" u="none" strike="noStrike" cap="none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60" name="Google Shape;445;p7">
            <a:extLst>
              <a:ext uri="{FF2B5EF4-FFF2-40B4-BE49-F238E27FC236}">
                <a16:creationId xmlns:a16="http://schemas.microsoft.com/office/drawing/2014/main" id="{1F54AC11-7A45-7ECC-F11B-E02718B803D0}"/>
              </a:ext>
            </a:extLst>
          </p:cNvPr>
          <p:cNvGrpSpPr/>
          <p:nvPr/>
        </p:nvGrpSpPr>
        <p:grpSpPr>
          <a:xfrm>
            <a:off x="859347" y="5245448"/>
            <a:ext cx="4671745" cy="484495"/>
            <a:chOff x="2654691" y="5601324"/>
            <a:chExt cx="8577505" cy="544691"/>
          </a:xfrm>
        </p:grpSpPr>
        <p:grpSp>
          <p:nvGrpSpPr>
            <p:cNvPr id="62" name="Google Shape;447;p7">
              <a:extLst>
                <a:ext uri="{FF2B5EF4-FFF2-40B4-BE49-F238E27FC236}">
                  <a16:creationId xmlns:a16="http://schemas.microsoft.com/office/drawing/2014/main" id="{F5F2A64D-B8CD-AD94-DEA5-DDA580B05D64}"/>
                </a:ext>
              </a:extLst>
            </p:cNvPr>
            <p:cNvGrpSpPr/>
            <p:nvPr/>
          </p:nvGrpSpPr>
          <p:grpSpPr>
            <a:xfrm>
              <a:off x="2654691" y="5657247"/>
              <a:ext cx="418718" cy="380422"/>
              <a:chOff x="427587" y="2066948"/>
              <a:chExt cx="912263" cy="828829"/>
            </a:xfrm>
          </p:grpSpPr>
          <p:sp>
            <p:nvSpPr>
              <p:cNvPr id="641" name="Google Shape;448;p7">
                <a:extLst>
                  <a:ext uri="{FF2B5EF4-FFF2-40B4-BE49-F238E27FC236}">
                    <a16:creationId xmlns:a16="http://schemas.microsoft.com/office/drawing/2014/main" id="{4D06742A-06B5-54EB-0A1E-8D7C7619B238}"/>
                  </a:ext>
                </a:extLst>
              </p:cNvPr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3378C8"/>
              </a:solidFill>
              <a:ln w="12700" cap="flat" cmpd="sng">
                <a:solidFill>
                  <a:srgbClr val="3378C8"/>
                </a:solidFill>
                <a:prstDash val="solid"/>
                <a:miter lim="8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642" name="Google Shape;449;p7">
                <a:extLst>
                  <a:ext uri="{FF2B5EF4-FFF2-40B4-BE49-F238E27FC236}">
                    <a16:creationId xmlns:a16="http://schemas.microsoft.com/office/drawing/2014/main" id="{7D04C1DE-00A2-5915-2F8F-1ACD81167DE4}"/>
                  </a:ext>
                </a:extLst>
              </p:cNvPr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/>
                <a:ahLst/>
                <a:cxnLst/>
                <a:rect l="l" t="t" r="r" b="b"/>
                <a:pathLst>
                  <a:path w="751712" h="766419" extrusionOk="0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0">
                    <a:srgbClr val="2069C2">
                      <a:alpha val="13333"/>
                    </a:srgbClr>
                  </a:gs>
                  <a:gs pos="69000">
                    <a:srgbClr val="FFFFFF">
                      <a:alpha val="2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643" name="Google Shape;450;p7">
                <a:extLst>
                  <a:ext uri="{FF2B5EF4-FFF2-40B4-BE49-F238E27FC236}">
                    <a16:creationId xmlns:a16="http://schemas.microsoft.com/office/drawing/2014/main" id="{FF581150-7B92-F43E-61F2-3292FE20E9F2}"/>
                  </a:ext>
                </a:extLst>
              </p:cNvPr>
              <p:cNvSpPr txBox="1"/>
              <p:nvPr/>
            </p:nvSpPr>
            <p:spPr>
              <a:xfrm>
                <a:off x="616568" y="2271884"/>
                <a:ext cx="557043" cy="536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lang="ko-KR" sz="16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4</a:t>
                </a: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3" name="Google Shape;451;p7">
              <a:extLst>
                <a:ext uri="{FF2B5EF4-FFF2-40B4-BE49-F238E27FC236}">
                  <a16:creationId xmlns:a16="http://schemas.microsoft.com/office/drawing/2014/main" id="{B99018BF-B5BE-0A84-1DA2-A1AAB5FC60A8}"/>
                </a:ext>
              </a:extLst>
            </p:cNvPr>
            <p:cNvSpPr txBox="1"/>
            <p:nvPr/>
          </p:nvSpPr>
          <p:spPr>
            <a:xfrm>
              <a:off x="3276220" y="5601324"/>
              <a:ext cx="6956034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ko-KR" altLang="en-US" dirty="0">
                  <a:solidFill>
                    <a:srgbClr val="3A3838"/>
                  </a:solidFill>
                  <a:latin typeface="Malgun Gothic"/>
                  <a:ea typeface="Malgun Gothic"/>
                  <a:sym typeface="Malgun Gothic"/>
                </a:rPr>
                <a:t>날짜별 </a:t>
              </a:r>
              <a:r>
                <a:rPr lang="en-US" altLang="ko-KR" dirty="0">
                  <a:solidFill>
                    <a:srgbClr val="3A3838"/>
                  </a:solidFill>
                  <a:latin typeface="Malgun Gothic"/>
                  <a:ea typeface="Malgun Gothic"/>
                  <a:sym typeface="Malgun Gothic"/>
                </a:rPr>
                <a:t>UI </a:t>
              </a:r>
              <a:r>
                <a:rPr lang="ko-KR" altLang="en-US" dirty="0">
                  <a:solidFill>
                    <a:srgbClr val="3A3838"/>
                  </a:solidFill>
                  <a:latin typeface="Malgun Gothic"/>
                  <a:ea typeface="Malgun Gothic"/>
                  <a:sym typeface="Malgun Gothic"/>
                </a:rPr>
                <a:t>출력 데이터를 생성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0" name="Google Shape;452;p7">
              <a:extLst>
                <a:ext uri="{FF2B5EF4-FFF2-40B4-BE49-F238E27FC236}">
                  <a16:creationId xmlns:a16="http://schemas.microsoft.com/office/drawing/2014/main" id="{0602309C-216D-74D8-8F7B-45BD53CD400A}"/>
                </a:ext>
              </a:extLst>
            </p:cNvPr>
            <p:cNvSpPr txBox="1"/>
            <p:nvPr/>
          </p:nvSpPr>
          <p:spPr>
            <a:xfrm>
              <a:off x="4081717" y="5776724"/>
              <a:ext cx="7150479" cy="369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dirty="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Json</a:t>
              </a:r>
              <a:r>
                <a:rPr lang="ko-KR" altLang="en-US" sz="1200" dirty="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형태로 필요한 정보 생성</a:t>
              </a:r>
              <a:endParaRPr sz="1200" b="0" i="0" u="none" strike="noStrike" cap="none" dirty="0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644" name="Google Shape;444;p7">
            <a:extLst>
              <a:ext uri="{FF2B5EF4-FFF2-40B4-BE49-F238E27FC236}">
                <a16:creationId xmlns:a16="http://schemas.microsoft.com/office/drawing/2014/main" id="{2C1C94FE-93B5-F6CE-3C8C-16EC2B3A57DD}"/>
              </a:ext>
            </a:extLst>
          </p:cNvPr>
          <p:cNvSpPr/>
          <p:nvPr/>
        </p:nvSpPr>
        <p:spPr>
          <a:xfrm>
            <a:off x="1290031" y="5504340"/>
            <a:ext cx="386374" cy="150939"/>
          </a:xfrm>
          <a:prstGeom prst="roundRect">
            <a:avLst>
              <a:gd name="adj" fmla="val 16667"/>
            </a:avLst>
          </a:prstGeom>
          <a:solidFill>
            <a:srgbClr val="FFD85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ko-KR" sz="1200" b="1" i="0" u="none" strike="noStrike" cap="none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예시</a:t>
            </a:r>
            <a:endParaRPr sz="1200" b="1" i="0" u="none" strike="noStrike" cap="none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6" name="Google Shape;445;p7">
            <a:extLst>
              <a:ext uri="{FF2B5EF4-FFF2-40B4-BE49-F238E27FC236}">
                <a16:creationId xmlns:a16="http://schemas.microsoft.com/office/drawing/2014/main" id="{60A9580C-67E1-8694-A678-14F69E9531A0}"/>
              </a:ext>
            </a:extLst>
          </p:cNvPr>
          <p:cNvGrpSpPr/>
          <p:nvPr/>
        </p:nvGrpSpPr>
        <p:grpSpPr>
          <a:xfrm>
            <a:off x="870148" y="5961422"/>
            <a:ext cx="9751481" cy="598712"/>
            <a:chOff x="2857501" y="5534844"/>
            <a:chExt cx="8902656" cy="673099"/>
          </a:xfrm>
        </p:grpSpPr>
        <p:sp>
          <p:nvSpPr>
            <p:cNvPr id="7" name="Google Shape;446;p7">
              <a:extLst>
                <a:ext uri="{FF2B5EF4-FFF2-40B4-BE49-F238E27FC236}">
                  <a16:creationId xmlns:a16="http://schemas.microsoft.com/office/drawing/2014/main" id="{5BBFB0AE-F6FB-429D-76C1-86EE422E98B2}"/>
                </a:ext>
              </a:extLst>
            </p:cNvPr>
            <p:cNvSpPr/>
            <p:nvPr/>
          </p:nvSpPr>
          <p:spPr>
            <a:xfrm>
              <a:off x="2857501" y="5534844"/>
              <a:ext cx="8902656" cy="673099"/>
            </a:xfrm>
            <a:prstGeom prst="roundRect">
              <a:avLst>
                <a:gd name="adj" fmla="val 16667"/>
              </a:avLst>
            </a:prstGeom>
            <a:solidFill>
              <a:schemeClr val="lt1">
                <a:alpha val="84314"/>
              </a:schemeClr>
            </a:solidFill>
            <a:ln>
              <a:noFill/>
            </a:ln>
            <a:effectLst>
              <a:outerShdw blurRad="76200" algn="ctr" rotWithShape="0">
                <a:srgbClr val="3378C8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9" name="Google Shape;451;p7">
              <a:extLst>
                <a:ext uri="{FF2B5EF4-FFF2-40B4-BE49-F238E27FC236}">
                  <a16:creationId xmlns:a16="http://schemas.microsoft.com/office/drawing/2014/main" id="{96ABA140-56F4-3EBB-E947-C3D056A03E24}"/>
                </a:ext>
              </a:extLst>
            </p:cNvPr>
            <p:cNvSpPr txBox="1"/>
            <p:nvPr/>
          </p:nvSpPr>
          <p:spPr>
            <a:xfrm>
              <a:off x="3276220" y="5601324"/>
              <a:ext cx="6956033" cy="34597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46" name="TextBox 645">
            <a:extLst>
              <a:ext uri="{FF2B5EF4-FFF2-40B4-BE49-F238E27FC236}">
                <a16:creationId xmlns:a16="http://schemas.microsoft.com/office/drawing/2014/main" id="{BA67A81A-BD5B-9A25-A9D0-923CB858BE07}"/>
              </a:ext>
            </a:extLst>
          </p:cNvPr>
          <p:cNvSpPr txBox="1"/>
          <p:nvPr/>
        </p:nvSpPr>
        <p:spPr>
          <a:xfrm>
            <a:off x="3599185" y="5978549"/>
            <a:ext cx="615018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400" b="1" i="0" u="none" strike="noStrike" cap="none" dirty="0">
                <a:solidFill>
                  <a:srgbClr val="8DA9DB"/>
                </a:solidFill>
                <a:latin typeface="Malgun Gothic"/>
                <a:ea typeface="Malgun Gothic"/>
                <a:cs typeface="Malgun Gothic"/>
                <a:sym typeface="Malgun Gothic"/>
              </a:rPr>
              <a:t>Issue</a:t>
            </a:r>
            <a:r>
              <a:rPr lang="ko-KR" altLang="en-US" sz="1400" b="1" i="0" u="none" strike="noStrike" cap="none" dirty="0">
                <a:solidFill>
                  <a:srgbClr val="8DA9DB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altLang="ko-KR" sz="1400" b="1" i="0" u="none" strike="noStrike" cap="none" dirty="0">
                <a:solidFill>
                  <a:srgbClr val="8DA9DB"/>
                </a:solidFill>
                <a:latin typeface="Malgun Gothic"/>
                <a:ea typeface="Malgun Gothic"/>
                <a:cs typeface="Malgun Gothic"/>
                <a:sym typeface="Malgun Gothic"/>
              </a:rPr>
              <a:t>1. </a:t>
            </a:r>
            <a:r>
              <a:rPr lang="ko-KR" altLang="en-US" sz="1400" b="1" i="0" u="none" strike="noStrike" cap="none" dirty="0">
                <a:solidFill>
                  <a:srgbClr val="8DA9DB"/>
                </a:solidFill>
                <a:latin typeface="Malgun Gothic"/>
                <a:ea typeface="Malgun Gothic"/>
                <a:cs typeface="Malgun Gothic"/>
                <a:sym typeface="Malgun Gothic"/>
              </a:rPr>
              <a:t>통합과정에서 각 </a:t>
            </a:r>
            <a:r>
              <a:rPr lang="ko-KR" altLang="en-US" sz="1400" b="1" i="0" u="none" strike="noStrike" cap="none" dirty="0" err="1">
                <a:solidFill>
                  <a:srgbClr val="8DA9DB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모델별</a:t>
            </a:r>
            <a:r>
              <a:rPr lang="ko-KR" altLang="en-US" sz="1400" b="1" i="0" u="none" strike="noStrike" cap="none" dirty="0">
                <a:solidFill>
                  <a:srgbClr val="8DA9DB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altLang="ko-KR" sz="1400" b="1" i="0" u="none" strike="noStrike" cap="none" dirty="0">
                <a:solidFill>
                  <a:srgbClr val="8DA9DB"/>
                </a:solidFill>
                <a:latin typeface="Malgun Gothic"/>
                <a:ea typeface="Malgun Gothic"/>
                <a:cs typeface="Malgun Gothic"/>
                <a:sym typeface="Malgun Gothic"/>
              </a:rPr>
              <a:t>Feature</a:t>
            </a:r>
            <a:r>
              <a:rPr lang="ko-KR" altLang="en-US" sz="1400" b="1" i="0" u="none" strike="noStrike" cap="none" dirty="0">
                <a:solidFill>
                  <a:srgbClr val="8DA9DB"/>
                </a:solidFill>
                <a:latin typeface="Malgun Gothic"/>
                <a:ea typeface="Malgun Gothic"/>
                <a:cs typeface="Malgun Gothic"/>
                <a:sym typeface="Malgun Gothic"/>
              </a:rPr>
              <a:t> 불일치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i="0" u="none" strike="noStrike" cap="none" dirty="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</a:t>
            </a:r>
            <a:r>
              <a:rPr lang="en-US" altLang="ko-KR" sz="1400" b="1" i="0" u="none" strike="noStrike" cap="none" dirty="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   </a:t>
            </a:r>
            <a:r>
              <a:rPr lang="ko-KR" altLang="en-US" sz="1200" b="1" dirty="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회의를 통해 총 </a:t>
            </a:r>
            <a:r>
              <a:rPr lang="en-US" altLang="ko-KR" sz="1200" b="1" dirty="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17</a:t>
            </a:r>
            <a:r>
              <a:rPr lang="ko-KR" altLang="en-US" sz="1200" b="1" dirty="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개의 </a:t>
            </a:r>
            <a:r>
              <a:rPr lang="en-US" altLang="ko-KR" sz="1200" b="1" dirty="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Feature</a:t>
            </a:r>
            <a:r>
              <a:rPr lang="ko-KR" altLang="en-US" sz="1200" b="1" dirty="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로 통합 </a:t>
            </a:r>
            <a:endParaRPr lang="ko-KR" altLang="en-US" sz="1200" b="1" i="0" u="none" strike="noStrike" cap="none" dirty="0">
              <a:solidFill>
                <a:srgbClr val="3F3F3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647" name="Google Shape;419;p12">
            <a:extLst>
              <a:ext uri="{FF2B5EF4-FFF2-40B4-BE49-F238E27FC236}">
                <a16:creationId xmlns:a16="http://schemas.microsoft.com/office/drawing/2014/main" id="{4604EE1A-697D-5361-B260-82DE1CC86523}"/>
              </a:ext>
            </a:extLst>
          </p:cNvPr>
          <p:cNvCxnSpPr>
            <a:cxnSpLocks/>
          </p:cNvCxnSpPr>
          <p:nvPr/>
        </p:nvCxnSpPr>
        <p:spPr>
          <a:xfrm>
            <a:off x="3738439" y="6342967"/>
            <a:ext cx="507140" cy="0"/>
          </a:xfrm>
          <a:prstGeom prst="straightConnector1">
            <a:avLst/>
          </a:prstGeom>
          <a:noFill/>
          <a:ln w="9525" cap="flat" cmpd="sng">
            <a:solidFill>
              <a:srgbClr val="3E6EC2"/>
            </a:solidFill>
            <a:prstDash val="solid"/>
            <a:round/>
            <a:headEnd type="none" w="sm" len="sm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5289645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4">
          <a:extLst>
            <a:ext uri="{FF2B5EF4-FFF2-40B4-BE49-F238E27FC236}">
              <a16:creationId xmlns:a16="http://schemas.microsoft.com/office/drawing/2014/main" id="{CA8B801A-ECDC-5ABC-7FC2-4B746692FC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5" name="Google Shape;675;p8">
            <a:extLst>
              <a:ext uri="{FF2B5EF4-FFF2-40B4-BE49-F238E27FC236}">
                <a16:creationId xmlns:a16="http://schemas.microsoft.com/office/drawing/2014/main" id="{8E0941F3-FA5B-4291-BA10-288C3AE4952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76" name="Google Shape;676;p8">
            <a:extLst>
              <a:ext uri="{FF2B5EF4-FFF2-40B4-BE49-F238E27FC236}">
                <a16:creationId xmlns:a16="http://schemas.microsoft.com/office/drawing/2014/main" id="{9DCE0C6E-B271-EF63-DCE2-43D6BDB3BC60}"/>
              </a:ext>
            </a:extLst>
          </p:cNvPr>
          <p:cNvSpPr/>
          <p:nvPr/>
        </p:nvSpPr>
        <p:spPr>
          <a:xfrm rot="10800000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rgbClr val="F2F2F2">
              <a:alpha val="49412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677" name="Google Shape;677;p8">
            <a:extLst>
              <a:ext uri="{FF2B5EF4-FFF2-40B4-BE49-F238E27FC236}">
                <a16:creationId xmlns:a16="http://schemas.microsoft.com/office/drawing/2014/main" id="{2A00CBE4-3095-DD0C-A0F7-DC5D70A76118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678" name="Google Shape;678;p8">
              <a:extLst>
                <a:ext uri="{FF2B5EF4-FFF2-40B4-BE49-F238E27FC236}">
                  <a16:creationId xmlns:a16="http://schemas.microsoft.com/office/drawing/2014/main" id="{8663374D-2FBD-8619-3C92-99A70CAF5D9A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ko-KR" sz="1200" b="1" i="0" u="none" strike="noStrike" cap="none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K-Digital Training</a:t>
              </a:r>
              <a:endParaRPr sz="1200" b="1" i="0" u="none" strike="noStrike" cap="none">
                <a:solidFill>
                  <a:srgbClr val="3378C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79" name="Google Shape;679;p8">
              <a:extLst>
                <a:ext uri="{FF2B5EF4-FFF2-40B4-BE49-F238E27FC236}">
                  <a16:creationId xmlns:a16="http://schemas.microsoft.com/office/drawing/2014/main" id="{E5644B60-7A18-9E40-3FD4-418C2617AA1A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1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en-US" sz="2800" b="1" i="0" u="none" strike="noStrike" cap="none" dirty="0">
                  <a:solidFill>
                    <a:srgbClr val="3F3F3F"/>
                  </a:solidFill>
                  <a:latin typeface="Malgun Gothic"/>
                  <a:ea typeface="Malgun Gothic"/>
                  <a:cs typeface="Arial"/>
                  <a:sym typeface="Malgun Gothic"/>
                </a:rPr>
                <a:t>OpenAI API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0" name="Google Shape;680;p8">
              <a:extLst>
                <a:ext uri="{FF2B5EF4-FFF2-40B4-BE49-F238E27FC236}">
                  <a16:creationId xmlns:a16="http://schemas.microsoft.com/office/drawing/2014/main" id="{B6D2A51A-2D8B-36DB-BCBE-EA9E50735C77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0" rIns="91425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400"/>
                <a:buFont typeface="Arial"/>
                <a:buNone/>
              </a:pPr>
              <a:r>
                <a:rPr lang="ko-KR" sz="5400" b="0" i="0" u="none" strike="noStrike" cap="none">
                  <a:solidFill>
                    <a:srgbClr val="3378C8"/>
                  </a:solidFill>
                  <a:latin typeface="Arial"/>
                  <a:ea typeface="Arial"/>
                  <a:cs typeface="Arial"/>
                  <a:sym typeface="Arial"/>
                </a:rPr>
                <a:t>04</a:t>
              </a:r>
              <a:endParaRPr sz="4400" b="1" i="0" u="none" strike="noStrike" cap="none">
                <a:solidFill>
                  <a:srgbClr val="3378C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81" name="Google Shape;681;p8">
            <a:extLst>
              <a:ext uri="{FF2B5EF4-FFF2-40B4-BE49-F238E27FC236}">
                <a16:creationId xmlns:a16="http://schemas.microsoft.com/office/drawing/2014/main" id="{6107451D-3307-3023-A80A-C920CFF5AA36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2" name="Google Shape;682;p8">
            <a:extLst>
              <a:ext uri="{FF2B5EF4-FFF2-40B4-BE49-F238E27FC236}">
                <a16:creationId xmlns:a16="http://schemas.microsoft.com/office/drawing/2014/main" id="{808915D3-42B2-BC3C-5E7C-0E88758F3D2C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83" name="Google Shape;683;p8">
            <a:extLst>
              <a:ext uri="{FF2B5EF4-FFF2-40B4-BE49-F238E27FC236}">
                <a16:creationId xmlns:a16="http://schemas.microsoft.com/office/drawing/2014/main" id="{FF76297B-FBBE-F7B5-0793-32E6443C2718}"/>
              </a:ext>
            </a:extLst>
          </p:cNvPr>
          <p:cNvGrpSpPr/>
          <p:nvPr/>
        </p:nvGrpSpPr>
        <p:grpSpPr>
          <a:xfrm>
            <a:off x="541891" y="1430219"/>
            <a:ext cx="10526159" cy="369291"/>
            <a:chOff x="541891" y="1430219"/>
            <a:chExt cx="10526159" cy="369291"/>
          </a:xfrm>
        </p:grpSpPr>
        <p:sp>
          <p:nvSpPr>
            <p:cNvPr id="684" name="Google Shape;684;p8">
              <a:extLst>
                <a:ext uri="{FF2B5EF4-FFF2-40B4-BE49-F238E27FC236}">
                  <a16:creationId xmlns:a16="http://schemas.microsoft.com/office/drawing/2014/main" id="{133F792F-A52C-A0A6-A619-A61A2ABA5626}"/>
                </a:ext>
              </a:extLst>
            </p:cNvPr>
            <p:cNvSpPr txBox="1"/>
            <p:nvPr/>
          </p:nvSpPr>
          <p:spPr>
            <a:xfrm>
              <a:off x="743615" y="1430219"/>
              <a:ext cx="10324435" cy="369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ko-KR" altLang="en-US" sz="1800" b="1" dirty="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전체 기능 통합</a:t>
              </a:r>
              <a:endParaRPr sz="1800" b="0" i="0" u="none" strike="noStrike" cap="none" dirty="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85" name="Google Shape;685;p8">
              <a:extLst>
                <a:ext uri="{FF2B5EF4-FFF2-40B4-BE49-F238E27FC236}">
                  <a16:creationId xmlns:a16="http://schemas.microsoft.com/office/drawing/2014/main" id="{2C989BE6-07AF-6C65-7221-D66F6B425348}"/>
                </a:ext>
              </a:extLst>
            </p:cNvPr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/>
              <a:ahLst/>
              <a:cxnLst/>
              <a:rect l="l" t="t" r="r" b="b"/>
              <a:pathLst>
                <a:path w="450214" h="506845" extrusionOk="0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>
              <a:noFill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pic>
        <p:nvPicPr>
          <p:cNvPr id="687" name="Google Shape;687;p8">
            <a:extLst>
              <a:ext uri="{FF2B5EF4-FFF2-40B4-BE49-F238E27FC236}">
                <a16:creationId xmlns:a16="http://schemas.microsoft.com/office/drawing/2014/main" id="{10A306F3-8A83-2788-1D82-E851C69EE576}"/>
              </a:ext>
            </a:extLst>
          </p:cNvPr>
          <p:cNvPicPr preferRelativeResize="0"/>
          <p:nvPr/>
        </p:nvPicPr>
        <p:blipFill rotWithShape="1">
          <a:blip r:embed="rId4">
            <a:alphaModFix amt="27000"/>
          </a:blip>
          <a:srcRect/>
          <a:stretch/>
        </p:blipFill>
        <p:spPr>
          <a:xfrm flipH="1">
            <a:off x="0" y="1916849"/>
            <a:ext cx="12192000" cy="2335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88" name="Google Shape;688;p8">
            <a:extLst>
              <a:ext uri="{FF2B5EF4-FFF2-40B4-BE49-F238E27FC236}">
                <a16:creationId xmlns:a16="http://schemas.microsoft.com/office/drawing/2014/main" id="{006DE6AE-069F-F6D5-7B35-C8064B56C9CD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689" name="Google Shape;689;p8" descr="EMB0000378c3f3d">
              <a:extLst>
                <a:ext uri="{FF2B5EF4-FFF2-40B4-BE49-F238E27FC236}">
                  <a16:creationId xmlns:a16="http://schemas.microsoft.com/office/drawing/2014/main" id="{EB05FA0A-DED9-0346-85CB-822F6A54836E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2420865" y="6027409"/>
              <a:ext cx="1180238" cy="3757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90" name="Google Shape;690;p8">
              <a:extLst>
                <a:ext uri="{FF2B5EF4-FFF2-40B4-BE49-F238E27FC236}">
                  <a16:creationId xmlns:a16="http://schemas.microsoft.com/office/drawing/2014/main" id="{FAB9E468-FB82-A734-560D-97DD312EFA90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91" name="Google Shape;691;p8">
            <a:extLst>
              <a:ext uri="{FF2B5EF4-FFF2-40B4-BE49-F238E27FC236}">
                <a16:creationId xmlns:a16="http://schemas.microsoft.com/office/drawing/2014/main" id="{891D69C0-3963-4168-6C1D-1B441807D988}"/>
              </a:ext>
            </a:extLst>
          </p:cNvPr>
          <p:cNvSpPr txBox="1"/>
          <p:nvPr/>
        </p:nvSpPr>
        <p:spPr>
          <a:xfrm>
            <a:off x="841771" y="2154432"/>
            <a:ext cx="6096000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SzPts val="1400"/>
            </a:pPr>
            <a:r>
              <a:rPr lang="en-US" altLang="ko-KR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lang="ko-KR" altLang="en-US" dirty="0"/>
              <a:t>프로젝트 기능 구성도</a:t>
            </a:r>
            <a:endParaRPr lang="ko-KR" altLang="en-US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" name="Google Shape;445;p7">
            <a:extLst>
              <a:ext uri="{FF2B5EF4-FFF2-40B4-BE49-F238E27FC236}">
                <a16:creationId xmlns:a16="http://schemas.microsoft.com/office/drawing/2014/main" id="{A1833BFE-6DF7-CC51-E039-236837B7D32C}"/>
              </a:ext>
            </a:extLst>
          </p:cNvPr>
          <p:cNvGrpSpPr/>
          <p:nvPr/>
        </p:nvGrpSpPr>
        <p:grpSpPr>
          <a:xfrm>
            <a:off x="889811" y="5961422"/>
            <a:ext cx="9751481" cy="598712"/>
            <a:chOff x="2857501" y="5534844"/>
            <a:chExt cx="8902656" cy="673099"/>
          </a:xfrm>
        </p:grpSpPr>
        <p:sp>
          <p:nvSpPr>
            <p:cNvPr id="7" name="Google Shape;446;p7">
              <a:extLst>
                <a:ext uri="{FF2B5EF4-FFF2-40B4-BE49-F238E27FC236}">
                  <a16:creationId xmlns:a16="http://schemas.microsoft.com/office/drawing/2014/main" id="{1BB8C272-F2E2-0EC9-1700-C64DB46B98FE}"/>
                </a:ext>
              </a:extLst>
            </p:cNvPr>
            <p:cNvSpPr/>
            <p:nvPr/>
          </p:nvSpPr>
          <p:spPr>
            <a:xfrm>
              <a:off x="2857501" y="5534844"/>
              <a:ext cx="8902656" cy="673099"/>
            </a:xfrm>
            <a:prstGeom prst="roundRect">
              <a:avLst>
                <a:gd name="adj" fmla="val 16667"/>
              </a:avLst>
            </a:prstGeom>
            <a:solidFill>
              <a:schemeClr val="lt1">
                <a:alpha val="84314"/>
              </a:schemeClr>
            </a:solidFill>
            <a:ln>
              <a:noFill/>
            </a:ln>
            <a:effectLst>
              <a:outerShdw blurRad="76200" algn="ctr" rotWithShape="0">
                <a:srgbClr val="3378C8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9" name="Google Shape;451;p7">
              <a:extLst>
                <a:ext uri="{FF2B5EF4-FFF2-40B4-BE49-F238E27FC236}">
                  <a16:creationId xmlns:a16="http://schemas.microsoft.com/office/drawing/2014/main" id="{D9758975-5D85-2ACB-1FC9-4D686A1F2CF3}"/>
                </a:ext>
              </a:extLst>
            </p:cNvPr>
            <p:cNvSpPr txBox="1"/>
            <p:nvPr/>
          </p:nvSpPr>
          <p:spPr>
            <a:xfrm>
              <a:off x="3276220" y="5601324"/>
              <a:ext cx="6956033" cy="34597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46" name="TextBox 645">
            <a:extLst>
              <a:ext uri="{FF2B5EF4-FFF2-40B4-BE49-F238E27FC236}">
                <a16:creationId xmlns:a16="http://schemas.microsoft.com/office/drawing/2014/main" id="{C2C6E1DE-AC79-C1D9-266C-874DC72E544F}"/>
              </a:ext>
            </a:extLst>
          </p:cNvPr>
          <p:cNvSpPr txBox="1"/>
          <p:nvPr/>
        </p:nvSpPr>
        <p:spPr>
          <a:xfrm>
            <a:off x="3717170" y="5978549"/>
            <a:ext cx="615018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400" b="1" i="0" u="none" strike="noStrike" cap="none" dirty="0">
                <a:solidFill>
                  <a:srgbClr val="8DA9DB"/>
                </a:solidFill>
                <a:latin typeface="Malgun Gothic"/>
                <a:ea typeface="Malgun Gothic"/>
                <a:cs typeface="Malgun Gothic"/>
                <a:sym typeface="Malgun Gothic"/>
              </a:rPr>
              <a:t>Issue</a:t>
            </a:r>
            <a:r>
              <a:rPr lang="ko-KR" altLang="en-US" sz="1400" b="1" i="0" u="none" strike="noStrike" cap="none" dirty="0">
                <a:solidFill>
                  <a:srgbClr val="8DA9DB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altLang="ko-KR" b="1" dirty="0">
                <a:solidFill>
                  <a:srgbClr val="8DA9DB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r>
              <a:rPr lang="en-US" altLang="ko-KR" sz="1400" b="1" i="0" u="none" strike="noStrike" cap="none" dirty="0">
                <a:solidFill>
                  <a:srgbClr val="8DA9DB"/>
                </a:solidFill>
                <a:latin typeface="Malgun Gothic"/>
                <a:ea typeface="Malgun Gothic"/>
                <a:cs typeface="Malgun Gothic"/>
                <a:sym typeface="Malgun Gothic"/>
              </a:rPr>
              <a:t>. </a:t>
            </a:r>
            <a:r>
              <a:rPr lang="ko-KR" altLang="en-US" b="1" dirty="0">
                <a:solidFill>
                  <a:srgbClr val="8DA9DB"/>
                </a:solidFill>
                <a:latin typeface="Malgun Gothic"/>
                <a:ea typeface="Malgun Gothic"/>
                <a:cs typeface="Malgun Gothic"/>
                <a:sym typeface="Malgun Gothic"/>
              </a:rPr>
              <a:t>통합 후 </a:t>
            </a:r>
            <a:r>
              <a:rPr lang="en-US" altLang="ko-KR" b="1" dirty="0">
                <a:solidFill>
                  <a:srgbClr val="8DA9DB"/>
                </a:solidFill>
                <a:latin typeface="Malgun Gothic"/>
                <a:ea typeface="Malgun Gothic"/>
                <a:cs typeface="Malgun Gothic"/>
                <a:sym typeface="Malgun Gothic"/>
              </a:rPr>
              <a:t>test </a:t>
            </a:r>
            <a:r>
              <a:rPr lang="ko-KR" altLang="en-US" b="1" dirty="0">
                <a:solidFill>
                  <a:srgbClr val="8DA9DB"/>
                </a:solidFill>
                <a:latin typeface="Malgun Gothic"/>
                <a:ea typeface="Malgun Gothic"/>
                <a:cs typeface="Malgun Gothic"/>
                <a:sym typeface="Malgun Gothic"/>
              </a:rPr>
              <a:t>과정에서 출력 이슈</a:t>
            </a:r>
            <a:endParaRPr lang="ko-KR" altLang="en-US" sz="1400" b="1" i="0" u="none" strike="noStrike" cap="none" dirty="0">
              <a:solidFill>
                <a:srgbClr val="8DA9DB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i="0" u="none" strike="noStrike" cap="none" dirty="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</a:t>
            </a:r>
            <a:r>
              <a:rPr lang="en-US" altLang="ko-KR" sz="1400" b="1" i="0" u="none" strike="noStrike" cap="none" dirty="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   </a:t>
            </a:r>
            <a:r>
              <a:rPr lang="ko-KR" altLang="en-US" sz="1200" b="1" i="0" u="none" strike="noStrike" cap="none" dirty="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예상 </a:t>
            </a:r>
            <a:r>
              <a:rPr lang="ko-KR" altLang="en-US" sz="1200" b="1" i="0" u="none" strike="noStrike" cap="none" dirty="0" err="1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출력값과</a:t>
            </a:r>
            <a:r>
              <a:rPr lang="ko-KR" altLang="en-US" sz="1200" b="1" i="0" u="none" strike="noStrike" cap="none" dirty="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 다른</a:t>
            </a:r>
            <a:r>
              <a:rPr lang="ko-KR" altLang="en-US" sz="1200" b="1" dirty="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 값이 나와 출력형식 조정</a:t>
            </a:r>
            <a:endParaRPr lang="ko-KR" altLang="en-US" sz="1200" b="1" i="0" u="none" strike="noStrike" cap="none" dirty="0">
              <a:solidFill>
                <a:srgbClr val="3F3F3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647" name="Google Shape;419;p12">
            <a:extLst>
              <a:ext uri="{FF2B5EF4-FFF2-40B4-BE49-F238E27FC236}">
                <a16:creationId xmlns:a16="http://schemas.microsoft.com/office/drawing/2014/main" id="{20EB986F-61F0-444F-AD08-E3EB3C685701}"/>
              </a:ext>
            </a:extLst>
          </p:cNvPr>
          <p:cNvCxnSpPr>
            <a:cxnSpLocks/>
          </p:cNvCxnSpPr>
          <p:nvPr/>
        </p:nvCxnSpPr>
        <p:spPr>
          <a:xfrm>
            <a:off x="3856424" y="6342967"/>
            <a:ext cx="507140" cy="0"/>
          </a:xfrm>
          <a:prstGeom prst="straightConnector1">
            <a:avLst/>
          </a:prstGeom>
          <a:noFill/>
          <a:ln w="9525" cap="flat" cmpd="sng">
            <a:solidFill>
              <a:srgbClr val="3E6EC2"/>
            </a:solidFill>
            <a:prstDash val="solid"/>
            <a:round/>
            <a:headEnd type="none" w="sm" len="sm"/>
            <a:tailEnd type="triangle" w="med" len="med"/>
          </a:ln>
        </p:spPr>
      </p:cxnSp>
      <p:pic>
        <p:nvPicPr>
          <p:cNvPr id="5" name="그림 4">
            <a:extLst>
              <a:ext uri="{FF2B5EF4-FFF2-40B4-BE49-F238E27FC236}">
                <a16:creationId xmlns:a16="http://schemas.microsoft.com/office/drawing/2014/main" id="{EF91F841-8D02-C075-0BE2-F803347EA8F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1771" y="2540143"/>
            <a:ext cx="3932692" cy="302605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BC48CA1-BA0C-A5DB-1055-5F86AD543CFE}"/>
              </a:ext>
            </a:extLst>
          </p:cNvPr>
          <p:cNvSpPr txBox="1"/>
          <p:nvPr/>
        </p:nvSpPr>
        <p:spPr>
          <a:xfrm>
            <a:off x="5608235" y="2457836"/>
            <a:ext cx="4776469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SzPts val="1400"/>
            </a:pPr>
            <a:r>
              <a:rPr lang="en-US" altLang="ko-KR" sz="12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oworld_openai_pipeline.py</a:t>
            </a:r>
          </a:p>
          <a:p>
            <a:pPr>
              <a:buSzPts val="1400"/>
            </a:pPr>
            <a:r>
              <a:rPr lang="ko-KR" altLang="en-US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외부 데이터 수집</a:t>
            </a:r>
            <a:r>
              <a:rPr lang="en-US" altLang="ko-KR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ko-KR" altLang="en-US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날짜</a:t>
            </a:r>
            <a:r>
              <a:rPr lang="en-US" altLang="ko-KR" sz="1200" dirty="0"/>
              <a:t>·</a:t>
            </a:r>
            <a:r>
              <a:rPr lang="ko-KR" altLang="en-US" sz="1200" dirty="0"/>
              <a:t>날씨 </a:t>
            </a:r>
            <a:r>
              <a:rPr lang="ko-KR" altLang="en-US" sz="1200" dirty="0" err="1"/>
              <a:t>전처리</a:t>
            </a:r>
            <a:r>
              <a:rPr lang="en-US" altLang="ko-KR" sz="1200" dirty="0"/>
              <a:t>,</a:t>
            </a:r>
            <a:r>
              <a:rPr lang="ko-KR" altLang="en-US" sz="1200" dirty="0"/>
              <a:t> 모델 서비스 호출</a:t>
            </a:r>
            <a:r>
              <a:rPr lang="en-US" altLang="ko-KR" sz="1200" dirty="0"/>
              <a:t>, </a:t>
            </a:r>
          </a:p>
          <a:p>
            <a:pPr>
              <a:buSzPts val="1400"/>
            </a:pPr>
            <a:r>
              <a:rPr lang="ko-KR" altLang="en-US" sz="1200" dirty="0"/>
              <a:t>공지사항 결합</a:t>
            </a:r>
            <a:r>
              <a:rPr lang="en-US" altLang="ko-KR" sz="1200" dirty="0"/>
              <a:t>, UI </a:t>
            </a:r>
            <a:r>
              <a:rPr lang="ko-KR" altLang="en-US" sz="1200" dirty="0"/>
              <a:t>출력 생성</a:t>
            </a:r>
            <a:endParaRPr lang="en-US" altLang="ko-KR" sz="1200" dirty="0"/>
          </a:p>
          <a:p>
            <a:pPr>
              <a:buSzPts val="1400"/>
            </a:pPr>
            <a:endParaRPr lang="en-US" altLang="ko-KR" sz="1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buSzPts val="1400"/>
            </a:pPr>
            <a:r>
              <a:rPr lang="en-US" altLang="ko-KR" sz="12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ml_service.py</a:t>
            </a:r>
          </a:p>
          <a:p>
            <a:pPr>
              <a:buSzPts val="1400"/>
            </a:pPr>
            <a:r>
              <a:rPr lang="ko-KR" altLang="en-US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모델 입력 검증</a:t>
            </a:r>
            <a:r>
              <a:rPr lang="en-US" altLang="ko-KR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ko-KR" altLang="en-US" sz="1200" dirty="0"/>
              <a:t>모델을 실행해 값 도출</a:t>
            </a:r>
            <a:r>
              <a:rPr lang="en-US" altLang="ko-KR" sz="1200" dirty="0"/>
              <a:t>, </a:t>
            </a:r>
            <a:r>
              <a:rPr lang="ko-KR" altLang="en-US" sz="1200" dirty="0"/>
              <a:t>이용자 점수</a:t>
            </a:r>
            <a:r>
              <a:rPr lang="en-US" altLang="ko-KR" sz="1200" dirty="0"/>
              <a:t>·</a:t>
            </a:r>
            <a:r>
              <a:rPr lang="ko-KR" altLang="en-US" sz="1200" dirty="0"/>
              <a:t>날씨 점수 계산</a:t>
            </a:r>
            <a:r>
              <a:rPr lang="en-US" altLang="ko-KR" sz="1200" dirty="0"/>
              <a:t>, </a:t>
            </a:r>
            <a:r>
              <a:rPr lang="ko-KR" altLang="en-US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예측 결과 반환</a:t>
            </a:r>
            <a:endParaRPr lang="en-US" altLang="ko-KR" sz="1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buSzPts val="1400"/>
            </a:pPr>
            <a:endParaRPr lang="en-US" altLang="ko-KR" sz="1200" dirty="0"/>
          </a:p>
          <a:p>
            <a:pPr>
              <a:buSzPts val="1400"/>
            </a:pPr>
            <a:r>
              <a:rPr lang="en-US" altLang="ko-KR" sz="1200" b="1" dirty="0"/>
              <a:t>- weather.py, notice.py</a:t>
            </a:r>
          </a:p>
          <a:p>
            <a:pPr>
              <a:buSzPts val="1400"/>
            </a:pPr>
            <a:r>
              <a:rPr lang="ko-KR" altLang="en-US" sz="1200" dirty="0"/>
              <a:t> </a:t>
            </a:r>
            <a:r>
              <a:rPr lang="ko-KR" altLang="en-US" sz="1200" dirty="0" err="1"/>
              <a:t>오월드</a:t>
            </a:r>
            <a:r>
              <a:rPr lang="ko-KR" altLang="en-US" sz="1200" dirty="0"/>
              <a:t> 위치의 실제 날씨와 공지를 수집하고 파이프라인에 전달</a:t>
            </a:r>
            <a:endParaRPr lang="en-US" altLang="ko-KR" sz="120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buSzPts val="1400"/>
            </a:pPr>
            <a:endParaRPr lang="en-US" altLang="ko-KR" sz="12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buSzPts val="1400"/>
            </a:pPr>
            <a:r>
              <a:rPr lang="en-US" altLang="ko-KR" sz="1200" b="1" dirty="0"/>
              <a:t>- visitor_score.py, weather_score.py</a:t>
            </a:r>
          </a:p>
          <a:p>
            <a:pPr>
              <a:buSzPts val="1400"/>
            </a:pPr>
            <a:r>
              <a:rPr lang="ko-KR" altLang="en-US" sz="120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예상 방문객 수와 기온</a:t>
            </a:r>
            <a:r>
              <a:rPr lang="en-US" altLang="ko-KR" sz="1200" dirty="0"/>
              <a:t>·</a:t>
            </a:r>
            <a:r>
              <a:rPr lang="ko-KR" altLang="en-US" sz="120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강수확률</a:t>
            </a:r>
            <a:r>
              <a:rPr lang="en-US" altLang="ko-KR" sz="1200" dirty="0"/>
              <a:t>·</a:t>
            </a:r>
            <a:r>
              <a:rPr lang="ko-KR" altLang="en-US" sz="120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습도를 각각 추천 점수로 변환</a:t>
            </a:r>
            <a:endParaRPr lang="en-US" altLang="ko-KR" sz="120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buSzPts val="1400"/>
            </a:pPr>
            <a:endParaRPr lang="en-US" altLang="ko-KR" sz="12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buSzPts val="1400"/>
            </a:pPr>
            <a:r>
              <a:rPr lang="en-US" altLang="ko-KR" sz="12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lang="en-US" altLang="ko-KR" sz="12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visitor_estimation_model.cbm</a:t>
            </a:r>
            <a:r>
              <a:rPr lang="en-US" altLang="ko-KR" sz="12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altLang="ko-KR" sz="12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catboost_classifier.cbm</a:t>
            </a:r>
            <a:endParaRPr lang="en-US" altLang="ko-KR" sz="1200" b="1" dirty="0"/>
          </a:p>
          <a:p>
            <a:pPr>
              <a:buSzPts val="1400"/>
            </a:pPr>
            <a:r>
              <a:rPr lang="ko-KR" altLang="en-US" sz="120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예상 방문객 수를 출력하는 학습모델과</a:t>
            </a:r>
            <a:r>
              <a:rPr lang="en-US" altLang="ko-KR" sz="1200" dirty="0"/>
              <a:t> </a:t>
            </a:r>
            <a:r>
              <a:rPr lang="ko-KR" altLang="en-US" sz="1200" dirty="0"/>
              <a:t>그 혼잡도를 계산하는 모델</a:t>
            </a:r>
            <a:endParaRPr lang="en-US" altLang="ko-KR" sz="120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911879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243</Words>
  <Application>Microsoft Office PowerPoint</Application>
  <PresentationFormat>와이드스크린</PresentationFormat>
  <Paragraphs>41</Paragraphs>
  <Slides>2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Malgun Gothic</vt:lpstr>
      <vt:lpstr>Arial</vt:lpstr>
      <vt:lpstr>Office 테마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김준영</dc:creator>
  <cp:lastModifiedBy>EZ</cp:lastModifiedBy>
  <cp:revision>2</cp:revision>
  <dcterms:created xsi:type="dcterms:W3CDTF">2023-12-20T03:00:25Z</dcterms:created>
  <dcterms:modified xsi:type="dcterms:W3CDTF">2026-08-14T08:11:07Z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0x010100DAE3F4A420BE824F8EE9314A8C3F8B72</vt:lpwstr>
  </property>
</Properties>
</file>